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009F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00C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097280"/>
            <a:ext cx="9418320" cy="1097280"/>
          </a:xfrm>
          <a:prstGeom prst="rect">
            <a:avLst/>
          </a:prstGeom>
          <a:noFill/>
        </p:spPr>
        <p:txBody>
          <a:bodyPr wrap="square">
            <a:spAutoFit/>
          </a:bodyPr>
          <a:lstStyle/>
          <a:p>
            <a:pPr algn="ctr">
              <a:lnSpc>
                <a:spcPts val="5280"/>
              </a:lnSpc>
              <a:spcAft>
                <a:spcPts val="0"/>
              </a:spcAft>
              <a:defRPr sz="4400" b="1">
                <a:solidFill>
                  <a:srgbClr val="FFFFFF"/>
                </a:solidFill>
                <a:latin typeface="Calibri"/>
              </a:defRPr>
            </a:pPr>
            <a:r>
              <a:t>Machine Learning for Network Telemetry</a:t>
            </a:r>
          </a:p>
        </p:txBody>
      </p:sp>
      <p:sp>
        <p:nvSpPr>
          <p:cNvPr id="5" name="TextBox 4"/>
          <p:cNvSpPr txBox="1"/>
          <p:nvPr/>
        </p:nvSpPr>
        <p:spPr>
          <a:xfrm>
            <a:off x="1371600" y="2286000"/>
            <a:ext cx="9418320" cy="640080"/>
          </a:xfrm>
          <a:prstGeom prst="rect">
            <a:avLst/>
          </a:prstGeom>
          <a:noFill/>
        </p:spPr>
        <p:txBody>
          <a:bodyPr wrap="square">
            <a:spAutoFit/>
          </a:bodyPr>
          <a:lstStyle/>
          <a:p>
            <a:pPr algn="ctr">
              <a:lnSpc>
                <a:spcPts val="2879"/>
              </a:lnSpc>
              <a:spcAft>
                <a:spcPts val="0"/>
              </a:spcAft>
              <a:defRPr sz="2400" b="0">
                <a:solidFill>
                  <a:srgbClr val="009FFD"/>
                </a:solidFill>
                <a:latin typeface="Calibri"/>
              </a:defRPr>
            </a:pPr>
            <a:r>
              <a:t>A Survey of Methods, Applications, and Emerging Trends</a:t>
            </a:r>
          </a:p>
        </p:txBody>
      </p:sp>
      <p:sp>
        <p:nvSpPr>
          <p:cNvPr id="6" name="Rectangle 5"/>
          <p:cNvSpPr/>
          <p:nvPr/>
        </p:nvSpPr>
        <p:spPr>
          <a:xfrm>
            <a:off x="4114800" y="3017520"/>
            <a:ext cx="3931920" cy="36576"/>
          </a:xfrm>
          <a:prstGeom prst="rect">
            <a:avLst/>
          </a:prstGeom>
          <a:solidFill>
            <a:srgbClr val="00C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3474720"/>
            <a:ext cx="9418320" cy="457200"/>
          </a:xfrm>
          <a:prstGeom prst="rect">
            <a:avLst/>
          </a:prstGeom>
          <a:noFill/>
        </p:spPr>
        <p:txBody>
          <a:bodyPr wrap="square">
            <a:spAutoFit/>
          </a:bodyPr>
          <a:lstStyle/>
          <a:p>
            <a:pPr algn="ctr">
              <a:lnSpc>
                <a:spcPts val="2160"/>
              </a:lnSpc>
              <a:spcAft>
                <a:spcPts val="0"/>
              </a:spcAft>
              <a:defRPr sz="1800" b="0">
                <a:solidFill>
                  <a:srgbClr val="CCCCCC"/>
                </a:solidFill>
                <a:latin typeface="Calibri"/>
              </a:defRPr>
            </a:pPr>
            <a:r>
              <a:t>NET3006A — Network Management and Machine Learning</a:t>
            </a:r>
          </a:p>
        </p:txBody>
      </p:sp>
      <p:sp>
        <p:nvSpPr>
          <p:cNvPr id="8" name="TextBox 7"/>
          <p:cNvSpPr txBox="1"/>
          <p:nvPr/>
        </p:nvSpPr>
        <p:spPr>
          <a:xfrm>
            <a:off x="1371600" y="3931920"/>
            <a:ext cx="9418320" cy="457200"/>
          </a:xfrm>
          <a:prstGeom prst="rect">
            <a:avLst/>
          </a:prstGeom>
          <a:noFill/>
        </p:spPr>
        <p:txBody>
          <a:bodyPr wrap="square">
            <a:spAutoFit/>
          </a:bodyPr>
          <a:lstStyle/>
          <a:p>
            <a:pPr algn="ctr">
              <a:lnSpc>
                <a:spcPts val="1920"/>
              </a:lnSpc>
              <a:spcAft>
                <a:spcPts val="0"/>
              </a:spcAft>
              <a:defRPr sz="1600" b="0">
                <a:solidFill>
                  <a:srgbClr val="999999"/>
                </a:solidFill>
                <a:latin typeface="Calibri"/>
              </a:defRPr>
            </a:pPr>
            <a:r>
              <a:t>Carleton University  |  Winter 2026  |  Dr. Jie Gao</a:t>
            </a:r>
          </a:p>
        </p:txBody>
      </p:sp>
      <p:sp>
        <p:nvSpPr>
          <p:cNvPr id="9" name="TextBox 8"/>
          <p:cNvSpPr txBox="1"/>
          <p:nvPr/>
        </p:nvSpPr>
        <p:spPr>
          <a:xfrm>
            <a:off x="1371600" y="4846320"/>
            <a:ext cx="9418320" cy="457200"/>
          </a:xfrm>
          <a:prstGeom prst="rect">
            <a:avLst/>
          </a:prstGeom>
          <a:noFill/>
        </p:spPr>
        <p:txBody>
          <a:bodyPr wrap="square">
            <a:spAutoFit/>
          </a:bodyPr>
          <a:lstStyle/>
          <a:p>
            <a:pPr algn="ctr">
              <a:lnSpc>
                <a:spcPts val="2400"/>
              </a:lnSpc>
              <a:spcAft>
                <a:spcPts val="0"/>
              </a:spcAft>
              <a:defRPr sz="2000" b="1">
                <a:solidFill>
                  <a:srgbClr val="FFFFFF"/>
                </a:solidFill>
                <a:latin typeface="Calibri"/>
              </a:defRPr>
            </a:pPr>
            <a:r>
              <a:t>Abdul Rehman    |    Esam Mukbil    |    Hashim Kshim</a:t>
            </a:r>
          </a:p>
        </p:txBody>
      </p:sp>
      <p:sp>
        <p:nvSpPr>
          <p:cNvPr id="10" name="TextBox 9"/>
          <p:cNvSpPr txBox="1"/>
          <p:nvPr/>
        </p:nvSpPr>
        <p:spPr>
          <a:xfrm>
            <a:off x="1371600" y="5349240"/>
            <a:ext cx="9418320" cy="365760"/>
          </a:xfrm>
          <a:prstGeom prst="rect">
            <a:avLst/>
          </a:prstGeom>
          <a:noFill/>
        </p:spPr>
        <p:txBody>
          <a:bodyPr wrap="square">
            <a:spAutoFit/>
          </a:bodyPr>
          <a:lstStyle/>
          <a:p>
            <a:pPr algn="ctr">
              <a:lnSpc>
                <a:spcPts val="1680"/>
              </a:lnSpc>
              <a:spcAft>
                <a:spcPts val="0"/>
              </a:spcAft>
              <a:defRPr sz="1400" b="0">
                <a:solidFill>
                  <a:srgbClr val="999999"/>
                </a:solidFill>
                <a:latin typeface="Calibri"/>
              </a:defRPr>
            </a:pPr>
            <a:r>
              <a:t>Option 1: Survey / Reading Project  —  Topic 2</a:t>
            </a:r>
          </a:p>
        </p:txBody>
      </p:sp>
      <p:sp>
        <p:nvSpPr>
          <p:cNvPr id="11" name="TextBox 10"/>
          <p:cNvSpPr txBox="1"/>
          <p:nvPr/>
        </p:nvSpPr>
        <p:spPr>
          <a:xfrm>
            <a:off x="365760" y="6309360"/>
            <a:ext cx="1371600" cy="365760"/>
          </a:xfrm>
          <a:prstGeom prst="rect">
            <a:avLst/>
          </a:prstGeom>
          <a:noFill/>
        </p:spPr>
        <p:txBody>
          <a:bodyPr wrap="square">
            <a:spAutoFit/>
          </a:bodyPr>
          <a:lstStyle/>
          <a:p>
            <a:pPr algn="l">
              <a:lnSpc>
                <a:spcPts val="1200"/>
              </a:lnSpc>
              <a:spcAft>
                <a:spcPts val="0"/>
              </a:spcAft>
              <a:defRPr sz="1000" b="0">
                <a:solidFill>
                  <a:srgbClr val="999999"/>
                </a:solidFill>
                <a:latin typeface="Calibri"/>
              </a:defRPr>
            </a:pPr>
            <a:r>
              <a:t>1 /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9F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00C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65760"/>
            <a:ext cx="10515600" cy="640080"/>
          </a:xfrm>
          <a:prstGeom prst="rect">
            <a:avLst/>
          </a:prstGeom>
          <a:noFill/>
        </p:spPr>
        <p:txBody>
          <a:bodyPr wrap="square">
            <a:spAutoFit/>
          </a:bodyPr>
          <a:lstStyle/>
          <a:p>
            <a:pPr algn="l">
              <a:lnSpc>
                <a:spcPts val="4320"/>
              </a:lnSpc>
              <a:spcAft>
                <a:spcPts val="0"/>
              </a:spcAft>
              <a:defRPr sz="3600" b="1">
                <a:solidFill>
                  <a:srgbClr val="FFFFFF"/>
                </a:solidFill>
                <a:latin typeface="Calibri"/>
              </a:defRPr>
            </a:pPr>
            <a:r>
              <a:t>Presentation Outline</a:t>
            </a:r>
          </a:p>
        </p:txBody>
      </p:sp>
      <p:sp>
        <p:nvSpPr>
          <p:cNvPr id="5" name="TextBox 4"/>
          <p:cNvSpPr txBox="1"/>
          <p:nvPr/>
        </p:nvSpPr>
        <p:spPr>
          <a:xfrm>
            <a:off x="9326880" y="6263640"/>
            <a:ext cx="2743200" cy="457200"/>
          </a:xfrm>
          <a:prstGeom prst="rect">
            <a:avLst/>
          </a:prstGeom>
          <a:noFill/>
        </p:spPr>
        <p:txBody>
          <a:bodyPr wrap="square">
            <a:spAutoFit/>
          </a:bodyPr>
          <a:lstStyle/>
          <a:p>
            <a:pPr algn="r">
              <a:lnSpc>
                <a:spcPts val="1439"/>
              </a:lnSpc>
              <a:spcAft>
                <a:spcPts val="0"/>
              </a:spcAft>
              <a:defRPr sz="1200" b="1">
                <a:solidFill>
                  <a:srgbClr val="009FFD"/>
                </a:solidFill>
                <a:latin typeface="Calibri"/>
              </a:defRPr>
            </a:pPr>
            <a:r>
              <a:t>Presenter: Abdul Rehman</a:t>
            </a:r>
          </a:p>
        </p:txBody>
      </p:sp>
      <p:sp>
        <p:nvSpPr>
          <p:cNvPr id="6" name="TextBox 5"/>
          <p:cNvSpPr txBox="1"/>
          <p:nvPr/>
        </p:nvSpPr>
        <p:spPr>
          <a:xfrm>
            <a:off x="1097280" y="1463040"/>
            <a:ext cx="548640" cy="320040"/>
          </a:xfrm>
          <a:prstGeom prst="rect">
            <a:avLst/>
          </a:prstGeom>
          <a:noFill/>
        </p:spPr>
        <p:txBody>
          <a:bodyPr wrap="square">
            <a:spAutoFit/>
          </a:bodyPr>
          <a:lstStyle/>
          <a:p>
            <a:pPr algn="l">
              <a:lnSpc>
                <a:spcPts val="1680"/>
              </a:lnSpc>
              <a:spcAft>
                <a:spcPts val="0"/>
              </a:spcAft>
              <a:defRPr sz="1400" b="1">
                <a:solidFill>
                  <a:srgbClr val="009FFD"/>
                </a:solidFill>
                <a:latin typeface="Calibri"/>
              </a:defRPr>
            </a:pPr>
            <a:r>
              <a:t>1.</a:t>
            </a:r>
          </a:p>
        </p:txBody>
      </p:sp>
      <p:sp>
        <p:nvSpPr>
          <p:cNvPr id="7" name="TextBox 6"/>
          <p:cNvSpPr txBox="1"/>
          <p:nvPr/>
        </p:nvSpPr>
        <p:spPr>
          <a:xfrm>
            <a:off x="1645920" y="1463040"/>
            <a:ext cx="5486400" cy="320040"/>
          </a:xfrm>
          <a:prstGeom prst="rect">
            <a:avLst/>
          </a:prstGeom>
          <a:noFill/>
        </p:spPr>
        <p:txBody>
          <a:bodyPr wrap="square">
            <a:spAutoFit/>
          </a:bodyPr>
          <a:lstStyle/>
          <a:p>
            <a:pPr algn="l">
              <a:lnSpc>
                <a:spcPts val="1680"/>
              </a:lnSpc>
              <a:spcAft>
                <a:spcPts val="0"/>
              </a:spcAft>
              <a:defRPr sz="1400" b="0">
                <a:solidFill>
                  <a:srgbClr val="FFFFFF"/>
                </a:solidFill>
                <a:latin typeface="Calibri"/>
              </a:defRPr>
            </a:pPr>
            <a:r>
              <a:t>Introduction &amp; Motivation</a:t>
            </a:r>
          </a:p>
        </p:txBody>
      </p:sp>
      <p:sp>
        <p:nvSpPr>
          <p:cNvPr id="8" name="TextBox 7"/>
          <p:cNvSpPr txBox="1"/>
          <p:nvPr/>
        </p:nvSpPr>
        <p:spPr>
          <a:xfrm>
            <a:off x="8229600" y="1463040"/>
            <a:ext cx="3200400" cy="320040"/>
          </a:xfrm>
          <a:prstGeom prst="rect">
            <a:avLst/>
          </a:prstGeom>
          <a:noFill/>
        </p:spPr>
        <p:txBody>
          <a:bodyPr wrap="square">
            <a:spAutoFit/>
          </a:bodyPr>
          <a:lstStyle/>
          <a:p>
            <a:pPr algn="r">
              <a:lnSpc>
                <a:spcPts val="1439"/>
              </a:lnSpc>
              <a:spcAft>
                <a:spcPts val="0"/>
              </a:spcAft>
              <a:defRPr sz="1200" b="0">
                <a:solidFill>
                  <a:srgbClr val="009FFD"/>
                </a:solidFill>
                <a:latin typeface="Calibri"/>
              </a:defRPr>
            </a:pPr>
            <a:r>
              <a:t>Abdul Rehman</a:t>
            </a:r>
          </a:p>
        </p:txBody>
      </p:sp>
      <p:sp>
        <p:nvSpPr>
          <p:cNvPr id="9" name="TextBox 8"/>
          <p:cNvSpPr txBox="1"/>
          <p:nvPr/>
        </p:nvSpPr>
        <p:spPr>
          <a:xfrm>
            <a:off x="1097280" y="1810512"/>
            <a:ext cx="548640" cy="320040"/>
          </a:xfrm>
          <a:prstGeom prst="rect">
            <a:avLst/>
          </a:prstGeom>
          <a:noFill/>
        </p:spPr>
        <p:txBody>
          <a:bodyPr wrap="square">
            <a:spAutoFit/>
          </a:bodyPr>
          <a:lstStyle/>
          <a:p>
            <a:pPr algn="l">
              <a:lnSpc>
                <a:spcPts val="1680"/>
              </a:lnSpc>
              <a:spcAft>
                <a:spcPts val="0"/>
              </a:spcAft>
              <a:defRPr sz="1400" b="1">
                <a:solidFill>
                  <a:srgbClr val="009FFD"/>
                </a:solidFill>
                <a:latin typeface="Calibri"/>
              </a:defRPr>
            </a:pPr>
            <a:r>
              <a:t>2.</a:t>
            </a:r>
          </a:p>
        </p:txBody>
      </p:sp>
      <p:sp>
        <p:nvSpPr>
          <p:cNvPr id="10" name="TextBox 9"/>
          <p:cNvSpPr txBox="1"/>
          <p:nvPr/>
        </p:nvSpPr>
        <p:spPr>
          <a:xfrm>
            <a:off x="1645920" y="1810512"/>
            <a:ext cx="5486400" cy="320040"/>
          </a:xfrm>
          <a:prstGeom prst="rect">
            <a:avLst/>
          </a:prstGeom>
          <a:noFill/>
        </p:spPr>
        <p:txBody>
          <a:bodyPr wrap="square">
            <a:spAutoFit/>
          </a:bodyPr>
          <a:lstStyle/>
          <a:p>
            <a:pPr algn="l">
              <a:lnSpc>
                <a:spcPts val="1680"/>
              </a:lnSpc>
              <a:spcAft>
                <a:spcPts val="0"/>
              </a:spcAft>
              <a:defRPr sz="1400" b="0">
                <a:solidFill>
                  <a:srgbClr val="FFFFFF"/>
                </a:solidFill>
                <a:latin typeface="Calibri"/>
              </a:defRPr>
            </a:pPr>
            <a:r>
              <a:t>What is Network Telemetry?</a:t>
            </a:r>
          </a:p>
        </p:txBody>
      </p:sp>
      <p:sp>
        <p:nvSpPr>
          <p:cNvPr id="11" name="TextBox 10"/>
          <p:cNvSpPr txBox="1"/>
          <p:nvPr/>
        </p:nvSpPr>
        <p:spPr>
          <a:xfrm>
            <a:off x="8229600" y="1810512"/>
            <a:ext cx="3200400" cy="320040"/>
          </a:xfrm>
          <a:prstGeom prst="rect">
            <a:avLst/>
          </a:prstGeom>
          <a:noFill/>
        </p:spPr>
        <p:txBody>
          <a:bodyPr wrap="square">
            <a:spAutoFit/>
          </a:bodyPr>
          <a:lstStyle/>
          <a:p>
            <a:pPr algn="r">
              <a:lnSpc>
                <a:spcPts val="1439"/>
              </a:lnSpc>
              <a:spcAft>
                <a:spcPts val="0"/>
              </a:spcAft>
              <a:defRPr sz="1200" b="0">
                <a:solidFill>
                  <a:srgbClr val="009FFD"/>
                </a:solidFill>
                <a:latin typeface="Calibri"/>
              </a:defRPr>
            </a:pPr>
            <a:r>
              <a:t>Abdul Rehman</a:t>
            </a:r>
          </a:p>
        </p:txBody>
      </p:sp>
      <p:sp>
        <p:nvSpPr>
          <p:cNvPr id="12" name="TextBox 11"/>
          <p:cNvSpPr txBox="1"/>
          <p:nvPr/>
        </p:nvSpPr>
        <p:spPr>
          <a:xfrm>
            <a:off x="1097280" y="2157984"/>
            <a:ext cx="548640" cy="320040"/>
          </a:xfrm>
          <a:prstGeom prst="rect">
            <a:avLst/>
          </a:prstGeom>
          <a:noFill/>
        </p:spPr>
        <p:txBody>
          <a:bodyPr wrap="square">
            <a:spAutoFit/>
          </a:bodyPr>
          <a:lstStyle/>
          <a:p>
            <a:pPr algn="l">
              <a:lnSpc>
                <a:spcPts val="1680"/>
              </a:lnSpc>
              <a:spcAft>
                <a:spcPts val="0"/>
              </a:spcAft>
              <a:defRPr sz="1400" b="1">
                <a:solidFill>
                  <a:srgbClr val="009FFD"/>
                </a:solidFill>
                <a:latin typeface="Calibri"/>
              </a:defRPr>
            </a:pPr>
            <a:r>
              <a:t>3.</a:t>
            </a:r>
          </a:p>
        </p:txBody>
      </p:sp>
      <p:sp>
        <p:nvSpPr>
          <p:cNvPr id="13" name="TextBox 12"/>
          <p:cNvSpPr txBox="1"/>
          <p:nvPr/>
        </p:nvSpPr>
        <p:spPr>
          <a:xfrm>
            <a:off x="1645920" y="2157984"/>
            <a:ext cx="5486400" cy="320040"/>
          </a:xfrm>
          <a:prstGeom prst="rect">
            <a:avLst/>
          </a:prstGeom>
          <a:noFill/>
        </p:spPr>
        <p:txBody>
          <a:bodyPr wrap="square">
            <a:spAutoFit/>
          </a:bodyPr>
          <a:lstStyle/>
          <a:p>
            <a:pPr algn="l">
              <a:lnSpc>
                <a:spcPts val="1680"/>
              </a:lnSpc>
              <a:spcAft>
                <a:spcPts val="0"/>
              </a:spcAft>
              <a:defRPr sz="1400" b="0">
                <a:solidFill>
                  <a:srgbClr val="FFFFFF"/>
                </a:solidFill>
                <a:latin typeface="Calibri"/>
              </a:defRPr>
            </a:pPr>
            <a:r>
              <a:t>Why ML for Network Telemetry?</a:t>
            </a:r>
          </a:p>
        </p:txBody>
      </p:sp>
      <p:sp>
        <p:nvSpPr>
          <p:cNvPr id="14" name="TextBox 13"/>
          <p:cNvSpPr txBox="1"/>
          <p:nvPr/>
        </p:nvSpPr>
        <p:spPr>
          <a:xfrm>
            <a:off x="8229600" y="2157984"/>
            <a:ext cx="3200400" cy="320040"/>
          </a:xfrm>
          <a:prstGeom prst="rect">
            <a:avLst/>
          </a:prstGeom>
          <a:noFill/>
        </p:spPr>
        <p:txBody>
          <a:bodyPr wrap="square">
            <a:spAutoFit/>
          </a:bodyPr>
          <a:lstStyle/>
          <a:p>
            <a:pPr algn="r">
              <a:lnSpc>
                <a:spcPts val="1439"/>
              </a:lnSpc>
              <a:spcAft>
                <a:spcPts val="0"/>
              </a:spcAft>
              <a:defRPr sz="1200" b="0">
                <a:solidFill>
                  <a:srgbClr val="009FFD"/>
                </a:solidFill>
                <a:latin typeface="Calibri"/>
              </a:defRPr>
            </a:pPr>
            <a:r>
              <a:t>Abdul Rehman</a:t>
            </a:r>
          </a:p>
        </p:txBody>
      </p:sp>
      <p:sp>
        <p:nvSpPr>
          <p:cNvPr id="15" name="TextBox 14"/>
          <p:cNvSpPr txBox="1"/>
          <p:nvPr/>
        </p:nvSpPr>
        <p:spPr>
          <a:xfrm>
            <a:off x="1097280" y="2505456"/>
            <a:ext cx="548640" cy="320040"/>
          </a:xfrm>
          <a:prstGeom prst="rect">
            <a:avLst/>
          </a:prstGeom>
          <a:noFill/>
        </p:spPr>
        <p:txBody>
          <a:bodyPr wrap="square">
            <a:spAutoFit/>
          </a:bodyPr>
          <a:lstStyle/>
          <a:p>
            <a:pPr algn="l">
              <a:lnSpc>
                <a:spcPts val="1680"/>
              </a:lnSpc>
              <a:spcAft>
                <a:spcPts val="0"/>
              </a:spcAft>
              <a:defRPr sz="1400" b="1">
                <a:solidFill>
                  <a:srgbClr val="009FFD"/>
                </a:solidFill>
                <a:latin typeface="Calibri"/>
              </a:defRPr>
            </a:pPr>
            <a:r>
              <a:t>4.</a:t>
            </a:r>
          </a:p>
        </p:txBody>
      </p:sp>
      <p:sp>
        <p:nvSpPr>
          <p:cNvPr id="16" name="TextBox 15"/>
          <p:cNvSpPr txBox="1"/>
          <p:nvPr/>
        </p:nvSpPr>
        <p:spPr>
          <a:xfrm>
            <a:off x="1645920" y="2505456"/>
            <a:ext cx="5486400" cy="320040"/>
          </a:xfrm>
          <a:prstGeom prst="rect">
            <a:avLst/>
          </a:prstGeom>
          <a:noFill/>
        </p:spPr>
        <p:txBody>
          <a:bodyPr wrap="square">
            <a:spAutoFit/>
          </a:bodyPr>
          <a:lstStyle/>
          <a:p>
            <a:pPr algn="l">
              <a:lnSpc>
                <a:spcPts val="1680"/>
              </a:lnSpc>
              <a:spcAft>
                <a:spcPts val="0"/>
              </a:spcAft>
              <a:defRPr sz="1400" b="0">
                <a:solidFill>
                  <a:srgbClr val="FFFFFF"/>
                </a:solidFill>
                <a:latin typeface="Calibri"/>
              </a:defRPr>
            </a:pPr>
            <a:r>
              <a:t>ML Methods for Anomaly Detection</a:t>
            </a:r>
          </a:p>
        </p:txBody>
      </p:sp>
      <p:sp>
        <p:nvSpPr>
          <p:cNvPr id="17" name="TextBox 16"/>
          <p:cNvSpPr txBox="1"/>
          <p:nvPr/>
        </p:nvSpPr>
        <p:spPr>
          <a:xfrm>
            <a:off x="8229600" y="2505456"/>
            <a:ext cx="3200400" cy="320040"/>
          </a:xfrm>
          <a:prstGeom prst="rect">
            <a:avLst/>
          </a:prstGeom>
          <a:noFill/>
        </p:spPr>
        <p:txBody>
          <a:bodyPr wrap="square">
            <a:spAutoFit/>
          </a:bodyPr>
          <a:lstStyle/>
          <a:p>
            <a:pPr algn="r">
              <a:lnSpc>
                <a:spcPts val="1439"/>
              </a:lnSpc>
              <a:spcAft>
                <a:spcPts val="0"/>
              </a:spcAft>
              <a:defRPr sz="1200" b="0">
                <a:solidFill>
                  <a:srgbClr val="009FFD"/>
                </a:solidFill>
                <a:latin typeface="Calibri"/>
              </a:defRPr>
            </a:pPr>
            <a:r>
              <a:t>Abdul Rehman</a:t>
            </a:r>
          </a:p>
        </p:txBody>
      </p:sp>
      <p:sp>
        <p:nvSpPr>
          <p:cNvPr id="18" name="TextBox 17"/>
          <p:cNvSpPr txBox="1"/>
          <p:nvPr/>
        </p:nvSpPr>
        <p:spPr>
          <a:xfrm>
            <a:off x="1097280" y="2852928"/>
            <a:ext cx="548640" cy="320040"/>
          </a:xfrm>
          <a:prstGeom prst="rect">
            <a:avLst/>
          </a:prstGeom>
          <a:noFill/>
        </p:spPr>
        <p:txBody>
          <a:bodyPr wrap="square">
            <a:spAutoFit/>
          </a:bodyPr>
          <a:lstStyle/>
          <a:p>
            <a:pPr algn="l">
              <a:lnSpc>
                <a:spcPts val="1680"/>
              </a:lnSpc>
              <a:spcAft>
                <a:spcPts val="0"/>
              </a:spcAft>
              <a:defRPr sz="1400" b="1">
                <a:solidFill>
                  <a:srgbClr val="009FFD"/>
                </a:solidFill>
                <a:latin typeface="Calibri"/>
              </a:defRPr>
            </a:pPr>
            <a:r>
              <a:t>5.</a:t>
            </a:r>
          </a:p>
        </p:txBody>
      </p:sp>
      <p:sp>
        <p:nvSpPr>
          <p:cNvPr id="19" name="TextBox 18"/>
          <p:cNvSpPr txBox="1"/>
          <p:nvPr/>
        </p:nvSpPr>
        <p:spPr>
          <a:xfrm>
            <a:off x="1645920" y="2852928"/>
            <a:ext cx="5486400" cy="320040"/>
          </a:xfrm>
          <a:prstGeom prst="rect">
            <a:avLst/>
          </a:prstGeom>
          <a:noFill/>
        </p:spPr>
        <p:txBody>
          <a:bodyPr wrap="square">
            <a:spAutoFit/>
          </a:bodyPr>
          <a:lstStyle/>
          <a:p>
            <a:pPr algn="l">
              <a:lnSpc>
                <a:spcPts val="1680"/>
              </a:lnSpc>
              <a:spcAft>
                <a:spcPts val="0"/>
              </a:spcAft>
              <a:defRPr sz="1400" b="0">
                <a:solidFill>
                  <a:srgbClr val="FFFFFF"/>
                </a:solidFill>
                <a:latin typeface="Calibri"/>
              </a:defRPr>
            </a:pPr>
            <a:r>
              <a:t>Anomaly Detection: Key Findings</a:t>
            </a:r>
          </a:p>
        </p:txBody>
      </p:sp>
      <p:sp>
        <p:nvSpPr>
          <p:cNvPr id="20" name="TextBox 19"/>
          <p:cNvSpPr txBox="1"/>
          <p:nvPr/>
        </p:nvSpPr>
        <p:spPr>
          <a:xfrm>
            <a:off x="8229600" y="2852928"/>
            <a:ext cx="3200400" cy="320040"/>
          </a:xfrm>
          <a:prstGeom prst="rect">
            <a:avLst/>
          </a:prstGeom>
          <a:noFill/>
        </p:spPr>
        <p:txBody>
          <a:bodyPr wrap="square">
            <a:spAutoFit/>
          </a:bodyPr>
          <a:lstStyle/>
          <a:p>
            <a:pPr algn="r">
              <a:lnSpc>
                <a:spcPts val="1439"/>
              </a:lnSpc>
              <a:spcAft>
                <a:spcPts val="0"/>
              </a:spcAft>
              <a:defRPr sz="1200" b="0">
                <a:solidFill>
                  <a:srgbClr val="009FFD"/>
                </a:solidFill>
                <a:latin typeface="Calibri"/>
              </a:defRPr>
            </a:pPr>
            <a:r>
              <a:t>Abdul Rehman</a:t>
            </a:r>
          </a:p>
        </p:txBody>
      </p:sp>
      <p:sp>
        <p:nvSpPr>
          <p:cNvPr id="21" name="TextBox 20"/>
          <p:cNvSpPr txBox="1"/>
          <p:nvPr/>
        </p:nvSpPr>
        <p:spPr>
          <a:xfrm>
            <a:off x="1097280" y="3200400"/>
            <a:ext cx="548640" cy="320040"/>
          </a:xfrm>
          <a:prstGeom prst="rect">
            <a:avLst/>
          </a:prstGeom>
          <a:noFill/>
        </p:spPr>
        <p:txBody>
          <a:bodyPr wrap="square">
            <a:spAutoFit/>
          </a:bodyPr>
          <a:lstStyle/>
          <a:p>
            <a:pPr algn="l">
              <a:lnSpc>
                <a:spcPts val="1680"/>
              </a:lnSpc>
              <a:spcAft>
                <a:spcPts val="0"/>
              </a:spcAft>
              <a:defRPr sz="1400" b="1">
                <a:solidFill>
                  <a:srgbClr val="00C9A7"/>
                </a:solidFill>
                <a:latin typeface="Calibri"/>
              </a:defRPr>
            </a:pPr>
            <a:r>
              <a:t>6.</a:t>
            </a:r>
          </a:p>
        </p:txBody>
      </p:sp>
      <p:sp>
        <p:nvSpPr>
          <p:cNvPr id="22" name="TextBox 21"/>
          <p:cNvSpPr txBox="1"/>
          <p:nvPr/>
        </p:nvSpPr>
        <p:spPr>
          <a:xfrm>
            <a:off x="1645920" y="3200400"/>
            <a:ext cx="5486400" cy="320040"/>
          </a:xfrm>
          <a:prstGeom prst="rect">
            <a:avLst/>
          </a:prstGeom>
          <a:noFill/>
        </p:spPr>
        <p:txBody>
          <a:bodyPr wrap="square">
            <a:spAutoFit/>
          </a:bodyPr>
          <a:lstStyle/>
          <a:p>
            <a:pPr algn="l">
              <a:lnSpc>
                <a:spcPts val="1680"/>
              </a:lnSpc>
              <a:spcAft>
                <a:spcPts val="0"/>
              </a:spcAft>
              <a:defRPr sz="1400" b="0">
                <a:solidFill>
                  <a:srgbClr val="FFFFFF"/>
                </a:solidFill>
                <a:latin typeface="Calibri"/>
              </a:defRPr>
            </a:pPr>
            <a:r>
              <a:t>ML for Performance Prediction</a:t>
            </a:r>
          </a:p>
        </p:txBody>
      </p:sp>
      <p:sp>
        <p:nvSpPr>
          <p:cNvPr id="23" name="TextBox 22"/>
          <p:cNvSpPr txBox="1"/>
          <p:nvPr/>
        </p:nvSpPr>
        <p:spPr>
          <a:xfrm>
            <a:off x="8229600" y="3200400"/>
            <a:ext cx="3200400" cy="320040"/>
          </a:xfrm>
          <a:prstGeom prst="rect">
            <a:avLst/>
          </a:prstGeom>
          <a:noFill/>
        </p:spPr>
        <p:txBody>
          <a:bodyPr wrap="square">
            <a:spAutoFit/>
          </a:bodyPr>
          <a:lstStyle/>
          <a:p>
            <a:pPr algn="r">
              <a:lnSpc>
                <a:spcPts val="1439"/>
              </a:lnSpc>
              <a:spcAft>
                <a:spcPts val="0"/>
              </a:spcAft>
              <a:defRPr sz="1200" b="0">
                <a:solidFill>
                  <a:srgbClr val="00C9A7"/>
                </a:solidFill>
                <a:latin typeface="Calibri"/>
              </a:defRPr>
            </a:pPr>
            <a:r>
              <a:t>Esam Mukbil</a:t>
            </a:r>
          </a:p>
        </p:txBody>
      </p:sp>
      <p:sp>
        <p:nvSpPr>
          <p:cNvPr id="24" name="TextBox 23"/>
          <p:cNvSpPr txBox="1"/>
          <p:nvPr/>
        </p:nvSpPr>
        <p:spPr>
          <a:xfrm>
            <a:off x="1097280" y="3547872"/>
            <a:ext cx="548640" cy="320040"/>
          </a:xfrm>
          <a:prstGeom prst="rect">
            <a:avLst/>
          </a:prstGeom>
          <a:noFill/>
        </p:spPr>
        <p:txBody>
          <a:bodyPr wrap="square">
            <a:spAutoFit/>
          </a:bodyPr>
          <a:lstStyle/>
          <a:p>
            <a:pPr algn="l">
              <a:lnSpc>
                <a:spcPts val="1680"/>
              </a:lnSpc>
              <a:spcAft>
                <a:spcPts val="0"/>
              </a:spcAft>
              <a:defRPr sz="1400" b="1">
                <a:solidFill>
                  <a:srgbClr val="00C9A7"/>
                </a:solidFill>
                <a:latin typeface="Calibri"/>
              </a:defRPr>
            </a:pPr>
            <a:r>
              <a:t>7.</a:t>
            </a:r>
          </a:p>
        </p:txBody>
      </p:sp>
      <p:sp>
        <p:nvSpPr>
          <p:cNvPr id="25" name="TextBox 24"/>
          <p:cNvSpPr txBox="1"/>
          <p:nvPr/>
        </p:nvSpPr>
        <p:spPr>
          <a:xfrm>
            <a:off x="1645920" y="3547872"/>
            <a:ext cx="5486400" cy="320040"/>
          </a:xfrm>
          <a:prstGeom prst="rect">
            <a:avLst/>
          </a:prstGeom>
          <a:noFill/>
        </p:spPr>
        <p:txBody>
          <a:bodyPr wrap="square">
            <a:spAutoFit/>
          </a:bodyPr>
          <a:lstStyle/>
          <a:p>
            <a:pPr algn="l">
              <a:lnSpc>
                <a:spcPts val="1680"/>
              </a:lnSpc>
              <a:spcAft>
                <a:spcPts val="0"/>
              </a:spcAft>
              <a:defRPr sz="1400" b="0">
                <a:solidFill>
                  <a:srgbClr val="FFFFFF"/>
                </a:solidFill>
                <a:latin typeface="Calibri"/>
              </a:defRPr>
            </a:pPr>
            <a:r>
              <a:t>ML for QoS Optimization</a:t>
            </a:r>
          </a:p>
        </p:txBody>
      </p:sp>
      <p:sp>
        <p:nvSpPr>
          <p:cNvPr id="26" name="TextBox 25"/>
          <p:cNvSpPr txBox="1"/>
          <p:nvPr/>
        </p:nvSpPr>
        <p:spPr>
          <a:xfrm>
            <a:off x="8229600" y="3547872"/>
            <a:ext cx="3200400" cy="320040"/>
          </a:xfrm>
          <a:prstGeom prst="rect">
            <a:avLst/>
          </a:prstGeom>
          <a:noFill/>
        </p:spPr>
        <p:txBody>
          <a:bodyPr wrap="square">
            <a:spAutoFit/>
          </a:bodyPr>
          <a:lstStyle/>
          <a:p>
            <a:pPr algn="r">
              <a:lnSpc>
                <a:spcPts val="1439"/>
              </a:lnSpc>
              <a:spcAft>
                <a:spcPts val="0"/>
              </a:spcAft>
              <a:defRPr sz="1200" b="0">
                <a:solidFill>
                  <a:srgbClr val="00C9A7"/>
                </a:solidFill>
                <a:latin typeface="Calibri"/>
              </a:defRPr>
            </a:pPr>
            <a:r>
              <a:t>Esam Mukbil</a:t>
            </a:r>
          </a:p>
        </p:txBody>
      </p:sp>
      <p:sp>
        <p:nvSpPr>
          <p:cNvPr id="27" name="TextBox 26"/>
          <p:cNvSpPr txBox="1"/>
          <p:nvPr/>
        </p:nvSpPr>
        <p:spPr>
          <a:xfrm>
            <a:off x="1097280" y="3895344"/>
            <a:ext cx="548640" cy="320040"/>
          </a:xfrm>
          <a:prstGeom prst="rect">
            <a:avLst/>
          </a:prstGeom>
          <a:noFill/>
        </p:spPr>
        <p:txBody>
          <a:bodyPr wrap="square">
            <a:spAutoFit/>
          </a:bodyPr>
          <a:lstStyle/>
          <a:p>
            <a:pPr algn="l">
              <a:lnSpc>
                <a:spcPts val="1680"/>
              </a:lnSpc>
              <a:spcAft>
                <a:spcPts val="0"/>
              </a:spcAft>
              <a:defRPr sz="1400" b="1">
                <a:solidFill>
                  <a:srgbClr val="00C9A7"/>
                </a:solidFill>
                <a:latin typeface="Calibri"/>
              </a:defRPr>
            </a:pPr>
            <a:r>
              <a:t>8.</a:t>
            </a:r>
          </a:p>
        </p:txBody>
      </p:sp>
      <p:sp>
        <p:nvSpPr>
          <p:cNvPr id="28" name="TextBox 27"/>
          <p:cNvSpPr txBox="1"/>
          <p:nvPr/>
        </p:nvSpPr>
        <p:spPr>
          <a:xfrm>
            <a:off x="1645920" y="3895344"/>
            <a:ext cx="5486400" cy="320040"/>
          </a:xfrm>
          <a:prstGeom prst="rect">
            <a:avLst/>
          </a:prstGeom>
          <a:noFill/>
        </p:spPr>
        <p:txBody>
          <a:bodyPr wrap="square">
            <a:spAutoFit/>
          </a:bodyPr>
          <a:lstStyle/>
          <a:p>
            <a:pPr algn="l">
              <a:lnSpc>
                <a:spcPts val="1680"/>
              </a:lnSpc>
              <a:spcAft>
                <a:spcPts val="0"/>
              </a:spcAft>
              <a:defRPr sz="1400" b="0">
                <a:solidFill>
                  <a:srgbClr val="FFFFFF"/>
                </a:solidFill>
                <a:latin typeface="Calibri"/>
              </a:defRPr>
            </a:pPr>
            <a:r>
              <a:t>Performance &amp; QoS: Key Findings</a:t>
            </a:r>
          </a:p>
        </p:txBody>
      </p:sp>
      <p:sp>
        <p:nvSpPr>
          <p:cNvPr id="29" name="TextBox 28"/>
          <p:cNvSpPr txBox="1"/>
          <p:nvPr/>
        </p:nvSpPr>
        <p:spPr>
          <a:xfrm>
            <a:off x="8229600" y="3895344"/>
            <a:ext cx="3200400" cy="320040"/>
          </a:xfrm>
          <a:prstGeom prst="rect">
            <a:avLst/>
          </a:prstGeom>
          <a:noFill/>
        </p:spPr>
        <p:txBody>
          <a:bodyPr wrap="square">
            <a:spAutoFit/>
          </a:bodyPr>
          <a:lstStyle/>
          <a:p>
            <a:pPr algn="r">
              <a:lnSpc>
                <a:spcPts val="1439"/>
              </a:lnSpc>
              <a:spcAft>
                <a:spcPts val="0"/>
              </a:spcAft>
              <a:defRPr sz="1200" b="0">
                <a:solidFill>
                  <a:srgbClr val="00C9A7"/>
                </a:solidFill>
                <a:latin typeface="Calibri"/>
              </a:defRPr>
            </a:pPr>
            <a:r>
              <a:t>Esam Mukbil</a:t>
            </a:r>
          </a:p>
        </p:txBody>
      </p:sp>
      <p:sp>
        <p:nvSpPr>
          <p:cNvPr id="30" name="TextBox 29"/>
          <p:cNvSpPr txBox="1"/>
          <p:nvPr/>
        </p:nvSpPr>
        <p:spPr>
          <a:xfrm>
            <a:off x="1097280" y="4242816"/>
            <a:ext cx="548640" cy="320040"/>
          </a:xfrm>
          <a:prstGeom prst="rect">
            <a:avLst/>
          </a:prstGeom>
          <a:noFill/>
        </p:spPr>
        <p:txBody>
          <a:bodyPr wrap="square">
            <a:spAutoFit/>
          </a:bodyPr>
          <a:lstStyle/>
          <a:p>
            <a:pPr algn="l">
              <a:lnSpc>
                <a:spcPts val="1680"/>
              </a:lnSpc>
              <a:spcAft>
                <a:spcPts val="0"/>
              </a:spcAft>
              <a:defRPr sz="1400" b="1">
                <a:solidFill>
                  <a:srgbClr val="00C9A7"/>
                </a:solidFill>
                <a:latin typeface="Calibri"/>
              </a:defRPr>
            </a:pPr>
            <a:r>
              <a:t>9.</a:t>
            </a:r>
          </a:p>
        </p:txBody>
      </p:sp>
      <p:sp>
        <p:nvSpPr>
          <p:cNvPr id="31" name="TextBox 30"/>
          <p:cNvSpPr txBox="1"/>
          <p:nvPr/>
        </p:nvSpPr>
        <p:spPr>
          <a:xfrm>
            <a:off x="1645920" y="4242816"/>
            <a:ext cx="5486400" cy="320040"/>
          </a:xfrm>
          <a:prstGeom prst="rect">
            <a:avLst/>
          </a:prstGeom>
          <a:noFill/>
        </p:spPr>
        <p:txBody>
          <a:bodyPr wrap="square">
            <a:spAutoFit/>
          </a:bodyPr>
          <a:lstStyle/>
          <a:p>
            <a:pPr algn="l">
              <a:lnSpc>
                <a:spcPts val="1680"/>
              </a:lnSpc>
              <a:spcAft>
                <a:spcPts val="0"/>
              </a:spcAft>
              <a:defRPr sz="1400" b="0">
                <a:solidFill>
                  <a:srgbClr val="FFFFFF"/>
                </a:solidFill>
                <a:latin typeface="Calibri"/>
              </a:defRPr>
            </a:pPr>
            <a:r>
              <a:t>Telemetry Data Pipeline &amp; Architecture</a:t>
            </a:r>
          </a:p>
        </p:txBody>
      </p:sp>
      <p:sp>
        <p:nvSpPr>
          <p:cNvPr id="32" name="TextBox 31"/>
          <p:cNvSpPr txBox="1"/>
          <p:nvPr/>
        </p:nvSpPr>
        <p:spPr>
          <a:xfrm>
            <a:off x="8229600" y="4242816"/>
            <a:ext cx="3200400" cy="320040"/>
          </a:xfrm>
          <a:prstGeom prst="rect">
            <a:avLst/>
          </a:prstGeom>
          <a:noFill/>
        </p:spPr>
        <p:txBody>
          <a:bodyPr wrap="square">
            <a:spAutoFit/>
          </a:bodyPr>
          <a:lstStyle/>
          <a:p>
            <a:pPr algn="r">
              <a:lnSpc>
                <a:spcPts val="1439"/>
              </a:lnSpc>
              <a:spcAft>
                <a:spcPts val="0"/>
              </a:spcAft>
              <a:defRPr sz="1200" b="0">
                <a:solidFill>
                  <a:srgbClr val="00C9A7"/>
                </a:solidFill>
                <a:latin typeface="Calibri"/>
              </a:defRPr>
            </a:pPr>
            <a:r>
              <a:t>Esam Mukbil</a:t>
            </a:r>
          </a:p>
        </p:txBody>
      </p:sp>
      <p:sp>
        <p:nvSpPr>
          <p:cNvPr id="33" name="TextBox 32"/>
          <p:cNvSpPr txBox="1"/>
          <p:nvPr/>
        </p:nvSpPr>
        <p:spPr>
          <a:xfrm>
            <a:off x="1097280" y="4590288"/>
            <a:ext cx="548640" cy="320040"/>
          </a:xfrm>
          <a:prstGeom prst="rect">
            <a:avLst/>
          </a:prstGeom>
          <a:noFill/>
        </p:spPr>
        <p:txBody>
          <a:bodyPr wrap="square">
            <a:spAutoFit/>
          </a:bodyPr>
          <a:lstStyle/>
          <a:p>
            <a:pPr algn="l">
              <a:lnSpc>
                <a:spcPts val="1680"/>
              </a:lnSpc>
              <a:spcAft>
                <a:spcPts val="0"/>
              </a:spcAft>
              <a:defRPr sz="1400" b="1">
                <a:solidFill>
                  <a:srgbClr val="845EC2"/>
                </a:solidFill>
                <a:latin typeface="Calibri"/>
              </a:defRPr>
            </a:pPr>
            <a:r>
              <a:t>10.</a:t>
            </a:r>
          </a:p>
        </p:txBody>
      </p:sp>
      <p:sp>
        <p:nvSpPr>
          <p:cNvPr id="34" name="TextBox 33"/>
          <p:cNvSpPr txBox="1"/>
          <p:nvPr/>
        </p:nvSpPr>
        <p:spPr>
          <a:xfrm>
            <a:off x="1645920" y="4590288"/>
            <a:ext cx="5486400" cy="320040"/>
          </a:xfrm>
          <a:prstGeom prst="rect">
            <a:avLst/>
          </a:prstGeom>
          <a:noFill/>
        </p:spPr>
        <p:txBody>
          <a:bodyPr wrap="square">
            <a:spAutoFit/>
          </a:bodyPr>
          <a:lstStyle/>
          <a:p>
            <a:pPr algn="l">
              <a:lnSpc>
                <a:spcPts val="1680"/>
              </a:lnSpc>
              <a:spcAft>
                <a:spcPts val="0"/>
              </a:spcAft>
              <a:defRPr sz="1400" b="0">
                <a:solidFill>
                  <a:srgbClr val="FFFFFF"/>
                </a:solidFill>
                <a:latin typeface="Calibri"/>
              </a:defRPr>
            </a:pPr>
            <a:r>
              <a:t>Industry: Nokia's Telemetry Solutions</a:t>
            </a:r>
          </a:p>
        </p:txBody>
      </p:sp>
      <p:sp>
        <p:nvSpPr>
          <p:cNvPr id="35" name="TextBox 34"/>
          <p:cNvSpPr txBox="1"/>
          <p:nvPr/>
        </p:nvSpPr>
        <p:spPr>
          <a:xfrm>
            <a:off x="8229600" y="4590288"/>
            <a:ext cx="3200400" cy="320040"/>
          </a:xfrm>
          <a:prstGeom prst="rect">
            <a:avLst/>
          </a:prstGeom>
          <a:noFill/>
        </p:spPr>
        <p:txBody>
          <a:bodyPr wrap="square">
            <a:spAutoFit/>
          </a:bodyPr>
          <a:lstStyle/>
          <a:p>
            <a:pPr algn="r">
              <a:lnSpc>
                <a:spcPts val="1439"/>
              </a:lnSpc>
              <a:spcAft>
                <a:spcPts val="0"/>
              </a:spcAft>
              <a:defRPr sz="1200" b="0">
                <a:solidFill>
                  <a:srgbClr val="845EC2"/>
                </a:solidFill>
                <a:latin typeface="Calibri"/>
              </a:defRPr>
            </a:pPr>
            <a:r>
              <a:t>Hashim Kshim</a:t>
            </a:r>
          </a:p>
        </p:txBody>
      </p:sp>
      <p:sp>
        <p:nvSpPr>
          <p:cNvPr id="36" name="TextBox 35"/>
          <p:cNvSpPr txBox="1"/>
          <p:nvPr/>
        </p:nvSpPr>
        <p:spPr>
          <a:xfrm>
            <a:off x="1097280" y="4937760"/>
            <a:ext cx="548640" cy="320040"/>
          </a:xfrm>
          <a:prstGeom prst="rect">
            <a:avLst/>
          </a:prstGeom>
          <a:noFill/>
        </p:spPr>
        <p:txBody>
          <a:bodyPr wrap="square">
            <a:spAutoFit/>
          </a:bodyPr>
          <a:lstStyle/>
          <a:p>
            <a:pPr algn="l">
              <a:lnSpc>
                <a:spcPts val="1680"/>
              </a:lnSpc>
              <a:spcAft>
                <a:spcPts val="0"/>
              </a:spcAft>
              <a:defRPr sz="1400" b="1">
                <a:solidFill>
                  <a:srgbClr val="845EC2"/>
                </a:solidFill>
                <a:latin typeface="Calibri"/>
              </a:defRPr>
            </a:pPr>
            <a:r>
              <a:t>11.</a:t>
            </a:r>
          </a:p>
        </p:txBody>
      </p:sp>
      <p:sp>
        <p:nvSpPr>
          <p:cNvPr id="37" name="TextBox 36"/>
          <p:cNvSpPr txBox="1"/>
          <p:nvPr/>
        </p:nvSpPr>
        <p:spPr>
          <a:xfrm>
            <a:off x="1645920" y="4937760"/>
            <a:ext cx="5486400" cy="320040"/>
          </a:xfrm>
          <a:prstGeom prst="rect">
            <a:avLst/>
          </a:prstGeom>
          <a:noFill/>
        </p:spPr>
        <p:txBody>
          <a:bodyPr wrap="square">
            <a:spAutoFit/>
          </a:bodyPr>
          <a:lstStyle/>
          <a:p>
            <a:pPr algn="l">
              <a:lnSpc>
                <a:spcPts val="1680"/>
              </a:lnSpc>
              <a:spcAft>
                <a:spcPts val="0"/>
              </a:spcAft>
              <a:defRPr sz="1400" b="0">
                <a:solidFill>
                  <a:srgbClr val="FFFFFF"/>
                </a:solidFill>
                <a:latin typeface="Calibri"/>
              </a:defRPr>
            </a:pPr>
            <a:r>
              <a:t>Industry: Ericsson's AI-Driven Telemetry</a:t>
            </a:r>
          </a:p>
        </p:txBody>
      </p:sp>
      <p:sp>
        <p:nvSpPr>
          <p:cNvPr id="38" name="TextBox 37"/>
          <p:cNvSpPr txBox="1"/>
          <p:nvPr/>
        </p:nvSpPr>
        <p:spPr>
          <a:xfrm>
            <a:off x="8229600" y="4937760"/>
            <a:ext cx="3200400" cy="320040"/>
          </a:xfrm>
          <a:prstGeom prst="rect">
            <a:avLst/>
          </a:prstGeom>
          <a:noFill/>
        </p:spPr>
        <p:txBody>
          <a:bodyPr wrap="square">
            <a:spAutoFit/>
          </a:bodyPr>
          <a:lstStyle/>
          <a:p>
            <a:pPr algn="r">
              <a:lnSpc>
                <a:spcPts val="1439"/>
              </a:lnSpc>
              <a:spcAft>
                <a:spcPts val="0"/>
              </a:spcAft>
              <a:defRPr sz="1200" b="0">
                <a:solidFill>
                  <a:srgbClr val="845EC2"/>
                </a:solidFill>
                <a:latin typeface="Calibri"/>
              </a:defRPr>
            </a:pPr>
            <a:r>
              <a:t>Hashim Kshim</a:t>
            </a:r>
          </a:p>
        </p:txBody>
      </p:sp>
      <p:sp>
        <p:nvSpPr>
          <p:cNvPr id="39" name="TextBox 38"/>
          <p:cNvSpPr txBox="1"/>
          <p:nvPr/>
        </p:nvSpPr>
        <p:spPr>
          <a:xfrm>
            <a:off x="1097280" y="5285231"/>
            <a:ext cx="548640" cy="320040"/>
          </a:xfrm>
          <a:prstGeom prst="rect">
            <a:avLst/>
          </a:prstGeom>
          <a:noFill/>
        </p:spPr>
        <p:txBody>
          <a:bodyPr wrap="square">
            <a:spAutoFit/>
          </a:bodyPr>
          <a:lstStyle/>
          <a:p>
            <a:pPr algn="l">
              <a:lnSpc>
                <a:spcPts val="1680"/>
              </a:lnSpc>
              <a:spcAft>
                <a:spcPts val="0"/>
              </a:spcAft>
              <a:defRPr sz="1400" b="1">
                <a:solidFill>
                  <a:srgbClr val="845EC2"/>
                </a:solidFill>
                <a:latin typeface="Calibri"/>
              </a:defRPr>
            </a:pPr>
            <a:r>
              <a:t>12.</a:t>
            </a:r>
          </a:p>
        </p:txBody>
      </p:sp>
      <p:sp>
        <p:nvSpPr>
          <p:cNvPr id="40" name="TextBox 39"/>
          <p:cNvSpPr txBox="1"/>
          <p:nvPr/>
        </p:nvSpPr>
        <p:spPr>
          <a:xfrm>
            <a:off x="1645920" y="5285231"/>
            <a:ext cx="5486400" cy="320040"/>
          </a:xfrm>
          <a:prstGeom prst="rect">
            <a:avLst/>
          </a:prstGeom>
          <a:noFill/>
        </p:spPr>
        <p:txBody>
          <a:bodyPr wrap="square">
            <a:spAutoFit/>
          </a:bodyPr>
          <a:lstStyle/>
          <a:p>
            <a:pPr algn="l">
              <a:lnSpc>
                <a:spcPts val="1680"/>
              </a:lnSpc>
              <a:spcAft>
                <a:spcPts val="0"/>
              </a:spcAft>
              <a:defRPr sz="1400" b="0">
                <a:solidFill>
                  <a:srgbClr val="FFFFFF"/>
                </a:solidFill>
                <a:latin typeface="Calibri"/>
              </a:defRPr>
            </a:pPr>
            <a:r>
              <a:t>Emerging Trends: 6G &amp; GenAI for Telemetry</a:t>
            </a:r>
          </a:p>
        </p:txBody>
      </p:sp>
      <p:sp>
        <p:nvSpPr>
          <p:cNvPr id="41" name="TextBox 40"/>
          <p:cNvSpPr txBox="1"/>
          <p:nvPr/>
        </p:nvSpPr>
        <p:spPr>
          <a:xfrm>
            <a:off x="8229600" y="5285231"/>
            <a:ext cx="3200400" cy="320040"/>
          </a:xfrm>
          <a:prstGeom prst="rect">
            <a:avLst/>
          </a:prstGeom>
          <a:noFill/>
        </p:spPr>
        <p:txBody>
          <a:bodyPr wrap="square">
            <a:spAutoFit/>
          </a:bodyPr>
          <a:lstStyle/>
          <a:p>
            <a:pPr algn="r">
              <a:lnSpc>
                <a:spcPts val="1439"/>
              </a:lnSpc>
              <a:spcAft>
                <a:spcPts val="0"/>
              </a:spcAft>
              <a:defRPr sz="1200" b="0">
                <a:solidFill>
                  <a:srgbClr val="845EC2"/>
                </a:solidFill>
                <a:latin typeface="Calibri"/>
              </a:defRPr>
            </a:pPr>
            <a:r>
              <a:t>Hashim Kshim</a:t>
            </a:r>
          </a:p>
        </p:txBody>
      </p:sp>
      <p:sp>
        <p:nvSpPr>
          <p:cNvPr id="42" name="TextBox 41"/>
          <p:cNvSpPr txBox="1"/>
          <p:nvPr/>
        </p:nvSpPr>
        <p:spPr>
          <a:xfrm>
            <a:off x="1097280" y="5632704"/>
            <a:ext cx="548640" cy="320040"/>
          </a:xfrm>
          <a:prstGeom prst="rect">
            <a:avLst/>
          </a:prstGeom>
          <a:noFill/>
        </p:spPr>
        <p:txBody>
          <a:bodyPr wrap="square">
            <a:spAutoFit/>
          </a:bodyPr>
          <a:lstStyle/>
          <a:p>
            <a:pPr algn="l">
              <a:lnSpc>
                <a:spcPts val="1680"/>
              </a:lnSpc>
              <a:spcAft>
                <a:spcPts val="0"/>
              </a:spcAft>
              <a:defRPr sz="1400" b="1">
                <a:solidFill>
                  <a:srgbClr val="845EC2"/>
                </a:solidFill>
                <a:latin typeface="Calibri"/>
              </a:defRPr>
            </a:pPr>
            <a:r>
              <a:t>13.</a:t>
            </a:r>
          </a:p>
        </p:txBody>
      </p:sp>
      <p:sp>
        <p:nvSpPr>
          <p:cNvPr id="43" name="TextBox 42"/>
          <p:cNvSpPr txBox="1"/>
          <p:nvPr/>
        </p:nvSpPr>
        <p:spPr>
          <a:xfrm>
            <a:off x="1645920" y="5632704"/>
            <a:ext cx="5486400" cy="320040"/>
          </a:xfrm>
          <a:prstGeom prst="rect">
            <a:avLst/>
          </a:prstGeom>
          <a:noFill/>
        </p:spPr>
        <p:txBody>
          <a:bodyPr wrap="square">
            <a:spAutoFit/>
          </a:bodyPr>
          <a:lstStyle/>
          <a:p>
            <a:pPr algn="l">
              <a:lnSpc>
                <a:spcPts val="1680"/>
              </a:lnSpc>
              <a:spcAft>
                <a:spcPts val="0"/>
              </a:spcAft>
              <a:defRPr sz="1400" b="0">
                <a:solidFill>
                  <a:srgbClr val="FFFFFF"/>
                </a:solidFill>
                <a:latin typeface="Calibri"/>
              </a:defRPr>
            </a:pPr>
            <a:r>
              <a:t>Open Challenges &amp; Future Directions</a:t>
            </a:r>
          </a:p>
        </p:txBody>
      </p:sp>
      <p:sp>
        <p:nvSpPr>
          <p:cNvPr id="44" name="TextBox 43"/>
          <p:cNvSpPr txBox="1"/>
          <p:nvPr/>
        </p:nvSpPr>
        <p:spPr>
          <a:xfrm>
            <a:off x="8229600" y="5632704"/>
            <a:ext cx="3200400" cy="320040"/>
          </a:xfrm>
          <a:prstGeom prst="rect">
            <a:avLst/>
          </a:prstGeom>
          <a:noFill/>
        </p:spPr>
        <p:txBody>
          <a:bodyPr wrap="square">
            <a:spAutoFit/>
          </a:bodyPr>
          <a:lstStyle/>
          <a:p>
            <a:pPr algn="r">
              <a:lnSpc>
                <a:spcPts val="1439"/>
              </a:lnSpc>
              <a:spcAft>
                <a:spcPts val="0"/>
              </a:spcAft>
              <a:defRPr sz="1200" b="0">
                <a:solidFill>
                  <a:srgbClr val="845EC2"/>
                </a:solidFill>
                <a:latin typeface="Calibri"/>
              </a:defRPr>
            </a:pPr>
            <a:r>
              <a:t>Hashim Kshim</a:t>
            </a:r>
          </a:p>
        </p:txBody>
      </p:sp>
      <p:sp>
        <p:nvSpPr>
          <p:cNvPr id="45" name="TextBox 44"/>
          <p:cNvSpPr txBox="1"/>
          <p:nvPr/>
        </p:nvSpPr>
        <p:spPr>
          <a:xfrm>
            <a:off x="1097280" y="5980176"/>
            <a:ext cx="548640" cy="320040"/>
          </a:xfrm>
          <a:prstGeom prst="rect">
            <a:avLst/>
          </a:prstGeom>
          <a:noFill/>
        </p:spPr>
        <p:txBody>
          <a:bodyPr wrap="square">
            <a:spAutoFit/>
          </a:bodyPr>
          <a:lstStyle/>
          <a:p>
            <a:pPr algn="l">
              <a:lnSpc>
                <a:spcPts val="1680"/>
              </a:lnSpc>
              <a:spcAft>
                <a:spcPts val="0"/>
              </a:spcAft>
              <a:defRPr sz="1400" b="1">
                <a:solidFill>
                  <a:srgbClr val="845EC2"/>
                </a:solidFill>
                <a:latin typeface="Calibri"/>
              </a:defRPr>
            </a:pPr>
            <a:r>
              <a:t>14.</a:t>
            </a:r>
          </a:p>
        </p:txBody>
      </p:sp>
      <p:sp>
        <p:nvSpPr>
          <p:cNvPr id="46" name="TextBox 45"/>
          <p:cNvSpPr txBox="1"/>
          <p:nvPr/>
        </p:nvSpPr>
        <p:spPr>
          <a:xfrm>
            <a:off x="1645920" y="5980176"/>
            <a:ext cx="5486400" cy="320040"/>
          </a:xfrm>
          <a:prstGeom prst="rect">
            <a:avLst/>
          </a:prstGeom>
          <a:noFill/>
        </p:spPr>
        <p:txBody>
          <a:bodyPr wrap="square">
            <a:spAutoFit/>
          </a:bodyPr>
          <a:lstStyle/>
          <a:p>
            <a:pPr algn="l">
              <a:lnSpc>
                <a:spcPts val="1680"/>
              </a:lnSpc>
              <a:spcAft>
                <a:spcPts val="0"/>
              </a:spcAft>
              <a:defRPr sz="1400" b="0">
                <a:solidFill>
                  <a:srgbClr val="FFFFFF"/>
                </a:solidFill>
                <a:latin typeface="Calibri"/>
              </a:defRPr>
            </a:pPr>
            <a:r>
              <a:t>Conclusion &amp; Key Takeaways</a:t>
            </a:r>
          </a:p>
        </p:txBody>
      </p:sp>
      <p:sp>
        <p:nvSpPr>
          <p:cNvPr id="47" name="TextBox 46"/>
          <p:cNvSpPr txBox="1"/>
          <p:nvPr/>
        </p:nvSpPr>
        <p:spPr>
          <a:xfrm>
            <a:off x="8229600" y="5980176"/>
            <a:ext cx="3200400" cy="320040"/>
          </a:xfrm>
          <a:prstGeom prst="rect">
            <a:avLst/>
          </a:prstGeom>
          <a:noFill/>
        </p:spPr>
        <p:txBody>
          <a:bodyPr wrap="square">
            <a:spAutoFit/>
          </a:bodyPr>
          <a:lstStyle/>
          <a:p>
            <a:pPr algn="r">
              <a:lnSpc>
                <a:spcPts val="1439"/>
              </a:lnSpc>
              <a:spcAft>
                <a:spcPts val="0"/>
              </a:spcAft>
              <a:defRPr sz="1200" b="0">
                <a:solidFill>
                  <a:srgbClr val="845EC2"/>
                </a:solidFill>
                <a:latin typeface="Calibri"/>
              </a:defRPr>
            </a:pPr>
            <a:r>
              <a:t>Hashim Kshim</a:t>
            </a:r>
          </a:p>
        </p:txBody>
      </p:sp>
      <p:sp>
        <p:nvSpPr>
          <p:cNvPr id="48" name="Oval 47"/>
          <p:cNvSpPr/>
          <p:nvPr/>
        </p:nvSpPr>
        <p:spPr>
          <a:xfrm>
            <a:off x="1097280" y="6446520"/>
            <a:ext cx="137160" cy="137160"/>
          </a:xfrm>
          <a:prstGeom prst="ellipse">
            <a:avLst/>
          </a:prstGeom>
          <a:solidFill>
            <a:srgbClr val="009F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325880" y="6355080"/>
            <a:ext cx="2286000" cy="320040"/>
          </a:xfrm>
          <a:prstGeom prst="rect">
            <a:avLst/>
          </a:prstGeom>
          <a:noFill/>
        </p:spPr>
        <p:txBody>
          <a:bodyPr wrap="square">
            <a:spAutoFit/>
          </a:bodyPr>
          <a:lstStyle/>
          <a:p>
            <a:pPr algn="l">
              <a:lnSpc>
                <a:spcPts val="1320"/>
              </a:lnSpc>
              <a:spcAft>
                <a:spcPts val="0"/>
              </a:spcAft>
              <a:defRPr sz="1100" b="0">
                <a:solidFill>
                  <a:srgbClr val="009FFD"/>
                </a:solidFill>
                <a:latin typeface="Calibri"/>
              </a:defRPr>
            </a:pPr>
            <a:r>
              <a:t>Abdul Rehman</a:t>
            </a:r>
          </a:p>
        </p:txBody>
      </p:sp>
      <p:sp>
        <p:nvSpPr>
          <p:cNvPr id="50" name="Oval 49"/>
          <p:cNvSpPr/>
          <p:nvPr/>
        </p:nvSpPr>
        <p:spPr>
          <a:xfrm>
            <a:off x="4297680" y="6446520"/>
            <a:ext cx="137160" cy="137160"/>
          </a:xfrm>
          <a:prstGeom prst="ellipse">
            <a:avLst/>
          </a:prstGeom>
          <a:solidFill>
            <a:srgbClr val="00C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526280" y="6355080"/>
            <a:ext cx="2286000" cy="320040"/>
          </a:xfrm>
          <a:prstGeom prst="rect">
            <a:avLst/>
          </a:prstGeom>
          <a:noFill/>
        </p:spPr>
        <p:txBody>
          <a:bodyPr wrap="square">
            <a:spAutoFit/>
          </a:bodyPr>
          <a:lstStyle/>
          <a:p>
            <a:pPr algn="l">
              <a:lnSpc>
                <a:spcPts val="1320"/>
              </a:lnSpc>
              <a:spcAft>
                <a:spcPts val="0"/>
              </a:spcAft>
              <a:defRPr sz="1100" b="0">
                <a:solidFill>
                  <a:srgbClr val="00C9A7"/>
                </a:solidFill>
                <a:latin typeface="Calibri"/>
              </a:defRPr>
            </a:pPr>
            <a:r>
              <a:t>Esam Mukbil</a:t>
            </a:r>
          </a:p>
        </p:txBody>
      </p:sp>
      <p:sp>
        <p:nvSpPr>
          <p:cNvPr id="52" name="Oval 51"/>
          <p:cNvSpPr/>
          <p:nvPr/>
        </p:nvSpPr>
        <p:spPr>
          <a:xfrm>
            <a:off x="7498080" y="6446520"/>
            <a:ext cx="137160" cy="137160"/>
          </a:xfrm>
          <a:prstGeom prst="ellipse">
            <a:avLst/>
          </a:prstGeom>
          <a:solidFill>
            <a:srgbClr val="845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726680" y="6355080"/>
            <a:ext cx="2286000" cy="320040"/>
          </a:xfrm>
          <a:prstGeom prst="rect">
            <a:avLst/>
          </a:prstGeom>
          <a:noFill/>
        </p:spPr>
        <p:txBody>
          <a:bodyPr wrap="square">
            <a:spAutoFit/>
          </a:bodyPr>
          <a:lstStyle/>
          <a:p>
            <a:pPr algn="l">
              <a:lnSpc>
                <a:spcPts val="1320"/>
              </a:lnSpc>
              <a:spcAft>
                <a:spcPts val="0"/>
              </a:spcAft>
              <a:defRPr sz="1100" b="0">
                <a:solidFill>
                  <a:srgbClr val="845EC2"/>
                </a:solidFill>
                <a:latin typeface="Calibri"/>
              </a:defRPr>
            </a:pPr>
            <a:r>
              <a:t>Hashim Kshim</a:t>
            </a:r>
          </a:p>
        </p:txBody>
      </p:sp>
      <p:sp>
        <p:nvSpPr>
          <p:cNvPr id="54" name="TextBox 53"/>
          <p:cNvSpPr txBox="1"/>
          <p:nvPr/>
        </p:nvSpPr>
        <p:spPr>
          <a:xfrm>
            <a:off x="365760" y="6309360"/>
            <a:ext cx="1371600" cy="365760"/>
          </a:xfrm>
          <a:prstGeom prst="rect">
            <a:avLst/>
          </a:prstGeom>
          <a:noFill/>
        </p:spPr>
        <p:txBody>
          <a:bodyPr wrap="square">
            <a:spAutoFit/>
          </a:bodyPr>
          <a:lstStyle/>
          <a:p>
            <a:pPr algn="l">
              <a:lnSpc>
                <a:spcPts val="1200"/>
              </a:lnSpc>
              <a:spcAft>
                <a:spcPts val="0"/>
              </a:spcAft>
              <a:defRPr sz="1000" b="0">
                <a:solidFill>
                  <a:srgbClr val="999999"/>
                </a:solidFill>
                <a:latin typeface="Calibri"/>
              </a:defRPr>
            </a:pPr>
            <a:r>
              <a:t>2 / 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2E"/>
        </a:solidFill>
        <a:effectLst/>
      </p:bgPr>
    </p:bg>
    <p:spTree>
      <p:nvGrpSpPr>
        <p:cNvPr id="1" name=""/>
        <p:cNvGrpSpPr/>
        <p:nvPr/>
      </p:nvGrpSpPr>
      <p:grpSpPr/>
      <p:sp>
        <p:nvSpPr>
          <p:cNvPr id="2" name="Rectangle 1"/>
          <p:cNvSpPr/>
          <p:nvPr/>
        </p:nvSpPr>
        <p:spPr>
          <a:xfrm>
            <a:off x="0" y="6784848"/>
            <a:ext cx="12191695" cy="73152"/>
          </a:xfrm>
          <a:prstGeom prst="rect">
            <a:avLst/>
          </a:prstGeom>
          <a:solidFill>
            <a:srgbClr val="009F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371600"/>
            <a:ext cx="10058400" cy="457200"/>
          </a:xfrm>
          <a:prstGeom prst="rect">
            <a:avLst/>
          </a:prstGeom>
          <a:noFill/>
        </p:spPr>
        <p:txBody>
          <a:bodyPr wrap="square">
            <a:spAutoFit/>
          </a:bodyPr>
          <a:lstStyle/>
          <a:p>
            <a:pPr algn="ctr">
              <a:lnSpc>
                <a:spcPts val="1920"/>
              </a:lnSpc>
              <a:spcAft>
                <a:spcPts val="0"/>
              </a:spcAft>
              <a:defRPr sz="1600" b="1">
                <a:solidFill>
                  <a:srgbClr val="009FFD"/>
                </a:solidFill>
                <a:latin typeface="Calibri"/>
              </a:defRPr>
            </a:pPr>
            <a:r>
              <a:t>PART 1</a:t>
            </a:r>
          </a:p>
        </p:txBody>
      </p:sp>
      <p:sp>
        <p:nvSpPr>
          <p:cNvPr id="4" name="Rectangle 3"/>
          <p:cNvSpPr/>
          <p:nvPr/>
        </p:nvSpPr>
        <p:spPr>
          <a:xfrm>
            <a:off x="0" y="2560320"/>
            <a:ext cx="12191695" cy="1645920"/>
          </a:xfrm>
          <a:prstGeom prst="rect">
            <a:avLst/>
          </a:prstGeom>
          <a:solidFill>
            <a:srgbClr val="1015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058400" cy="1280160"/>
          </a:xfrm>
          <a:prstGeom prst="rect">
            <a:avLst/>
          </a:prstGeom>
          <a:noFill/>
        </p:spPr>
        <p:txBody>
          <a:bodyPr wrap="square">
            <a:spAutoFit/>
          </a:bodyPr>
          <a:lstStyle/>
          <a:p>
            <a:pPr algn="ctr">
              <a:lnSpc>
                <a:spcPts val="4800"/>
              </a:lnSpc>
              <a:spcAft>
                <a:spcPts val="0"/>
              </a:spcAft>
              <a:defRPr sz="4000" b="1">
                <a:solidFill>
                  <a:srgbClr val="009FFD"/>
                </a:solidFill>
                <a:latin typeface="Calibri"/>
              </a:defRPr>
            </a:pPr>
            <a:r>
              <a:t>Introduction &amp; ML for Anomaly Detection</a:t>
            </a:r>
          </a:p>
        </p:txBody>
      </p:sp>
      <p:sp>
        <p:nvSpPr>
          <p:cNvPr id="6" name="TextBox 5"/>
          <p:cNvSpPr txBox="1"/>
          <p:nvPr/>
        </p:nvSpPr>
        <p:spPr>
          <a:xfrm>
            <a:off x="914400" y="4572000"/>
            <a:ext cx="10058400" cy="457200"/>
          </a:xfrm>
          <a:prstGeom prst="rect">
            <a:avLst/>
          </a:prstGeom>
          <a:noFill/>
        </p:spPr>
        <p:txBody>
          <a:bodyPr wrap="square">
            <a:spAutoFit/>
          </a:bodyPr>
          <a:lstStyle/>
          <a:p>
            <a:pPr algn="ctr">
              <a:lnSpc>
                <a:spcPts val="2400"/>
              </a:lnSpc>
              <a:spcAft>
                <a:spcPts val="0"/>
              </a:spcAft>
              <a:defRPr sz="2000" b="0">
                <a:solidFill>
                  <a:srgbClr val="FFFFFF"/>
                </a:solidFill>
                <a:latin typeface="Calibri"/>
              </a:defRPr>
            </a:pPr>
            <a:r>
              <a:t>Presenter: Abdul Rehman</a:t>
            </a:r>
          </a:p>
        </p:txBody>
      </p:sp>
      <p:sp>
        <p:nvSpPr>
          <p:cNvPr id="7" name="TextBox 6"/>
          <p:cNvSpPr txBox="1"/>
          <p:nvPr/>
        </p:nvSpPr>
        <p:spPr>
          <a:xfrm>
            <a:off x="365760" y="6309360"/>
            <a:ext cx="1371600" cy="365760"/>
          </a:xfrm>
          <a:prstGeom prst="rect">
            <a:avLst/>
          </a:prstGeom>
          <a:noFill/>
        </p:spPr>
        <p:txBody>
          <a:bodyPr wrap="square">
            <a:spAutoFit/>
          </a:bodyPr>
          <a:lstStyle/>
          <a:p>
            <a:pPr algn="l">
              <a:lnSpc>
                <a:spcPts val="1200"/>
              </a:lnSpc>
              <a:spcAft>
                <a:spcPts val="0"/>
              </a:spcAft>
              <a:defRPr sz="1000" b="0">
                <a:solidFill>
                  <a:srgbClr val="999999"/>
                </a:solidFill>
                <a:latin typeface="Calibri"/>
              </a:defRPr>
            </a:pPr>
            <a:r>
              <a:t>3 / 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9F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00C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65760"/>
            <a:ext cx="10515600" cy="640080"/>
          </a:xfrm>
          <a:prstGeom prst="rect">
            <a:avLst/>
          </a:prstGeom>
          <a:noFill/>
        </p:spPr>
        <p:txBody>
          <a:bodyPr wrap="square">
            <a:spAutoFit/>
          </a:bodyPr>
          <a:lstStyle/>
          <a:p>
            <a:pPr algn="l">
              <a:lnSpc>
                <a:spcPts val="4320"/>
              </a:lnSpc>
              <a:spcAft>
                <a:spcPts val="0"/>
              </a:spcAft>
              <a:defRPr sz="3600" b="1">
                <a:solidFill>
                  <a:srgbClr val="FFFFFF"/>
                </a:solidFill>
                <a:latin typeface="Calibri"/>
              </a:defRPr>
            </a:pPr>
            <a:r>
              <a:t>What is Network Telemetry?</a:t>
            </a:r>
          </a:p>
        </p:txBody>
      </p:sp>
      <p:sp>
        <p:nvSpPr>
          <p:cNvPr id="5" name="TextBox 4"/>
          <p:cNvSpPr txBox="1"/>
          <p:nvPr/>
        </p:nvSpPr>
        <p:spPr>
          <a:xfrm>
            <a:off x="731520" y="960120"/>
            <a:ext cx="10515600" cy="411480"/>
          </a:xfrm>
          <a:prstGeom prst="rect">
            <a:avLst/>
          </a:prstGeom>
          <a:noFill/>
        </p:spPr>
        <p:txBody>
          <a:bodyPr wrap="square">
            <a:spAutoFit/>
          </a:bodyPr>
          <a:lstStyle/>
          <a:p>
            <a:pPr algn="l">
              <a:lnSpc>
                <a:spcPts val="2160"/>
              </a:lnSpc>
              <a:spcAft>
                <a:spcPts val="0"/>
              </a:spcAft>
              <a:defRPr sz="1800" b="0">
                <a:solidFill>
                  <a:srgbClr val="CCCCCC"/>
                </a:solidFill>
                <a:latin typeface="Calibri"/>
              </a:defRPr>
            </a:pPr>
            <a:r>
              <a:t>Real-time, automated collection and streaming of network data</a:t>
            </a:r>
          </a:p>
        </p:txBody>
      </p:sp>
      <p:sp>
        <p:nvSpPr>
          <p:cNvPr id="6" name="TextBox 5"/>
          <p:cNvSpPr txBox="1"/>
          <p:nvPr/>
        </p:nvSpPr>
        <p:spPr>
          <a:xfrm>
            <a:off x="9326880" y="6263640"/>
            <a:ext cx="2743200" cy="457200"/>
          </a:xfrm>
          <a:prstGeom prst="rect">
            <a:avLst/>
          </a:prstGeom>
          <a:noFill/>
        </p:spPr>
        <p:txBody>
          <a:bodyPr wrap="square">
            <a:spAutoFit/>
          </a:bodyPr>
          <a:lstStyle/>
          <a:p>
            <a:pPr algn="r">
              <a:lnSpc>
                <a:spcPts val="1439"/>
              </a:lnSpc>
              <a:spcAft>
                <a:spcPts val="0"/>
              </a:spcAft>
              <a:defRPr sz="1200" b="1">
                <a:solidFill>
                  <a:srgbClr val="009FFD"/>
                </a:solidFill>
                <a:latin typeface="Calibri"/>
              </a:defRPr>
            </a:pPr>
            <a:r>
              <a:t>Presenter: Abdul Rehman</a:t>
            </a:r>
          </a:p>
        </p:txBody>
      </p:sp>
      <p:sp>
        <p:nvSpPr>
          <p:cNvPr id="7" name="TextBox 6"/>
          <p:cNvSpPr txBox="1"/>
          <p:nvPr/>
        </p:nvSpPr>
        <p:spPr>
          <a:xfrm>
            <a:off x="731520" y="1554480"/>
            <a:ext cx="5486400" cy="4389120"/>
          </a:xfrm>
          <a:prstGeom prst="rect">
            <a:avLst/>
          </a:prstGeom>
          <a:noFill/>
        </p:spPr>
        <p:txBody>
          <a:bodyPr wrap="square">
            <a:spAutoFit/>
          </a:bodyPr>
          <a:lstStyle/>
          <a:p>
            <a:pPr>
              <a:spcBef>
                <a:spcPts val="200"/>
              </a:spcBef>
              <a:spcAft>
                <a:spcPts val="800"/>
              </a:spcAft>
              <a:defRPr sz="1600" b="0">
                <a:solidFill>
                  <a:srgbClr val="FFFFFF"/>
                </a:solidFill>
                <a:latin typeface="Calibri"/>
              </a:defRPr>
            </a:pPr>
            <a:r>
              <a:t>Network telemetry = automated, real-time collection of operational data from network devices and infrastructure</a:t>
            </a:r>
          </a:p>
          <a:p>
            <a:pPr>
              <a:spcBef>
                <a:spcPts val="200"/>
              </a:spcBef>
              <a:spcAft>
                <a:spcPts val="800"/>
              </a:spcAft>
              <a:defRPr sz="1600" b="0">
                <a:solidFill>
                  <a:srgbClr val="FFFFFF"/>
                </a:solidFill>
                <a:latin typeface="Calibri"/>
              </a:defRPr>
            </a:pPr>
            <a:r>
              <a:t>Data sources include flow statistics, packet traces, SNMP counters, syslog, and in-band network telemetry (INT)</a:t>
            </a:r>
          </a:p>
          <a:p>
            <a:pPr>
              <a:spcBef>
                <a:spcPts val="200"/>
              </a:spcBef>
              <a:spcAft>
                <a:spcPts val="800"/>
              </a:spcAft>
              <a:defRPr sz="1600" b="0">
                <a:solidFill>
                  <a:srgbClr val="FFFFFF"/>
                </a:solidFill>
                <a:latin typeface="Calibri"/>
              </a:defRPr>
            </a:pPr>
            <a:r>
              <a:t>Evolved from traditional polling-based monitoring (SNMP) to push-based streaming models</a:t>
            </a:r>
          </a:p>
          <a:p>
            <a:pPr>
              <a:spcBef>
                <a:spcPts val="200"/>
              </a:spcBef>
              <a:spcAft>
                <a:spcPts val="800"/>
              </a:spcAft>
              <a:defRPr sz="1600" b="0">
                <a:solidFill>
                  <a:srgbClr val="FFFFFF"/>
                </a:solidFill>
                <a:latin typeface="Calibri"/>
              </a:defRPr>
            </a:pPr>
            <a:r>
              <a:t>Enables fine-grained visibility into network state: latency, jitter, packet loss, throughput, error rates</a:t>
            </a:r>
          </a:p>
          <a:p>
            <a:pPr>
              <a:spcBef>
                <a:spcPts val="200"/>
              </a:spcBef>
              <a:spcAft>
                <a:spcPts val="800"/>
              </a:spcAft>
              <a:defRPr sz="1600" b="0">
                <a:solidFill>
                  <a:srgbClr val="FFFFFF"/>
                </a:solidFill>
                <a:latin typeface="Calibri"/>
              </a:defRPr>
            </a:pPr>
            <a:r>
              <a:t>Foundation for closed-loop network automation — observe, orient, decide, act</a:t>
            </a:r>
          </a:p>
          <a:p>
            <a:pPr>
              <a:spcBef>
                <a:spcPts val="200"/>
              </a:spcBef>
              <a:spcAft>
                <a:spcPts val="800"/>
              </a:spcAft>
              <a:defRPr sz="1600" b="0">
                <a:solidFill>
                  <a:srgbClr val="FFFFFF"/>
                </a:solidFill>
                <a:latin typeface="Calibri"/>
              </a:defRPr>
            </a:pPr>
            <a:r>
              <a:t>Critical for modern networks: 5G, SDN/NFV, cloud-native, and multi-domain environments</a:t>
            </a:r>
          </a:p>
        </p:txBody>
      </p:sp>
      <p:sp>
        <p:nvSpPr>
          <p:cNvPr id="8" name="Rounded Rectangle 7"/>
          <p:cNvSpPr/>
          <p:nvPr/>
        </p:nvSpPr>
        <p:spPr>
          <a:xfrm>
            <a:off x="6766560" y="1554480"/>
            <a:ext cx="4937760" cy="4114800"/>
          </a:xfrm>
          <a:prstGeom prst="roundRect">
            <a:avLst/>
          </a:prstGeom>
          <a:solidFill>
            <a:srgbClr val="141832"/>
          </a:solidFill>
          <a:ln w="19050">
            <a:solidFill>
              <a:srgbClr val="009F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0" y="1737360"/>
            <a:ext cx="4389120" cy="457200"/>
          </a:xfrm>
          <a:prstGeom prst="rect">
            <a:avLst/>
          </a:prstGeom>
          <a:noFill/>
        </p:spPr>
        <p:txBody>
          <a:bodyPr wrap="square">
            <a:spAutoFit/>
          </a:bodyPr>
          <a:lstStyle/>
          <a:p>
            <a:pPr algn="l">
              <a:lnSpc>
                <a:spcPts val="1920"/>
              </a:lnSpc>
              <a:spcAft>
                <a:spcPts val="0"/>
              </a:spcAft>
              <a:defRPr sz="1600" b="1">
                <a:solidFill>
                  <a:srgbClr val="009FFD"/>
                </a:solidFill>
                <a:latin typeface="Calibri"/>
              </a:defRPr>
            </a:pPr>
            <a:r>
              <a:t>Key Telemetry Data Types</a:t>
            </a:r>
          </a:p>
        </p:txBody>
      </p:sp>
      <p:sp>
        <p:nvSpPr>
          <p:cNvPr id="10" name="TextBox 9"/>
          <p:cNvSpPr txBox="1"/>
          <p:nvPr/>
        </p:nvSpPr>
        <p:spPr>
          <a:xfrm>
            <a:off x="7040880" y="2286000"/>
            <a:ext cx="4389120" cy="3200400"/>
          </a:xfrm>
          <a:prstGeom prst="rect">
            <a:avLst/>
          </a:prstGeom>
          <a:noFill/>
        </p:spPr>
        <p:txBody>
          <a:bodyPr wrap="square">
            <a:spAutoFit/>
          </a:bodyPr>
          <a:lstStyle/>
          <a:p>
            <a:pPr>
              <a:spcBef>
                <a:spcPts val="200"/>
              </a:spcBef>
              <a:spcAft>
                <a:spcPts val="600"/>
              </a:spcAft>
              <a:defRPr sz="1300" b="0">
                <a:solidFill>
                  <a:srgbClr val="CCCCCC"/>
                </a:solidFill>
                <a:latin typeface="Calibri"/>
              </a:defRPr>
            </a:pPr>
            <a:r>
              <a:t>Flow Statistics — NetFlow/IPFIX records of traffic flows</a:t>
            </a:r>
          </a:p>
          <a:p>
            <a:pPr>
              <a:spcBef>
                <a:spcPts val="200"/>
              </a:spcBef>
              <a:spcAft>
                <a:spcPts val="600"/>
              </a:spcAft>
              <a:defRPr sz="1300" b="0">
                <a:solidFill>
                  <a:srgbClr val="CCCCCC"/>
                </a:solidFill>
                <a:latin typeface="Calibri"/>
              </a:defRPr>
            </a:pPr>
            <a:r>
              <a:t>Packet Traces — Full or sampled packet captures</a:t>
            </a:r>
          </a:p>
          <a:p>
            <a:pPr>
              <a:spcBef>
                <a:spcPts val="200"/>
              </a:spcBef>
              <a:spcAft>
                <a:spcPts val="600"/>
              </a:spcAft>
              <a:defRPr sz="1300" b="0">
                <a:solidFill>
                  <a:srgbClr val="CCCCCC"/>
                </a:solidFill>
                <a:latin typeface="Calibri"/>
              </a:defRPr>
            </a:pPr>
            <a:r>
              <a:t>In-Band Telemetry (INT) — Hop-by-hop metadata embedded in packets</a:t>
            </a:r>
          </a:p>
          <a:p>
            <a:pPr>
              <a:spcBef>
                <a:spcPts val="200"/>
              </a:spcBef>
              <a:spcAft>
                <a:spcPts val="600"/>
              </a:spcAft>
              <a:defRPr sz="1300" b="0">
                <a:solidFill>
                  <a:srgbClr val="CCCCCC"/>
                </a:solidFill>
                <a:latin typeface="Calibri"/>
              </a:defRPr>
            </a:pPr>
            <a:r>
              <a:t>Device Metrics — CPU, memory, interface counters via gNMI/gRPC</a:t>
            </a:r>
          </a:p>
          <a:p>
            <a:pPr>
              <a:spcBef>
                <a:spcPts val="200"/>
              </a:spcBef>
              <a:spcAft>
                <a:spcPts val="600"/>
              </a:spcAft>
              <a:defRPr sz="1300" b="0">
                <a:solidFill>
                  <a:srgbClr val="CCCCCC"/>
                </a:solidFill>
                <a:latin typeface="Calibri"/>
              </a:defRPr>
            </a:pPr>
            <a:r>
              <a:t>Network Logs — Syslog, event logs, configuration changes</a:t>
            </a:r>
          </a:p>
        </p:txBody>
      </p:sp>
      <p:sp>
        <p:nvSpPr>
          <p:cNvPr id="11" name="TextBox 10"/>
          <p:cNvSpPr txBox="1"/>
          <p:nvPr/>
        </p:nvSpPr>
        <p:spPr>
          <a:xfrm>
            <a:off x="9326880" y="6263640"/>
            <a:ext cx="2743200" cy="457200"/>
          </a:xfrm>
          <a:prstGeom prst="rect">
            <a:avLst/>
          </a:prstGeom>
          <a:noFill/>
        </p:spPr>
        <p:txBody>
          <a:bodyPr wrap="square">
            <a:spAutoFit/>
          </a:bodyPr>
          <a:lstStyle/>
          <a:p>
            <a:pPr algn="r">
              <a:lnSpc>
                <a:spcPts val="1439"/>
              </a:lnSpc>
              <a:spcAft>
                <a:spcPts val="0"/>
              </a:spcAft>
              <a:defRPr sz="1200" b="1">
                <a:solidFill>
                  <a:srgbClr val="009FFD"/>
                </a:solidFill>
                <a:latin typeface="Calibri"/>
              </a:defRPr>
            </a:pPr>
            <a:r>
              <a:t>Presenter: Abdul Rehman</a:t>
            </a:r>
          </a:p>
        </p:txBody>
      </p:sp>
      <p:sp>
        <p:nvSpPr>
          <p:cNvPr id="12" name="TextBox 11"/>
          <p:cNvSpPr txBox="1"/>
          <p:nvPr/>
        </p:nvSpPr>
        <p:spPr>
          <a:xfrm>
            <a:off x="365760" y="6309360"/>
            <a:ext cx="1371600" cy="365760"/>
          </a:xfrm>
          <a:prstGeom prst="rect">
            <a:avLst/>
          </a:prstGeom>
          <a:noFill/>
        </p:spPr>
        <p:txBody>
          <a:bodyPr wrap="square">
            <a:spAutoFit/>
          </a:bodyPr>
          <a:lstStyle/>
          <a:p>
            <a:pPr algn="l">
              <a:lnSpc>
                <a:spcPts val="1200"/>
              </a:lnSpc>
              <a:spcAft>
                <a:spcPts val="0"/>
              </a:spcAft>
              <a:defRPr sz="1000" b="0">
                <a:solidFill>
                  <a:srgbClr val="999999"/>
                </a:solidFill>
                <a:latin typeface="Calibri"/>
              </a:defRPr>
            </a:pPr>
            <a:r>
              <a:t>4 / 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9F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00C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65760"/>
            <a:ext cx="10515600" cy="640080"/>
          </a:xfrm>
          <a:prstGeom prst="rect">
            <a:avLst/>
          </a:prstGeom>
          <a:noFill/>
        </p:spPr>
        <p:txBody>
          <a:bodyPr wrap="square">
            <a:spAutoFit/>
          </a:bodyPr>
          <a:lstStyle/>
          <a:p>
            <a:pPr algn="l">
              <a:lnSpc>
                <a:spcPts val="4320"/>
              </a:lnSpc>
              <a:spcAft>
                <a:spcPts val="0"/>
              </a:spcAft>
              <a:defRPr sz="3600" b="1">
                <a:solidFill>
                  <a:srgbClr val="FFFFFF"/>
                </a:solidFill>
                <a:latin typeface="Calibri"/>
              </a:defRPr>
            </a:pPr>
            <a:r>
              <a:t>Why Apply ML to Network Telemetry?</a:t>
            </a:r>
          </a:p>
        </p:txBody>
      </p:sp>
      <p:sp>
        <p:nvSpPr>
          <p:cNvPr id="5" name="TextBox 4"/>
          <p:cNvSpPr txBox="1"/>
          <p:nvPr/>
        </p:nvSpPr>
        <p:spPr>
          <a:xfrm>
            <a:off x="731520" y="960120"/>
            <a:ext cx="10515600" cy="411480"/>
          </a:xfrm>
          <a:prstGeom prst="rect">
            <a:avLst/>
          </a:prstGeom>
          <a:noFill/>
        </p:spPr>
        <p:txBody>
          <a:bodyPr wrap="square">
            <a:spAutoFit/>
          </a:bodyPr>
          <a:lstStyle/>
          <a:p>
            <a:pPr algn="l">
              <a:lnSpc>
                <a:spcPts val="2160"/>
              </a:lnSpc>
              <a:spcAft>
                <a:spcPts val="0"/>
              </a:spcAft>
              <a:defRPr sz="1800" b="0">
                <a:solidFill>
                  <a:srgbClr val="CCCCCC"/>
                </a:solidFill>
                <a:latin typeface="Calibri"/>
              </a:defRPr>
            </a:pPr>
            <a:r>
              <a:t>The volume and complexity of telemetry data demands intelligent analysis</a:t>
            </a:r>
          </a:p>
        </p:txBody>
      </p:sp>
      <p:sp>
        <p:nvSpPr>
          <p:cNvPr id="6" name="TextBox 5"/>
          <p:cNvSpPr txBox="1"/>
          <p:nvPr/>
        </p:nvSpPr>
        <p:spPr>
          <a:xfrm>
            <a:off x="9326880" y="6263640"/>
            <a:ext cx="2743200" cy="457200"/>
          </a:xfrm>
          <a:prstGeom prst="rect">
            <a:avLst/>
          </a:prstGeom>
          <a:noFill/>
        </p:spPr>
        <p:txBody>
          <a:bodyPr wrap="square">
            <a:spAutoFit/>
          </a:bodyPr>
          <a:lstStyle/>
          <a:p>
            <a:pPr algn="r">
              <a:lnSpc>
                <a:spcPts val="1439"/>
              </a:lnSpc>
              <a:spcAft>
                <a:spcPts val="0"/>
              </a:spcAft>
              <a:defRPr sz="1200" b="1">
                <a:solidFill>
                  <a:srgbClr val="009FFD"/>
                </a:solidFill>
                <a:latin typeface="Calibri"/>
              </a:defRPr>
            </a:pPr>
            <a:r>
              <a:t>Presenter: Abdul Rehman</a:t>
            </a:r>
          </a:p>
        </p:txBody>
      </p:sp>
      <p:sp>
        <p:nvSpPr>
          <p:cNvPr id="7" name="Oval 6"/>
          <p:cNvSpPr/>
          <p:nvPr/>
        </p:nvSpPr>
        <p:spPr>
          <a:xfrm>
            <a:off x="822960" y="1673352"/>
            <a:ext cx="164592" cy="164592"/>
          </a:xfrm>
          <a:prstGeom prst="ellipse">
            <a:avLst/>
          </a:prstGeom>
          <a:solidFill>
            <a:srgbClr val="009F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1600200"/>
            <a:ext cx="10058400" cy="320040"/>
          </a:xfrm>
          <a:prstGeom prst="rect">
            <a:avLst/>
          </a:prstGeom>
          <a:noFill/>
        </p:spPr>
        <p:txBody>
          <a:bodyPr wrap="square">
            <a:spAutoFit/>
          </a:bodyPr>
          <a:lstStyle/>
          <a:p>
            <a:pPr algn="l">
              <a:lnSpc>
                <a:spcPts val="2160"/>
              </a:lnSpc>
              <a:spcAft>
                <a:spcPts val="0"/>
              </a:spcAft>
              <a:defRPr sz="1800" b="1">
                <a:solidFill>
                  <a:srgbClr val="009FFD"/>
                </a:solidFill>
                <a:latin typeface="Calibri"/>
              </a:defRPr>
            </a:pPr>
            <a:r>
              <a:t>Volume &amp; Velocity</a:t>
            </a:r>
          </a:p>
        </p:txBody>
      </p:sp>
      <p:sp>
        <p:nvSpPr>
          <p:cNvPr id="9" name="TextBox 8"/>
          <p:cNvSpPr txBox="1"/>
          <p:nvPr/>
        </p:nvSpPr>
        <p:spPr>
          <a:xfrm>
            <a:off x="1188720" y="1920240"/>
            <a:ext cx="10058400" cy="411480"/>
          </a:xfrm>
          <a:prstGeom prst="rect">
            <a:avLst/>
          </a:prstGeom>
          <a:noFill/>
        </p:spPr>
        <p:txBody>
          <a:bodyPr wrap="square">
            <a:spAutoFit/>
          </a:bodyPr>
          <a:lstStyle/>
          <a:p>
            <a:pPr algn="l">
              <a:lnSpc>
                <a:spcPts val="1800"/>
              </a:lnSpc>
              <a:spcAft>
                <a:spcPts val="0"/>
              </a:spcAft>
              <a:defRPr sz="1500" b="0">
                <a:solidFill>
                  <a:srgbClr val="CCCCCC"/>
                </a:solidFill>
                <a:latin typeface="Calibri"/>
              </a:defRPr>
            </a:pPr>
            <a:r>
              <a:t>Modern networks generate terabytes of telemetry daily; manual analysis is infeasible</a:t>
            </a:r>
          </a:p>
        </p:txBody>
      </p:sp>
      <p:sp>
        <p:nvSpPr>
          <p:cNvPr id="10" name="Oval 9"/>
          <p:cNvSpPr/>
          <p:nvPr/>
        </p:nvSpPr>
        <p:spPr>
          <a:xfrm>
            <a:off x="822960" y="2542032"/>
            <a:ext cx="164592" cy="164592"/>
          </a:xfrm>
          <a:prstGeom prst="ellipse">
            <a:avLst/>
          </a:prstGeom>
          <a:solidFill>
            <a:srgbClr val="009F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2468880"/>
            <a:ext cx="10058400" cy="320040"/>
          </a:xfrm>
          <a:prstGeom prst="rect">
            <a:avLst/>
          </a:prstGeom>
          <a:noFill/>
        </p:spPr>
        <p:txBody>
          <a:bodyPr wrap="square">
            <a:spAutoFit/>
          </a:bodyPr>
          <a:lstStyle/>
          <a:p>
            <a:pPr algn="l">
              <a:lnSpc>
                <a:spcPts val="2160"/>
              </a:lnSpc>
              <a:spcAft>
                <a:spcPts val="0"/>
              </a:spcAft>
              <a:defRPr sz="1800" b="1">
                <a:solidFill>
                  <a:srgbClr val="009FFD"/>
                </a:solidFill>
                <a:latin typeface="Calibri"/>
              </a:defRPr>
            </a:pPr>
            <a:r>
              <a:t>Complex Patterns</a:t>
            </a:r>
          </a:p>
        </p:txBody>
      </p:sp>
      <p:sp>
        <p:nvSpPr>
          <p:cNvPr id="12" name="TextBox 11"/>
          <p:cNvSpPr txBox="1"/>
          <p:nvPr/>
        </p:nvSpPr>
        <p:spPr>
          <a:xfrm>
            <a:off x="1188720" y="2788920"/>
            <a:ext cx="10058400" cy="411480"/>
          </a:xfrm>
          <a:prstGeom prst="rect">
            <a:avLst/>
          </a:prstGeom>
          <a:noFill/>
        </p:spPr>
        <p:txBody>
          <a:bodyPr wrap="square">
            <a:spAutoFit/>
          </a:bodyPr>
          <a:lstStyle/>
          <a:p>
            <a:pPr algn="l">
              <a:lnSpc>
                <a:spcPts val="1800"/>
              </a:lnSpc>
              <a:spcAft>
                <a:spcPts val="0"/>
              </a:spcAft>
              <a:defRPr sz="1500" b="0">
                <a:solidFill>
                  <a:srgbClr val="CCCCCC"/>
                </a:solidFill>
                <a:latin typeface="Calibri"/>
              </a:defRPr>
            </a:pPr>
            <a:r>
              <a:t>Anomalies and performance degradation involve subtle, multi-dimensional correlations</a:t>
            </a:r>
          </a:p>
        </p:txBody>
      </p:sp>
      <p:sp>
        <p:nvSpPr>
          <p:cNvPr id="13" name="Oval 12"/>
          <p:cNvSpPr/>
          <p:nvPr/>
        </p:nvSpPr>
        <p:spPr>
          <a:xfrm>
            <a:off x="822960" y="3410712"/>
            <a:ext cx="164592" cy="164592"/>
          </a:xfrm>
          <a:prstGeom prst="ellipse">
            <a:avLst/>
          </a:prstGeom>
          <a:solidFill>
            <a:srgbClr val="009F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88720" y="3337560"/>
            <a:ext cx="10058400" cy="320040"/>
          </a:xfrm>
          <a:prstGeom prst="rect">
            <a:avLst/>
          </a:prstGeom>
          <a:noFill/>
        </p:spPr>
        <p:txBody>
          <a:bodyPr wrap="square">
            <a:spAutoFit/>
          </a:bodyPr>
          <a:lstStyle/>
          <a:p>
            <a:pPr algn="l">
              <a:lnSpc>
                <a:spcPts val="2160"/>
              </a:lnSpc>
              <a:spcAft>
                <a:spcPts val="0"/>
              </a:spcAft>
              <a:defRPr sz="1800" b="1">
                <a:solidFill>
                  <a:srgbClr val="009FFD"/>
                </a:solidFill>
                <a:latin typeface="Calibri"/>
              </a:defRPr>
            </a:pPr>
            <a:r>
              <a:t>Real-Time Demands</a:t>
            </a:r>
          </a:p>
        </p:txBody>
      </p:sp>
      <p:sp>
        <p:nvSpPr>
          <p:cNvPr id="15" name="TextBox 14"/>
          <p:cNvSpPr txBox="1"/>
          <p:nvPr/>
        </p:nvSpPr>
        <p:spPr>
          <a:xfrm>
            <a:off x="1188720" y="3657600"/>
            <a:ext cx="10058400" cy="411480"/>
          </a:xfrm>
          <a:prstGeom prst="rect">
            <a:avLst/>
          </a:prstGeom>
          <a:noFill/>
        </p:spPr>
        <p:txBody>
          <a:bodyPr wrap="square">
            <a:spAutoFit/>
          </a:bodyPr>
          <a:lstStyle/>
          <a:p>
            <a:pPr algn="l">
              <a:lnSpc>
                <a:spcPts val="1800"/>
              </a:lnSpc>
              <a:spcAft>
                <a:spcPts val="0"/>
              </a:spcAft>
              <a:defRPr sz="1500" b="0">
                <a:solidFill>
                  <a:srgbClr val="CCCCCC"/>
                </a:solidFill>
                <a:latin typeface="Calibri"/>
              </a:defRPr>
            </a:pPr>
            <a:r>
              <a:t>Network operators need sub-second detection and response times</a:t>
            </a:r>
          </a:p>
        </p:txBody>
      </p:sp>
      <p:sp>
        <p:nvSpPr>
          <p:cNvPr id="16" name="Oval 15"/>
          <p:cNvSpPr/>
          <p:nvPr/>
        </p:nvSpPr>
        <p:spPr>
          <a:xfrm>
            <a:off x="822960" y="4279391"/>
            <a:ext cx="164592" cy="164592"/>
          </a:xfrm>
          <a:prstGeom prst="ellipse">
            <a:avLst/>
          </a:prstGeom>
          <a:solidFill>
            <a:srgbClr val="009F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88720" y="4206239"/>
            <a:ext cx="10058400" cy="320040"/>
          </a:xfrm>
          <a:prstGeom prst="rect">
            <a:avLst/>
          </a:prstGeom>
          <a:noFill/>
        </p:spPr>
        <p:txBody>
          <a:bodyPr wrap="square">
            <a:spAutoFit/>
          </a:bodyPr>
          <a:lstStyle/>
          <a:p>
            <a:pPr algn="l">
              <a:lnSpc>
                <a:spcPts val="2160"/>
              </a:lnSpc>
              <a:spcAft>
                <a:spcPts val="0"/>
              </a:spcAft>
              <a:defRPr sz="1800" b="1">
                <a:solidFill>
                  <a:srgbClr val="009FFD"/>
                </a:solidFill>
                <a:latin typeface="Calibri"/>
              </a:defRPr>
            </a:pPr>
            <a:r>
              <a:t>Dynamic Environments</a:t>
            </a:r>
          </a:p>
        </p:txBody>
      </p:sp>
      <p:sp>
        <p:nvSpPr>
          <p:cNvPr id="18" name="TextBox 17"/>
          <p:cNvSpPr txBox="1"/>
          <p:nvPr/>
        </p:nvSpPr>
        <p:spPr>
          <a:xfrm>
            <a:off x="1188720" y="4526279"/>
            <a:ext cx="10058400" cy="411480"/>
          </a:xfrm>
          <a:prstGeom prst="rect">
            <a:avLst/>
          </a:prstGeom>
          <a:noFill/>
        </p:spPr>
        <p:txBody>
          <a:bodyPr wrap="square">
            <a:spAutoFit/>
          </a:bodyPr>
          <a:lstStyle/>
          <a:p>
            <a:pPr algn="l">
              <a:lnSpc>
                <a:spcPts val="1800"/>
              </a:lnSpc>
              <a:spcAft>
                <a:spcPts val="0"/>
              </a:spcAft>
              <a:defRPr sz="1500" b="0">
                <a:solidFill>
                  <a:srgbClr val="CCCCCC"/>
                </a:solidFill>
                <a:latin typeface="Calibri"/>
              </a:defRPr>
            </a:pPr>
            <a:r>
              <a:t>Traffic patterns, topologies, and workloads constantly evolve — static rules fail</a:t>
            </a:r>
          </a:p>
        </p:txBody>
      </p:sp>
      <p:sp>
        <p:nvSpPr>
          <p:cNvPr id="19" name="Oval 18"/>
          <p:cNvSpPr/>
          <p:nvPr/>
        </p:nvSpPr>
        <p:spPr>
          <a:xfrm>
            <a:off x="822960" y="5148072"/>
            <a:ext cx="164592" cy="164592"/>
          </a:xfrm>
          <a:prstGeom prst="ellipse">
            <a:avLst/>
          </a:prstGeom>
          <a:solidFill>
            <a:srgbClr val="009F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88720" y="5074920"/>
            <a:ext cx="10058400" cy="320040"/>
          </a:xfrm>
          <a:prstGeom prst="rect">
            <a:avLst/>
          </a:prstGeom>
          <a:noFill/>
        </p:spPr>
        <p:txBody>
          <a:bodyPr wrap="square">
            <a:spAutoFit/>
          </a:bodyPr>
          <a:lstStyle/>
          <a:p>
            <a:pPr algn="l">
              <a:lnSpc>
                <a:spcPts val="2160"/>
              </a:lnSpc>
              <a:spcAft>
                <a:spcPts val="0"/>
              </a:spcAft>
              <a:defRPr sz="1800" b="1">
                <a:solidFill>
                  <a:srgbClr val="009FFD"/>
                </a:solidFill>
                <a:latin typeface="Calibri"/>
              </a:defRPr>
            </a:pPr>
            <a:r>
              <a:t>Automation Gap</a:t>
            </a:r>
          </a:p>
        </p:txBody>
      </p:sp>
      <p:sp>
        <p:nvSpPr>
          <p:cNvPr id="21" name="TextBox 20"/>
          <p:cNvSpPr txBox="1"/>
          <p:nvPr/>
        </p:nvSpPr>
        <p:spPr>
          <a:xfrm>
            <a:off x="1188720" y="5394960"/>
            <a:ext cx="10058400" cy="411480"/>
          </a:xfrm>
          <a:prstGeom prst="rect">
            <a:avLst/>
          </a:prstGeom>
          <a:noFill/>
        </p:spPr>
        <p:txBody>
          <a:bodyPr wrap="square">
            <a:spAutoFit/>
          </a:bodyPr>
          <a:lstStyle/>
          <a:p>
            <a:pPr algn="l">
              <a:lnSpc>
                <a:spcPts val="1800"/>
              </a:lnSpc>
              <a:spcAft>
                <a:spcPts val="0"/>
              </a:spcAft>
              <a:defRPr sz="1500" b="0">
                <a:solidFill>
                  <a:srgbClr val="CCCCCC"/>
                </a:solidFill>
                <a:latin typeface="Calibri"/>
              </a:defRPr>
            </a:pPr>
            <a:r>
              <a:t>5G/6G and SDN require autonomous, closed-loop management at scale</a:t>
            </a:r>
          </a:p>
        </p:txBody>
      </p:sp>
      <p:sp>
        <p:nvSpPr>
          <p:cNvPr id="22" name="Rounded Rectangle 21"/>
          <p:cNvSpPr/>
          <p:nvPr/>
        </p:nvSpPr>
        <p:spPr>
          <a:xfrm>
            <a:off x="7772400" y="1554480"/>
            <a:ext cx="4114800" cy="2286000"/>
          </a:xfrm>
          <a:prstGeom prst="roundRect">
            <a:avLst/>
          </a:prstGeom>
          <a:solidFill>
            <a:srgbClr val="141832"/>
          </a:solidFill>
          <a:ln w="19050">
            <a:solidFill>
              <a:srgbClr val="00C9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0" y="1691640"/>
            <a:ext cx="3657600" cy="365760"/>
          </a:xfrm>
          <a:prstGeom prst="rect">
            <a:avLst/>
          </a:prstGeom>
          <a:noFill/>
        </p:spPr>
        <p:txBody>
          <a:bodyPr wrap="square">
            <a:spAutoFit/>
          </a:bodyPr>
          <a:lstStyle/>
          <a:p>
            <a:pPr algn="l">
              <a:lnSpc>
                <a:spcPts val="1800"/>
              </a:lnSpc>
              <a:spcAft>
                <a:spcPts val="0"/>
              </a:spcAft>
              <a:defRPr sz="1500" b="1">
                <a:solidFill>
                  <a:srgbClr val="00C9A7"/>
                </a:solidFill>
                <a:latin typeface="Calibri"/>
              </a:defRPr>
            </a:pPr>
            <a:r>
              <a:t>Our Survey Scope</a:t>
            </a:r>
          </a:p>
        </p:txBody>
      </p:sp>
      <p:sp>
        <p:nvSpPr>
          <p:cNvPr id="24" name="TextBox 23"/>
          <p:cNvSpPr txBox="1"/>
          <p:nvPr/>
        </p:nvSpPr>
        <p:spPr>
          <a:xfrm>
            <a:off x="8046720" y="2148840"/>
            <a:ext cx="3657600" cy="1554480"/>
          </a:xfrm>
          <a:prstGeom prst="rect">
            <a:avLst/>
          </a:prstGeom>
          <a:noFill/>
        </p:spPr>
        <p:txBody>
          <a:bodyPr wrap="square">
            <a:spAutoFit/>
          </a:bodyPr>
          <a:lstStyle/>
          <a:p>
            <a:pPr>
              <a:spcBef>
                <a:spcPts val="200"/>
              </a:spcBef>
              <a:spcAft>
                <a:spcPts val="500"/>
              </a:spcAft>
              <a:defRPr sz="1300" b="0">
                <a:solidFill>
                  <a:srgbClr val="CCCCCC"/>
                </a:solidFill>
                <a:latin typeface="Calibri"/>
              </a:defRPr>
            </a:pPr>
            <a:r>
              <a:t>Anomaly detection in telemetry</a:t>
            </a:r>
          </a:p>
          <a:p>
            <a:pPr>
              <a:spcBef>
                <a:spcPts val="200"/>
              </a:spcBef>
              <a:spcAft>
                <a:spcPts val="500"/>
              </a:spcAft>
              <a:defRPr sz="1300" b="0">
                <a:solidFill>
                  <a:srgbClr val="CCCCCC"/>
                </a:solidFill>
                <a:latin typeface="Calibri"/>
              </a:defRPr>
            </a:pPr>
            <a:r>
              <a:t>Performance prediction &amp; QoS</a:t>
            </a:r>
          </a:p>
          <a:p>
            <a:pPr>
              <a:spcBef>
                <a:spcPts val="200"/>
              </a:spcBef>
              <a:spcAft>
                <a:spcPts val="500"/>
              </a:spcAft>
              <a:defRPr sz="1300" b="0">
                <a:solidFill>
                  <a:srgbClr val="CCCCCC"/>
                </a:solidFill>
                <a:latin typeface="Calibri"/>
              </a:defRPr>
            </a:pPr>
            <a:r>
              <a:t>Industry implementations</a:t>
            </a:r>
          </a:p>
          <a:p>
            <a:pPr>
              <a:spcBef>
                <a:spcPts val="200"/>
              </a:spcBef>
              <a:spcAft>
                <a:spcPts val="500"/>
              </a:spcAft>
              <a:defRPr sz="1300" b="0">
                <a:solidFill>
                  <a:srgbClr val="CCCCCC"/>
                </a:solidFill>
                <a:latin typeface="Calibri"/>
              </a:defRPr>
            </a:pPr>
            <a:r>
              <a:t>Emerging trends (6G, GenAI)</a:t>
            </a:r>
          </a:p>
        </p:txBody>
      </p:sp>
      <p:sp>
        <p:nvSpPr>
          <p:cNvPr id="25" name="TextBox 24"/>
          <p:cNvSpPr txBox="1"/>
          <p:nvPr/>
        </p:nvSpPr>
        <p:spPr>
          <a:xfrm>
            <a:off x="9326880" y="6263640"/>
            <a:ext cx="2743200" cy="457200"/>
          </a:xfrm>
          <a:prstGeom prst="rect">
            <a:avLst/>
          </a:prstGeom>
          <a:noFill/>
        </p:spPr>
        <p:txBody>
          <a:bodyPr wrap="square">
            <a:spAutoFit/>
          </a:bodyPr>
          <a:lstStyle/>
          <a:p>
            <a:pPr algn="r">
              <a:lnSpc>
                <a:spcPts val="1439"/>
              </a:lnSpc>
              <a:spcAft>
                <a:spcPts val="0"/>
              </a:spcAft>
              <a:defRPr sz="1200" b="1">
                <a:solidFill>
                  <a:srgbClr val="009FFD"/>
                </a:solidFill>
                <a:latin typeface="Calibri"/>
              </a:defRPr>
            </a:pPr>
            <a:r>
              <a:t>Presenter: Abdul Rehman</a:t>
            </a:r>
          </a:p>
        </p:txBody>
      </p:sp>
      <p:sp>
        <p:nvSpPr>
          <p:cNvPr id="26" name="TextBox 25"/>
          <p:cNvSpPr txBox="1"/>
          <p:nvPr/>
        </p:nvSpPr>
        <p:spPr>
          <a:xfrm>
            <a:off x="365760" y="6309360"/>
            <a:ext cx="1371600" cy="365760"/>
          </a:xfrm>
          <a:prstGeom prst="rect">
            <a:avLst/>
          </a:prstGeom>
          <a:noFill/>
        </p:spPr>
        <p:txBody>
          <a:bodyPr wrap="square">
            <a:spAutoFit/>
          </a:bodyPr>
          <a:lstStyle/>
          <a:p>
            <a:pPr algn="l">
              <a:lnSpc>
                <a:spcPts val="1200"/>
              </a:lnSpc>
              <a:spcAft>
                <a:spcPts val="0"/>
              </a:spcAft>
              <a:defRPr sz="1000" b="0">
                <a:solidFill>
                  <a:srgbClr val="999999"/>
                </a:solidFill>
                <a:latin typeface="Calibri"/>
              </a:defRPr>
            </a:pPr>
            <a:r>
              <a:t>5 / 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9F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00C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65760"/>
            <a:ext cx="10515600" cy="640080"/>
          </a:xfrm>
          <a:prstGeom prst="rect">
            <a:avLst/>
          </a:prstGeom>
          <a:noFill/>
        </p:spPr>
        <p:txBody>
          <a:bodyPr wrap="square">
            <a:spAutoFit/>
          </a:bodyPr>
          <a:lstStyle/>
          <a:p>
            <a:pPr algn="l">
              <a:lnSpc>
                <a:spcPts val="4320"/>
              </a:lnSpc>
              <a:spcAft>
                <a:spcPts val="0"/>
              </a:spcAft>
              <a:defRPr sz="3600" b="1">
                <a:solidFill>
                  <a:srgbClr val="FFFFFF"/>
                </a:solidFill>
                <a:latin typeface="Calibri"/>
              </a:defRPr>
            </a:pPr>
            <a:r>
              <a:t>ML Methods for Anomaly Detection in Telemetry</a:t>
            </a:r>
          </a:p>
        </p:txBody>
      </p:sp>
      <p:sp>
        <p:nvSpPr>
          <p:cNvPr id="5" name="TextBox 4"/>
          <p:cNvSpPr txBox="1"/>
          <p:nvPr/>
        </p:nvSpPr>
        <p:spPr>
          <a:xfrm>
            <a:off x="731520" y="960120"/>
            <a:ext cx="10515600" cy="411480"/>
          </a:xfrm>
          <a:prstGeom prst="rect">
            <a:avLst/>
          </a:prstGeom>
          <a:noFill/>
        </p:spPr>
        <p:txBody>
          <a:bodyPr wrap="square">
            <a:spAutoFit/>
          </a:bodyPr>
          <a:lstStyle/>
          <a:p>
            <a:pPr algn="l">
              <a:lnSpc>
                <a:spcPts val="2160"/>
              </a:lnSpc>
              <a:spcAft>
                <a:spcPts val="0"/>
              </a:spcAft>
              <a:defRPr sz="1800" b="0">
                <a:solidFill>
                  <a:srgbClr val="CCCCCC"/>
                </a:solidFill>
                <a:latin typeface="Calibri"/>
              </a:defRPr>
            </a:pPr>
            <a:r>
              <a:t>Detecting unusual patterns in network data streams</a:t>
            </a:r>
          </a:p>
        </p:txBody>
      </p:sp>
      <p:sp>
        <p:nvSpPr>
          <p:cNvPr id="6" name="TextBox 5"/>
          <p:cNvSpPr txBox="1"/>
          <p:nvPr/>
        </p:nvSpPr>
        <p:spPr>
          <a:xfrm>
            <a:off x="9326880" y="6263640"/>
            <a:ext cx="2743200" cy="457200"/>
          </a:xfrm>
          <a:prstGeom prst="rect">
            <a:avLst/>
          </a:prstGeom>
          <a:noFill/>
        </p:spPr>
        <p:txBody>
          <a:bodyPr wrap="square">
            <a:spAutoFit/>
          </a:bodyPr>
          <a:lstStyle/>
          <a:p>
            <a:pPr algn="r">
              <a:lnSpc>
                <a:spcPts val="1439"/>
              </a:lnSpc>
              <a:spcAft>
                <a:spcPts val="0"/>
              </a:spcAft>
              <a:defRPr sz="1200" b="1">
                <a:solidFill>
                  <a:srgbClr val="009FFD"/>
                </a:solidFill>
                <a:latin typeface="Calibri"/>
              </a:defRPr>
            </a:pPr>
            <a:r>
              <a:t>Presenter: Abdul Rehman</a:t>
            </a:r>
          </a:p>
        </p:txBody>
      </p:sp>
      <p:sp>
        <p:nvSpPr>
          <p:cNvPr id="7" name="Rounded Rectangle 6"/>
          <p:cNvSpPr/>
          <p:nvPr/>
        </p:nvSpPr>
        <p:spPr>
          <a:xfrm>
            <a:off x="731520" y="1554480"/>
            <a:ext cx="1463040" cy="292608"/>
          </a:xfrm>
          <a:prstGeom prst="roundRect">
            <a:avLst/>
          </a:prstGeom>
          <a:solidFill>
            <a:srgbClr val="009F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572768"/>
            <a:ext cx="1463040" cy="274320"/>
          </a:xfrm>
          <a:prstGeom prst="rect">
            <a:avLst/>
          </a:prstGeom>
          <a:noFill/>
        </p:spPr>
        <p:txBody>
          <a:bodyPr wrap="square">
            <a:spAutoFit/>
          </a:bodyPr>
          <a:lstStyle/>
          <a:p>
            <a:pPr algn="ctr">
              <a:lnSpc>
                <a:spcPts val="1200"/>
              </a:lnSpc>
              <a:spcAft>
                <a:spcPts val="0"/>
              </a:spcAft>
              <a:defRPr sz="1000" b="1">
                <a:solidFill>
                  <a:srgbClr val="FFFFFF"/>
                </a:solidFill>
                <a:latin typeface="Calibri"/>
              </a:defRPr>
            </a:pPr>
            <a:r>
              <a:t>Unsupervised</a:t>
            </a:r>
          </a:p>
        </p:txBody>
      </p:sp>
      <p:sp>
        <p:nvSpPr>
          <p:cNvPr id="9" name="TextBox 8"/>
          <p:cNvSpPr txBox="1"/>
          <p:nvPr/>
        </p:nvSpPr>
        <p:spPr>
          <a:xfrm>
            <a:off x="2377440" y="1554480"/>
            <a:ext cx="4114800" cy="320040"/>
          </a:xfrm>
          <a:prstGeom prst="rect">
            <a:avLst/>
          </a:prstGeom>
          <a:noFill/>
        </p:spPr>
        <p:txBody>
          <a:bodyPr wrap="square">
            <a:spAutoFit/>
          </a:bodyPr>
          <a:lstStyle/>
          <a:p>
            <a:pPr algn="l">
              <a:lnSpc>
                <a:spcPts val="2039"/>
              </a:lnSpc>
              <a:spcAft>
                <a:spcPts val="0"/>
              </a:spcAft>
              <a:defRPr sz="1700" b="1">
                <a:solidFill>
                  <a:srgbClr val="FFFFFF"/>
                </a:solidFill>
                <a:latin typeface="Calibri"/>
              </a:defRPr>
            </a:pPr>
            <a:r>
              <a:t>Autoencoders (AE)</a:t>
            </a:r>
          </a:p>
        </p:txBody>
      </p:sp>
      <p:sp>
        <p:nvSpPr>
          <p:cNvPr id="10" name="TextBox 9"/>
          <p:cNvSpPr txBox="1"/>
          <p:nvPr/>
        </p:nvSpPr>
        <p:spPr>
          <a:xfrm>
            <a:off x="2377440" y="1874520"/>
            <a:ext cx="9144000" cy="502920"/>
          </a:xfrm>
          <a:prstGeom prst="rect">
            <a:avLst/>
          </a:prstGeom>
          <a:noFill/>
        </p:spPr>
        <p:txBody>
          <a:bodyPr wrap="square">
            <a:spAutoFit/>
          </a:bodyPr>
          <a:lstStyle/>
          <a:p>
            <a:pPr algn="l">
              <a:lnSpc>
                <a:spcPts val="1560"/>
              </a:lnSpc>
              <a:spcAft>
                <a:spcPts val="0"/>
              </a:spcAft>
              <a:defRPr sz="1300" b="0">
                <a:solidFill>
                  <a:srgbClr val="CCCCCC"/>
                </a:solidFill>
                <a:latin typeface="Calibri"/>
              </a:defRPr>
            </a:pPr>
            <a:r>
              <a:t>Learn normal traffic patterns; flag high-reconstruction-error samples as anomalies. Effective for zero-day attack detection.</a:t>
            </a:r>
          </a:p>
        </p:txBody>
      </p:sp>
      <p:sp>
        <p:nvSpPr>
          <p:cNvPr id="11" name="Rounded Rectangle 10"/>
          <p:cNvSpPr/>
          <p:nvPr/>
        </p:nvSpPr>
        <p:spPr>
          <a:xfrm>
            <a:off x="731520" y="2514600"/>
            <a:ext cx="1463040" cy="292608"/>
          </a:xfrm>
          <a:prstGeom prst="roundRect">
            <a:avLst/>
          </a:prstGeom>
          <a:solidFill>
            <a:srgbClr val="00C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532888"/>
            <a:ext cx="1463040" cy="274320"/>
          </a:xfrm>
          <a:prstGeom prst="rect">
            <a:avLst/>
          </a:prstGeom>
          <a:noFill/>
        </p:spPr>
        <p:txBody>
          <a:bodyPr wrap="square">
            <a:spAutoFit/>
          </a:bodyPr>
          <a:lstStyle/>
          <a:p>
            <a:pPr algn="ctr">
              <a:lnSpc>
                <a:spcPts val="1200"/>
              </a:lnSpc>
              <a:spcAft>
                <a:spcPts val="0"/>
              </a:spcAft>
              <a:defRPr sz="1000" b="1">
                <a:solidFill>
                  <a:srgbClr val="FFFFFF"/>
                </a:solidFill>
                <a:latin typeface="Calibri"/>
              </a:defRPr>
            </a:pPr>
            <a:r>
              <a:t>Deep Learning</a:t>
            </a:r>
          </a:p>
        </p:txBody>
      </p:sp>
      <p:sp>
        <p:nvSpPr>
          <p:cNvPr id="13" name="TextBox 12"/>
          <p:cNvSpPr txBox="1"/>
          <p:nvPr/>
        </p:nvSpPr>
        <p:spPr>
          <a:xfrm>
            <a:off x="2377440" y="2514600"/>
            <a:ext cx="4114800" cy="320040"/>
          </a:xfrm>
          <a:prstGeom prst="rect">
            <a:avLst/>
          </a:prstGeom>
          <a:noFill/>
        </p:spPr>
        <p:txBody>
          <a:bodyPr wrap="square">
            <a:spAutoFit/>
          </a:bodyPr>
          <a:lstStyle/>
          <a:p>
            <a:pPr algn="l">
              <a:lnSpc>
                <a:spcPts val="2039"/>
              </a:lnSpc>
              <a:spcAft>
                <a:spcPts val="0"/>
              </a:spcAft>
              <a:defRPr sz="1700" b="1">
                <a:solidFill>
                  <a:srgbClr val="FFFFFF"/>
                </a:solidFill>
                <a:latin typeface="Calibri"/>
              </a:defRPr>
            </a:pPr>
            <a:r>
              <a:t>LSTM / GRU Networks</a:t>
            </a:r>
          </a:p>
        </p:txBody>
      </p:sp>
      <p:sp>
        <p:nvSpPr>
          <p:cNvPr id="14" name="TextBox 13"/>
          <p:cNvSpPr txBox="1"/>
          <p:nvPr/>
        </p:nvSpPr>
        <p:spPr>
          <a:xfrm>
            <a:off x="2377440" y="2834640"/>
            <a:ext cx="9144000" cy="502920"/>
          </a:xfrm>
          <a:prstGeom prst="rect">
            <a:avLst/>
          </a:prstGeom>
          <a:noFill/>
        </p:spPr>
        <p:txBody>
          <a:bodyPr wrap="square">
            <a:spAutoFit/>
          </a:bodyPr>
          <a:lstStyle/>
          <a:p>
            <a:pPr algn="l">
              <a:lnSpc>
                <a:spcPts val="1560"/>
              </a:lnSpc>
              <a:spcAft>
                <a:spcPts val="0"/>
              </a:spcAft>
              <a:defRPr sz="1300" b="0">
                <a:solidFill>
                  <a:srgbClr val="CCCCCC"/>
                </a:solidFill>
                <a:latin typeface="Calibri"/>
              </a:defRPr>
            </a:pPr>
            <a:r>
              <a:t>Capture temporal dependencies in time-series telemetry. Predict expected values; deviations signal anomalies.</a:t>
            </a:r>
          </a:p>
        </p:txBody>
      </p:sp>
      <p:sp>
        <p:nvSpPr>
          <p:cNvPr id="15" name="Rounded Rectangle 14"/>
          <p:cNvSpPr/>
          <p:nvPr/>
        </p:nvSpPr>
        <p:spPr>
          <a:xfrm>
            <a:off x="731520" y="3474720"/>
            <a:ext cx="1463040" cy="292608"/>
          </a:xfrm>
          <a:prstGeom prst="roundRect">
            <a:avLst/>
          </a:prstGeom>
          <a:solidFill>
            <a:srgbClr val="009F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493008"/>
            <a:ext cx="1463040" cy="274320"/>
          </a:xfrm>
          <a:prstGeom prst="rect">
            <a:avLst/>
          </a:prstGeom>
          <a:noFill/>
        </p:spPr>
        <p:txBody>
          <a:bodyPr wrap="square">
            <a:spAutoFit/>
          </a:bodyPr>
          <a:lstStyle/>
          <a:p>
            <a:pPr algn="ctr">
              <a:lnSpc>
                <a:spcPts val="1200"/>
              </a:lnSpc>
              <a:spcAft>
                <a:spcPts val="0"/>
              </a:spcAft>
              <a:defRPr sz="1000" b="1">
                <a:solidFill>
                  <a:srgbClr val="FFFFFF"/>
                </a:solidFill>
                <a:latin typeface="Calibri"/>
              </a:defRPr>
            </a:pPr>
            <a:r>
              <a:t>Unsupervised</a:t>
            </a:r>
          </a:p>
        </p:txBody>
      </p:sp>
      <p:sp>
        <p:nvSpPr>
          <p:cNvPr id="17" name="TextBox 16"/>
          <p:cNvSpPr txBox="1"/>
          <p:nvPr/>
        </p:nvSpPr>
        <p:spPr>
          <a:xfrm>
            <a:off x="2377440" y="3474720"/>
            <a:ext cx="4114800" cy="320040"/>
          </a:xfrm>
          <a:prstGeom prst="rect">
            <a:avLst/>
          </a:prstGeom>
          <a:noFill/>
        </p:spPr>
        <p:txBody>
          <a:bodyPr wrap="square">
            <a:spAutoFit/>
          </a:bodyPr>
          <a:lstStyle/>
          <a:p>
            <a:pPr algn="l">
              <a:lnSpc>
                <a:spcPts val="2039"/>
              </a:lnSpc>
              <a:spcAft>
                <a:spcPts val="0"/>
              </a:spcAft>
              <a:defRPr sz="1700" b="1">
                <a:solidFill>
                  <a:srgbClr val="FFFFFF"/>
                </a:solidFill>
                <a:latin typeface="Calibri"/>
              </a:defRPr>
            </a:pPr>
            <a:r>
              <a:t>Isolation Forest</a:t>
            </a:r>
          </a:p>
        </p:txBody>
      </p:sp>
      <p:sp>
        <p:nvSpPr>
          <p:cNvPr id="18" name="TextBox 17"/>
          <p:cNvSpPr txBox="1"/>
          <p:nvPr/>
        </p:nvSpPr>
        <p:spPr>
          <a:xfrm>
            <a:off x="2377440" y="3794760"/>
            <a:ext cx="9144000" cy="502920"/>
          </a:xfrm>
          <a:prstGeom prst="rect">
            <a:avLst/>
          </a:prstGeom>
          <a:noFill/>
        </p:spPr>
        <p:txBody>
          <a:bodyPr wrap="square">
            <a:spAutoFit/>
          </a:bodyPr>
          <a:lstStyle/>
          <a:p>
            <a:pPr algn="l">
              <a:lnSpc>
                <a:spcPts val="1560"/>
              </a:lnSpc>
              <a:spcAft>
                <a:spcPts val="0"/>
              </a:spcAft>
              <a:defRPr sz="1300" b="0">
                <a:solidFill>
                  <a:srgbClr val="CCCCCC"/>
                </a:solidFill>
                <a:latin typeface="Calibri"/>
              </a:defRPr>
            </a:pPr>
            <a:r>
              <a:t>Tree-based method that isolates anomalies efficiently. Low computational cost, suitable for real-time streaming.</a:t>
            </a:r>
          </a:p>
        </p:txBody>
      </p:sp>
      <p:sp>
        <p:nvSpPr>
          <p:cNvPr id="19" name="Rounded Rectangle 18"/>
          <p:cNvSpPr/>
          <p:nvPr/>
        </p:nvSpPr>
        <p:spPr>
          <a:xfrm>
            <a:off x="731520" y="4434840"/>
            <a:ext cx="1463040" cy="292608"/>
          </a:xfrm>
          <a:prstGeom prst="roundRect">
            <a:avLst/>
          </a:prstGeom>
          <a:solidFill>
            <a:srgbClr val="845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453128"/>
            <a:ext cx="1463040" cy="274320"/>
          </a:xfrm>
          <a:prstGeom prst="rect">
            <a:avLst/>
          </a:prstGeom>
          <a:noFill/>
        </p:spPr>
        <p:txBody>
          <a:bodyPr wrap="square">
            <a:spAutoFit/>
          </a:bodyPr>
          <a:lstStyle/>
          <a:p>
            <a:pPr algn="ctr">
              <a:lnSpc>
                <a:spcPts val="1200"/>
              </a:lnSpc>
              <a:spcAft>
                <a:spcPts val="0"/>
              </a:spcAft>
              <a:defRPr sz="1000" b="1">
                <a:solidFill>
                  <a:srgbClr val="FFFFFF"/>
                </a:solidFill>
                <a:latin typeface="Calibri"/>
              </a:defRPr>
            </a:pPr>
            <a:r>
              <a:t>Semi-supervised</a:t>
            </a:r>
          </a:p>
        </p:txBody>
      </p:sp>
      <p:sp>
        <p:nvSpPr>
          <p:cNvPr id="21" name="TextBox 20"/>
          <p:cNvSpPr txBox="1"/>
          <p:nvPr/>
        </p:nvSpPr>
        <p:spPr>
          <a:xfrm>
            <a:off x="2377440" y="4434840"/>
            <a:ext cx="4114800" cy="320040"/>
          </a:xfrm>
          <a:prstGeom prst="rect">
            <a:avLst/>
          </a:prstGeom>
          <a:noFill/>
        </p:spPr>
        <p:txBody>
          <a:bodyPr wrap="square">
            <a:spAutoFit/>
          </a:bodyPr>
          <a:lstStyle/>
          <a:p>
            <a:pPr algn="l">
              <a:lnSpc>
                <a:spcPts val="2039"/>
              </a:lnSpc>
              <a:spcAft>
                <a:spcPts val="0"/>
              </a:spcAft>
              <a:defRPr sz="1700" b="1">
                <a:solidFill>
                  <a:srgbClr val="FFFFFF"/>
                </a:solidFill>
                <a:latin typeface="Calibri"/>
              </a:defRPr>
            </a:pPr>
            <a:r>
              <a:t>One-Class SVM</a:t>
            </a:r>
          </a:p>
        </p:txBody>
      </p:sp>
      <p:sp>
        <p:nvSpPr>
          <p:cNvPr id="22" name="TextBox 21"/>
          <p:cNvSpPr txBox="1"/>
          <p:nvPr/>
        </p:nvSpPr>
        <p:spPr>
          <a:xfrm>
            <a:off x="2377440" y="4754880"/>
            <a:ext cx="9144000" cy="502920"/>
          </a:xfrm>
          <a:prstGeom prst="rect">
            <a:avLst/>
          </a:prstGeom>
          <a:noFill/>
        </p:spPr>
        <p:txBody>
          <a:bodyPr wrap="square">
            <a:spAutoFit/>
          </a:bodyPr>
          <a:lstStyle/>
          <a:p>
            <a:pPr algn="l">
              <a:lnSpc>
                <a:spcPts val="1560"/>
              </a:lnSpc>
              <a:spcAft>
                <a:spcPts val="0"/>
              </a:spcAft>
              <a:defRPr sz="1300" b="0">
                <a:solidFill>
                  <a:srgbClr val="CCCCCC"/>
                </a:solidFill>
                <a:latin typeface="Calibri"/>
              </a:defRPr>
            </a:pPr>
            <a:r>
              <a:t>Learns a boundary around normal data. Effective when labeled anomaly data is scarce or unavailable.</a:t>
            </a:r>
          </a:p>
        </p:txBody>
      </p:sp>
      <p:sp>
        <p:nvSpPr>
          <p:cNvPr id="23" name="Rounded Rectangle 22"/>
          <p:cNvSpPr/>
          <p:nvPr/>
        </p:nvSpPr>
        <p:spPr>
          <a:xfrm>
            <a:off x="731520" y="5394960"/>
            <a:ext cx="1463040" cy="292608"/>
          </a:xfrm>
          <a:prstGeom prst="round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413248"/>
            <a:ext cx="1463040" cy="274320"/>
          </a:xfrm>
          <a:prstGeom prst="rect">
            <a:avLst/>
          </a:prstGeom>
          <a:noFill/>
        </p:spPr>
        <p:txBody>
          <a:bodyPr wrap="square">
            <a:spAutoFit/>
          </a:bodyPr>
          <a:lstStyle/>
          <a:p>
            <a:pPr algn="ctr">
              <a:lnSpc>
                <a:spcPts val="1200"/>
              </a:lnSpc>
              <a:spcAft>
                <a:spcPts val="0"/>
              </a:spcAft>
              <a:defRPr sz="1000" b="1">
                <a:solidFill>
                  <a:srgbClr val="FFFFFF"/>
                </a:solidFill>
                <a:latin typeface="Calibri"/>
              </a:defRPr>
            </a:pPr>
            <a:r>
              <a:t>Generative</a:t>
            </a:r>
          </a:p>
        </p:txBody>
      </p:sp>
      <p:sp>
        <p:nvSpPr>
          <p:cNvPr id="25" name="TextBox 24"/>
          <p:cNvSpPr txBox="1"/>
          <p:nvPr/>
        </p:nvSpPr>
        <p:spPr>
          <a:xfrm>
            <a:off x="2377440" y="5394960"/>
            <a:ext cx="4114800" cy="320040"/>
          </a:xfrm>
          <a:prstGeom prst="rect">
            <a:avLst/>
          </a:prstGeom>
          <a:noFill/>
        </p:spPr>
        <p:txBody>
          <a:bodyPr wrap="square">
            <a:spAutoFit/>
          </a:bodyPr>
          <a:lstStyle/>
          <a:p>
            <a:pPr algn="l">
              <a:lnSpc>
                <a:spcPts val="2039"/>
              </a:lnSpc>
              <a:spcAft>
                <a:spcPts val="0"/>
              </a:spcAft>
              <a:defRPr sz="1700" b="1">
                <a:solidFill>
                  <a:srgbClr val="FFFFFF"/>
                </a:solidFill>
                <a:latin typeface="Calibri"/>
              </a:defRPr>
            </a:pPr>
            <a:r>
              <a:t>GAN-based Detection</a:t>
            </a:r>
          </a:p>
        </p:txBody>
      </p:sp>
      <p:sp>
        <p:nvSpPr>
          <p:cNvPr id="26" name="TextBox 25"/>
          <p:cNvSpPr txBox="1"/>
          <p:nvPr/>
        </p:nvSpPr>
        <p:spPr>
          <a:xfrm>
            <a:off x="2377440" y="5715000"/>
            <a:ext cx="9144000" cy="502920"/>
          </a:xfrm>
          <a:prstGeom prst="rect">
            <a:avLst/>
          </a:prstGeom>
          <a:noFill/>
        </p:spPr>
        <p:txBody>
          <a:bodyPr wrap="square">
            <a:spAutoFit/>
          </a:bodyPr>
          <a:lstStyle/>
          <a:p>
            <a:pPr algn="l">
              <a:lnSpc>
                <a:spcPts val="1560"/>
              </a:lnSpc>
              <a:spcAft>
                <a:spcPts val="0"/>
              </a:spcAft>
              <a:defRPr sz="1300" b="0">
                <a:solidFill>
                  <a:srgbClr val="CCCCCC"/>
                </a:solidFill>
                <a:latin typeface="Calibri"/>
              </a:defRPr>
            </a:pPr>
            <a:r>
              <a:t>Generator learns normal distribution; discriminator detects out-of-distribution samples as anomalies.</a:t>
            </a:r>
          </a:p>
        </p:txBody>
      </p:sp>
      <p:sp>
        <p:nvSpPr>
          <p:cNvPr id="27" name="TextBox 26"/>
          <p:cNvSpPr txBox="1"/>
          <p:nvPr/>
        </p:nvSpPr>
        <p:spPr>
          <a:xfrm>
            <a:off x="9326880" y="6263640"/>
            <a:ext cx="2743200" cy="457200"/>
          </a:xfrm>
          <a:prstGeom prst="rect">
            <a:avLst/>
          </a:prstGeom>
          <a:noFill/>
        </p:spPr>
        <p:txBody>
          <a:bodyPr wrap="square">
            <a:spAutoFit/>
          </a:bodyPr>
          <a:lstStyle/>
          <a:p>
            <a:pPr algn="r">
              <a:lnSpc>
                <a:spcPts val="1439"/>
              </a:lnSpc>
              <a:spcAft>
                <a:spcPts val="0"/>
              </a:spcAft>
              <a:defRPr sz="1200" b="1">
                <a:solidFill>
                  <a:srgbClr val="009FFD"/>
                </a:solidFill>
                <a:latin typeface="Calibri"/>
              </a:defRPr>
            </a:pPr>
            <a:r>
              <a:t>Presenter: Abdul Rehman</a:t>
            </a:r>
          </a:p>
        </p:txBody>
      </p:sp>
      <p:sp>
        <p:nvSpPr>
          <p:cNvPr id="28" name="TextBox 27"/>
          <p:cNvSpPr txBox="1"/>
          <p:nvPr/>
        </p:nvSpPr>
        <p:spPr>
          <a:xfrm>
            <a:off x="365760" y="6309360"/>
            <a:ext cx="1371600" cy="365760"/>
          </a:xfrm>
          <a:prstGeom prst="rect">
            <a:avLst/>
          </a:prstGeom>
          <a:noFill/>
        </p:spPr>
        <p:txBody>
          <a:bodyPr wrap="square">
            <a:spAutoFit/>
          </a:bodyPr>
          <a:lstStyle/>
          <a:p>
            <a:pPr algn="l">
              <a:lnSpc>
                <a:spcPts val="1200"/>
              </a:lnSpc>
              <a:spcAft>
                <a:spcPts val="0"/>
              </a:spcAft>
              <a:defRPr sz="1000" b="0">
                <a:solidFill>
                  <a:srgbClr val="999999"/>
                </a:solidFill>
                <a:latin typeface="Calibri"/>
              </a:defRPr>
            </a:pPr>
            <a:r>
              <a:t>6 / 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9F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00C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65760"/>
            <a:ext cx="10515600" cy="640080"/>
          </a:xfrm>
          <a:prstGeom prst="rect">
            <a:avLst/>
          </a:prstGeom>
          <a:noFill/>
        </p:spPr>
        <p:txBody>
          <a:bodyPr wrap="square">
            <a:spAutoFit/>
          </a:bodyPr>
          <a:lstStyle/>
          <a:p>
            <a:pPr algn="l">
              <a:lnSpc>
                <a:spcPts val="4320"/>
              </a:lnSpc>
              <a:spcAft>
                <a:spcPts val="0"/>
              </a:spcAft>
              <a:defRPr sz="3600" b="1">
                <a:solidFill>
                  <a:srgbClr val="FFFFFF"/>
                </a:solidFill>
                <a:latin typeface="Calibri"/>
              </a:defRPr>
            </a:pPr>
            <a:r>
              <a:t>Anomaly Detection: Key Findings from the Literature</a:t>
            </a:r>
          </a:p>
        </p:txBody>
      </p:sp>
      <p:sp>
        <p:nvSpPr>
          <p:cNvPr id="5" name="TextBox 4"/>
          <p:cNvSpPr txBox="1"/>
          <p:nvPr/>
        </p:nvSpPr>
        <p:spPr>
          <a:xfrm>
            <a:off x="731520" y="960120"/>
            <a:ext cx="10515600" cy="411480"/>
          </a:xfrm>
          <a:prstGeom prst="rect">
            <a:avLst/>
          </a:prstGeom>
          <a:noFill/>
        </p:spPr>
        <p:txBody>
          <a:bodyPr wrap="square">
            <a:spAutoFit/>
          </a:bodyPr>
          <a:lstStyle/>
          <a:p>
            <a:pPr algn="l">
              <a:lnSpc>
                <a:spcPts val="2160"/>
              </a:lnSpc>
              <a:spcAft>
                <a:spcPts val="0"/>
              </a:spcAft>
              <a:defRPr sz="1800" b="0">
                <a:solidFill>
                  <a:srgbClr val="CCCCCC"/>
                </a:solidFill>
                <a:latin typeface="Calibri"/>
              </a:defRPr>
            </a:pPr>
            <a:r>
              <a:t>Patterns and insights across surveyed papers</a:t>
            </a:r>
          </a:p>
        </p:txBody>
      </p:sp>
      <p:sp>
        <p:nvSpPr>
          <p:cNvPr id="6" name="TextBox 5"/>
          <p:cNvSpPr txBox="1"/>
          <p:nvPr/>
        </p:nvSpPr>
        <p:spPr>
          <a:xfrm>
            <a:off x="9326880" y="6263640"/>
            <a:ext cx="2743200" cy="457200"/>
          </a:xfrm>
          <a:prstGeom prst="rect">
            <a:avLst/>
          </a:prstGeom>
          <a:noFill/>
        </p:spPr>
        <p:txBody>
          <a:bodyPr wrap="square">
            <a:spAutoFit/>
          </a:bodyPr>
          <a:lstStyle/>
          <a:p>
            <a:pPr algn="r">
              <a:lnSpc>
                <a:spcPts val="1439"/>
              </a:lnSpc>
              <a:spcAft>
                <a:spcPts val="0"/>
              </a:spcAft>
              <a:defRPr sz="1200" b="1">
                <a:solidFill>
                  <a:srgbClr val="009FFD"/>
                </a:solidFill>
                <a:latin typeface="Calibri"/>
              </a:defRPr>
            </a:pPr>
            <a:r>
              <a:t>Presenter: Abdul Rehman</a:t>
            </a:r>
          </a:p>
        </p:txBody>
      </p:sp>
      <p:sp>
        <p:nvSpPr>
          <p:cNvPr id="7" name="TextBox 6"/>
          <p:cNvSpPr txBox="1"/>
          <p:nvPr/>
        </p:nvSpPr>
        <p:spPr>
          <a:xfrm>
            <a:off x="731520" y="1554480"/>
            <a:ext cx="10515600" cy="4572000"/>
          </a:xfrm>
          <a:prstGeom prst="rect">
            <a:avLst/>
          </a:prstGeom>
          <a:noFill/>
        </p:spPr>
        <p:txBody>
          <a:bodyPr wrap="square">
            <a:spAutoFit/>
          </a:bodyPr>
          <a:lstStyle/>
          <a:p>
            <a:pPr>
              <a:spcBef>
                <a:spcPts val="400"/>
              </a:spcBef>
              <a:spcAft>
                <a:spcPts val="1200"/>
              </a:spcAft>
              <a:defRPr sz="1600">
                <a:solidFill>
                  <a:srgbClr val="FFFFFF"/>
                </a:solidFill>
                <a:latin typeface="Calibri"/>
              </a:defRPr>
            </a:pPr>
            <a:r>
              <a:t>Deep learning methods (LSTM, Autoencoders) consistently outperform traditional statistical approaches for multi-variate telemetry anomaly detection</a:t>
            </a:r>
          </a:p>
          <a:p>
            <a:pPr>
              <a:spcBef>
                <a:spcPts val="400"/>
              </a:spcBef>
              <a:spcAft>
                <a:spcPts val="1200"/>
              </a:spcAft>
              <a:defRPr sz="1600">
                <a:solidFill>
                  <a:srgbClr val="FFFFFF"/>
                </a:solidFill>
                <a:latin typeface="Calibri"/>
              </a:defRPr>
            </a:pPr>
            <a:r>
              <a:t>Unsupervised methods are favored in practice — labeled anomaly data is extremely scarce in real network environments</a:t>
            </a:r>
          </a:p>
          <a:p>
            <a:pPr>
              <a:spcBef>
                <a:spcPts val="400"/>
              </a:spcBef>
              <a:spcAft>
                <a:spcPts val="1200"/>
              </a:spcAft>
              <a:defRPr sz="1600">
                <a:solidFill>
                  <a:srgbClr val="FFFFFF"/>
                </a:solidFill>
                <a:latin typeface="Calibri"/>
              </a:defRPr>
            </a:pPr>
            <a:r>
              <a:t>Hybrid approaches (e.g., Autoencoder + Isolation Forest) combine strengths: representation learning with efficient anomaly scoring</a:t>
            </a:r>
          </a:p>
          <a:p>
            <a:pPr>
              <a:spcBef>
                <a:spcPts val="400"/>
              </a:spcBef>
              <a:spcAft>
                <a:spcPts val="1200"/>
              </a:spcAft>
              <a:defRPr sz="1600">
                <a:solidFill>
                  <a:srgbClr val="FFFFFF"/>
                </a:solidFill>
                <a:latin typeface="Calibri"/>
              </a:defRPr>
            </a:pPr>
            <a:r>
              <a:t>Real-time detection remains challenging: most deep learning models require significant computational resources for inference at line-rate</a:t>
            </a:r>
          </a:p>
          <a:p>
            <a:pPr>
              <a:spcBef>
                <a:spcPts val="400"/>
              </a:spcBef>
              <a:spcAft>
                <a:spcPts val="1200"/>
              </a:spcAft>
              <a:defRPr sz="1600">
                <a:solidFill>
                  <a:srgbClr val="FFFFFF"/>
                </a:solidFill>
                <a:latin typeface="Calibri"/>
              </a:defRPr>
            </a:pPr>
            <a:r>
              <a:t>Transfer learning shows promise for generalizing anomaly detection across different network domains without full retraining</a:t>
            </a:r>
          </a:p>
          <a:p>
            <a:pPr>
              <a:spcBef>
                <a:spcPts val="400"/>
              </a:spcBef>
              <a:spcAft>
                <a:spcPts val="1200"/>
              </a:spcAft>
              <a:defRPr sz="1600">
                <a:solidFill>
                  <a:srgbClr val="FFFFFF"/>
                </a:solidFill>
                <a:latin typeface="Calibri"/>
              </a:defRPr>
            </a:pPr>
            <a:r>
              <a:t>In-band telemetry (INT) provides richer features than traditional flow data, improving detection accuracy by 15–25% in recent studies</a:t>
            </a:r>
          </a:p>
        </p:txBody>
      </p:sp>
      <p:sp>
        <p:nvSpPr>
          <p:cNvPr id="8" name="Rounded Rectangle 7"/>
          <p:cNvSpPr/>
          <p:nvPr/>
        </p:nvSpPr>
        <p:spPr>
          <a:xfrm>
            <a:off x="7498079" y="4572000"/>
            <a:ext cx="4389120" cy="1371600"/>
          </a:xfrm>
          <a:prstGeom prst="roundRect">
            <a:avLst/>
          </a:prstGeom>
          <a:solidFill>
            <a:srgbClr val="141832"/>
          </a:solidFill>
          <a:ln w="19050">
            <a:solidFill>
              <a:srgbClr val="009F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0" y="4709160"/>
            <a:ext cx="3840480" cy="365760"/>
          </a:xfrm>
          <a:prstGeom prst="rect">
            <a:avLst/>
          </a:prstGeom>
          <a:noFill/>
        </p:spPr>
        <p:txBody>
          <a:bodyPr wrap="square">
            <a:spAutoFit/>
          </a:bodyPr>
          <a:lstStyle/>
          <a:p>
            <a:pPr algn="l">
              <a:lnSpc>
                <a:spcPts val="1680"/>
              </a:lnSpc>
              <a:spcAft>
                <a:spcPts val="0"/>
              </a:spcAft>
              <a:defRPr sz="1400" b="1">
                <a:solidFill>
                  <a:srgbClr val="009FFD"/>
                </a:solidFill>
                <a:latin typeface="Calibri"/>
              </a:defRPr>
            </a:pPr>
            <a:r>
              <a:t>Key Takeaway</a:t>
            </a:r>
          </a:p>
        </p:txBody>
      </p:sp>
      <p:sp>
        <p:nvSpPr>
          <p:cNvPr id="10" name="TextBox 9"/>
          <p:cNvSpPr txBox="1"/>
          <p:nvPr/>
        </p:nvSpPr>
        <p:spPr>
          <a:xfrm>
            <a:off x="7772400" y="5074920"/>
            <a:ext cx="3840480" cy="731520"/>
          </a:xfrm>
          <a:prstGeom prst="rect">
            <a:avLst/>
          </a:prstGeom>
          <a:noFill/>
        </p:spPr>
        <p:txBody>
          <a:bodyPr wrap="square">
            <a:spAutoFit/>
          </a:bodyPr>
          <a:lstStyle/>
          <a:p>
            <a:pPr algn="l">
              <a:lnSpc>
                <a:spcPts val="1439"/>
              </a:lnSpc>
              <a:spcAft>
                <a:spcPts val="0"/>
              </a:spcAft>
              <a:defRPr sz="1200" b="0">
                <a:solidFill>
                  <a:srgbClr val="CCCCCC"/>
                </a:solidFill>
                <a:latin typeface="Calibri"/>
              </a:defRPr>
            </a:pPr>
            <a:r>
              <a:t>Unsupervised deep learning is the dominant paradigm — driven by the scarcity of labeled anomaly data in production networks.</a:t>
            </a:r>
          </a:p>
        </p:txBody>
      </p:sp>
      <p:sp>
        <p:nvSpPr>
          <p:cNvPr id="11" name="TextBox 10"/>
          <p:cNvSpPr txBox="1"/>
          <p:nvPr/>
        </p:nvSpPr>
        <p:spPr>
          <a:xfrm>
            <a:off x="9326880" y="6263640"/>
            <a:ext cx="2743200" cy="457200"/>
          </a:xfrm>
          <a:prstGeom prst="rect">
            <a:avLst/>
          </a:prstGeom>
          <a:noFill/>
        </p:spPr>
        <p:txBody>
          <a:bodyPr wrap="square">
            <a:spAutoFit/>
          </a:bodyPr>
          <a:lstStyle/>
          <a:p>
            <a:pPr algn="r">
              <a:lnSpc>
                <a:spcPts val="1439"/>
              </a:lnSpc>
              <a:spcAft>
                <a:spcPts val="0"/>
              </a:spcAft>
              <a:defRPr sz="1200" b="1">
                <a:solidFill>
                  <a:srgbClr val="009FFD"/>
                </a:solidFill>
                <a:latin typeface="Calibri"/>
              </a:defRPr>
            </a:pPr>
            <a:r>
              <a:t>Presenter: Abdul Rehman</a:t>
            </a:r>
          </a:p>
        </p:txBody>
      </p:sp>
      <p:sp>
        <p:nvSpPr>
          <p:cNvPr id="12" name="TextBox 11"/>
          <p:cNvSpPr txBox="1"/>
          <p:nvPr/>
        </p:nvSpPr>
        <p:spPr>
          <a:xfrm>
            <a:off x="365760" y="6309360"/>
            <a:ext cx="1371600" cy="365760"/>
          </a:xfrm>
          <a:prstGeom prst="rect">
            <a:avLst/>
          </a:prstGeom>
          <a:noFill/>
        </p:spPr>
        <p:txBody>
          <a:bodyPr wrap="square">
            <a:spAutoFit/>
          </a:bodyPr>
          <a:lstStyle/>
          <a:p>
            <a:pPr algn="l">
              <a:lnSpc>
                <a:spcPts val="1200"/>
              </a:lnSpc>
              <a:spcAft>
                <a:spcPts val="0"/>
              </a:spcAft>
              <a:defRPr sz="1000" b="0">
                <a:solidFill>
                  <a:srgbClr val="999999"/>
                </a:solidFill>
                <a:latin typeface="Calibri"/>
              </a:defRPr>
            </a:pPr>
            <a:r>
              <a:t>7 / 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42E"/>
        </a:solidFill>
        <a:effectLst/>
      </p:bgPr>
    </p:bg>
    <p:spTree>
      <p:nvGrpSpPr>
        <p:cNvPr id="1" name=""/>
        <p:cNvGrpSpPr/>
        <p:nvPr/>
      </p:nvGrpSpPr>
      <p:grpSpPr/>
      <p:sp>
        <p:nvSpPr>
          <p:cNvPr id="2" name="Rectangle 1"/>
          <p:cNvSpPr/>
          <p:nvPr/>
        </p:nvSpPr>
        <p:spPr>
          <a:xfrm>
            <a:off x="0" y="6784848"/>
            <a:ext cx="12191695" cy="73152"/>
          </a:xfrm>
          <a:prstGeom prst="rect">
            <a:avLst/>
          </a:prstGeom>
          <a:solidFill>
            <a:srgbClr val="00C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371600"/>
            <a:ext cx="10058400" cy="457200"/>
          </a:xfrm>
          <a:prstGeom prst="rect">
            <a:avLst/>
          </a:prstGeom>
          <a:noFill/>
        </p:spPr>
        <p:txBody>
          <a:bodyPr wrap="square">
            <a:spAutoFit/>
          </a:bodyPr>
          <a:lstStyle/>
          <a:p>
            <a:pPr algn="ctr">
              <a:lnSpc>
                <a:spcPts val="1920"/>
              </a:lnSpc>
              <a:spcAft>
                <a:spcPts val="0"/>
              </a:spcAft>
              <a:defRPr sz="1600" b="1">
                <a:solidFill>
                  <a:srgbClr val="00C9A7"/>
                </a:solidFill>
                <a:latin typeface="Calibri"/>
              </a:defRPr>
            </a:pPr>
            <a:r>
              <a:t>PART 2</a:t>
            </a:r>
          </a:p>
        </p:txBody>
      </p:sp>
      <p:sp>
        <p:nvSpPr>
          <p:cNvPr id="4" name="Rectangle 3"/>
          <p:cNvSpPr/>
          <p:nvPr/>
        </p:nvSpPr>
        <p:spPr>
          <a:xfrm>
            <a:off x="0" y="2560320"/>
            <a:ext cx="12191695" cy="1645920"/>
          </a:xfrm>
          <a:prstGeom prst="rect">
            <a:avLst/>
          </a:prstGeom>
          <a:solidFill>
            <a:srgbClr val="1015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058400" cy="1280160"/>
          </a:xfrm>
          <a:prstGeom prst="rect">
            <a:avLst/>
          </a:prstGeom>
          <a:noFill/>
        </p:spPr>
        <p:txBody>
          <a:bodyPr wrap="square">
            <a:spAutoFit/>
          </a:bodyPr>
          <a:lstStyle/>
          <a:p>
            <a:pPr algn="ctr">
              <a:lnSpc>
                <a:spcPts val="4800"/>
              </a:lnSpc>
              <a:spcAft>
                <a:spcPts val="0"/>
              </a:spcAft>
              <a:defRPr sz="4000" b="1">
                <a:solidFill>
                  <a:srgbClr val="00C9A7"/>
                </a:solidFill>
                <a:latin typeface="Calibri"/>
              </a:defRPr>
            </a:pPr>
            <a:r>
              <a:t>ML for Performance Prediction &amp; QoS</a:t>
            </a:r>
          </a:p>
        </p:txBody>
      </p:sp>
      <p:sp>
        <p:nvSpPr>
          <p:cNvPr id="6" name="TextBox 5"/>
          <p:cNvSpPr txBox="1"/>
          <p:nvPr/>
        </p:nvSpPr>
        <p:spPr>
          <a:xfrm>
            <a:off x="914400" y="4572000"/>
            <a:ext cx="10058400" cy="457200"/>
          </a:xfrm>
          <a:prstGeom prst="rect">
            <a:avLst/>
          </a:prstGeom>
          <a:noFill/>
        </p:spPr>
        <p:txBody>
          <a:bodyPr wrap="square">
            <a:spAutoFit/>
          </a:bodyPr>
          <a:lstStyle/>
          <a:p>
            <a:pPr algn="ctr">
              <a:lnSpc>
                <a:spcPts val="2400"/>
              </a:lnSpc>
              <a:spcAft>
                <a:spcPts val="0"/>
              </a:spcAft>
              <a:defRPr sz="2000" b="0">
                <a:solidFill>
                  <a:srgbClr val="FFFFFF"/>
                </a:solidFill>
                <a:latin typeface="Calibri"/>
              </a:defRPr>
            </a:pPr>
            <a:r>
              <a:t>Presenter: Esam Mukbil</a:t>
            </a:r>
          </a:p>
        </p:txBody>
      </p:sp>
      <p:sp>
        <p:nvSpPr>
          <p:cNvPr id="7" name="TextBox 6"/>
          <p:cNvSpPr txBox="1"/>
          <p:nvPr/>
        </p:nvSpPr>
        <p:spPr>
          <a:xfrm>
            <a:off x="365760" y="6309360"/>
            <a:ext cx="1371600" cy="365760"/>
          </a:xfrm>
          <a:prstGeom prst="rect">
            <a:avLst/>
          </a:prstGeom>
          <a:noFill/>
        </p:spPr>
        <p:txBody>
          <a:bodyPr wrap="square">
            <a:spAutoFit/>
          </a:bodyPr>
          <a:lstStyle/>
          <a:p>
            <a:pPr algn="l">
              <a:lnSpc>
                <a:spcPts val="1200"/>
              </a:lnSpc>
              <a:spcAft>
                <a:spcPts val="0"/>
              </a:spcAft>
              <a:defRPr sz="1000" b="0">
                <a:solidFill>
                  <a:srgbClr val="999999"/>
                </a:solidFill>
                <a:latin typeface="Calibri"/>
              </a:defRPr>
            </a:pPr>
            <a:r>
              <a:t>8 / 20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C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00C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65760"/>
            <a:ext cx="10515600" cy="640080"/>
          </a:xfrm>
          <a:prstGeom prst="rect">
            <a:avLst/>
          </a:prstGeom>
          <a:noFill/>
        </p:spPr>
        <p:txBody>
          <a:bodyPr wrap="square">
            <a:spAutoFit/>
          </a:bodyPr>
          <a:lstStyle/>
          <a:p>
            <a:pPr algn="l">
              <a:lnSpc>
                <a:spcPts val="4320"/>
              </a:lnSpc>
              <a:spcAft>
                <a:spcPts val="0"/>
              </a:spcAft>
              <a:defRPr sz="3600" b="1">
                <a:solidFill>
                  <a:srgbClr val="FFFFFF"/>
                </a:solidFill>
                <a:latin typeface="Calibri"/>
              </a:defRPr>
            </a:pPr>
            <a:r>
              <a:t>ML for Network Performance Prediction</a:t>
            </a:r>
          </a:p>
        </p:txBody>
      </p:sp>
      <p:sp>
        <p:nvSpPr>
          <p:cNvPr id="5" name="TextBox 4"/>
          <p:cNvSpPr txBox="1"/>
          <p:nvPr/>
        </p:nvSpPr>
        <p:spPr>
          <a:xfrm>
            <a:off x="731520" y="960120"/>
            <a:ext cx="10515600" cy="411480"/>
          </a:xfrm>
          <a:prstGeom prst="rect">
            <a:avLst/>
          </a:prstGeom>
          <a:noFill/>
        </p:spPr>
        <p:txBody>
          <a:bodyPr wrap="square">
            <a:spAutoFit/>
          </a:bodyPr>
          <a:lstStyle/>
          <a:p>
            <a:pPr algn="l">
              <a:lnSpc>
                <a:spcPts val="2160"/>
              </a:lnSpc>
              <a:spcAft>
                <a:spcPts val="0"/>
              </a:spcAft>
              <a:defRPr sz="1800" b="0">
                <a:solidFill>
                  <a:srgbClr val="CCCCCC"/>
                </a:solidFill>
                <a:latin typeface="Calibri"/>
              </a:defRPr>
            </a:pPr>
            <a:r>
              <a:t>Forecasting delay, jitter, packet loss, and throughput from telemetry data</a:t>
            </a:r>
          </a:p>
        </p:txBody>
      </p:sp>
      <p:sp>
        <p:nvSpPr>
          <p:cNvPr id="6" name="TextBox 5"/>
          <p:cNvSpPr txBox="1"/>
          <p:nvPr/>
        </p:nvSpPr>
        <p:spPr>
          <a:xfrm>
            <a:off x="9326880" y="6263640"/>
            <a:ext cx="2743200" cy="457200"/>
          </a:xfrm>
          <a:prstGeom prst="rect">
            <a:avLst/>
          </a:prstGeom>
          <a:noFill/>
        </p:spPr>
        <p:txBody>
          <a:bodyPr wrap="square">
            <a:spAutoFit/>
          </a:bodyPr>
          <a:lstStyle/>
          <a:p>
            <a:pPr algn="r">
              <a:lnSpc>
                <a:spcPts val="1439"/>
              </a:lnSpc>
              <a:spcAft>
                <a:spcPts val="0"/>
              </a:spcAft>
              <a:defRPr sz="1200" b="1">
                <a:solidFill>
                  <a:srgbClr val="009FFD"/>
                </a:solidFill>
                <a:latin typeface="Calibri"/>
              </a:defRPr>
            </a:pPr>
            <a:r>
              <a:t>Presenter: Esam Mukbil</a:t>
            </a:r>
          </a:p>
        </p:txBody>
      </p:sp>
      <p:sp>
        <p:nvSpPr>
          <p:cNvPr id="7" name="TextBox 6"/>
          <p:cNvSpPr txBox="1"/>
          <p:nvPr/>
        </p:nvSpPr>
        <p:spPr>
          <a:xfrm>
            <a:off x="731520" y="1554480"/>
            <a:ext cx="5303520" cy="365760"/>
          </a:xfrm>
          <a:prstGeom prst="rect">
            <a:avLst/>
          </a:prstGeom>
          <a:noFill/>
        </p:spPr>
        <p:txBody>
          <a:bodyPr wrap="square">
            <a:spAutoFit/>
          </a:bodyPr>
          <a:lstStyle/>
          <a:p>
            <a:pPr algn="l">
              <a:lnSpc>
                <a:spcPts val="2160"/>
              </a:lnSpc>
              <a:spcAft>
                <a:spcPts val="0"/>
              </a:spcAft>
              <a:defRPr sz="1800" b="1">
                <a:solidFill>
                  <a:srgbClr val="00C9A7"/>
                </a:solidFill>
                <a:latin typeface="Calibri"/>
              </a:defRPr>
            </a:pPr>
            <a:r>
              <a:t>Time-Series Forecasting</a:t>
            </a:r>
          </a:p>
        </p:txBody>
      </p:sp>
      <p:sp>
        <p:nvSpPr>
          <p:cNvPr id="8" name="TextBox 7"/>
          <p:cNvSpPr txBox="1"/>
          <p:nvPr/>
        </p:nvSpPr>
        <p:spPr>
          <a:xfrm>
            <a:off x="1005840" y="1965960"/>
            <a:ext cx="5029200" cy="365760"/>
          </a:xfrm>
          <a:prstGeom prst="rect">
            <a:avLst/>
          </a:prstGeom>
          <a:noFill/>
        </p:spPr>
        <p:txBody>
          <a:bodyPr wrap="square">
            <a:spAutoFit/>
          </a:bodyPr>
          <a:lstStyle/>
          <a:p>
            <a:pPr algn="l">
              <a:lnSpc>
                <a:spcPts val="1680"/>
              </a:lnSpc>
              <a:spcAft>
                <a:spcPts val="0"/>
              </a:spcAft>
              <a:defRPr sz="1400" b="0">
                <a:solidFill>
                  <a:srgbClr val="CCCCCC"/>
                </a:solidFill>
                <a:latin typeface="Calibri"/>
              </a:defRPr>
            </a:pPr>
            <a:r>
              <a:t>• LSTM and GRU networks model temporal dependencies in traffic metrics</a:t>
            </a:r>
          </a:p>
        </p:txBody>
      </p:sp>
      <p:sp>
        <p:nvSpPr>
          <p:cNvPr id="9" name="TextBox 8"/>
          <p:cNvSpPr txBox="1"/>
          <p:nvPr/>
        </p:nvSpPr>
        <p:spPr>
          <a:xfrm>
            <a:off x="1005840" y="2286000"/>
            <a:ext cx="5029200" cy="365760"/>
          </a:xfrm>
          <a:prstGeom prst="rect">
            <a:avLst/>
          </a:prstGeom>
          <a:noFill/>
        </p:spPr>
        <p:txBody>
          <a:bodyPr wrap="square">
            <a:spAutoFit/>
          </a:bodyPr>
          <a:lstStyle/>
          <a:p>
            <a:pPr algn="l">
              <a:lnSpc>
                <a:spcPts val="1680"/>
              </a:lnSpc>
              <a:spcAft>
                <a:spcPts val="0"/>
              </a:spcAft>
              <a:defRPr sz="1400" b="0">
                <a:solidFill>
                  <a:srgbClr val="CCCCCC"/>
                </a:solidFill>
                <a:latin typeface="Calibri"/>
              </a:defRPr>
            </a:pPr>
            <a:r>
              <a:t>• Predict future values of delay, jitter, and throughput</a:t>
            </a:r>
          </a:p>
        </p:txBody>
      </p:sp>
      <p:sp>
        <p:nvSpPr>
          <p:cNvPr id="10" name="TextBox 9"/>
          <p:cNvSpPr txBox="1"/>
          <p:nvPr/>
        </p:nvSpPr>
        <p:spPr>
          <a:xfrm>
            <a:off x="1005840" y="2606040"/>
            <a:ext cx="5029200" cy="365760"/>
          </a:xfrm>
          <a:prstGeom prst="rect">
            <a:avLst/>
          </a:prstGeom>
          <a:noFill/>
        </p:spPr>
        <p:txBody>
          <a:bodyPr wrap="square">
            <a:spAutoFit/>
          </a:bodyPr>
          <a:lstStyle/>
          <a:p>
            <a:pPr algn="l">
              <a:lnSpc>
                <a:spcPts val="1680"/>
              </a:lnSpc>
              <a:spcAft>
                <a:spcPts val="0"/>
              </a:spcAft>
              <a:defRPr sz="1400" b="0">
                <a:solidFill>
                  <a:srgbClr val="CCCCCC"/>
                </a:solidFill>
                <a:latin typeface="Calibri"/>
              </a:defRPr>
            </a:pPr>
            <a:r>
              <a:t>• Sliding-window approaches on streaming telemetry data</a:t>
            </a:r>
          </a:p>
        </p:txBody>
      </p:sp>
      <p:sp>
        <p:nvSpPr>
          <p:cNvPr id="11" name="TextBox 10"/>
          <p:cNvSpPr txBox="1"/>
          <p:nvPr/>
        </p:nvSpPr>
        <p:spPr>
          <a:xfrm>
            <a:off x="731520" y="3108960"/>
            <a:ext cx="5303520" cy="365760"/>
          </a:xfrm>
          <a:prstGeom prst="rect">
            <a:avLst/>
          </a:prstGeom>
          <a:noFill/>
        </p:spPr>
        <p:txBody>
          <a:bodyPr wrap="square">
            <a:spAutoFit/>
          </a:bodyPr>
          <a:lstStyle/>
          <a:p>
            <a:pPr algn="l">
              <a:lnSpc>
                <a:spcPts val="2160"/>
              </a:lnSpc>
              <a:spcAft>
                <a:spcPts val="0"/>
              </a:spcAft>
              <a:defRPr sz="1800" b="1">
                <a:solidFill>
                  <a:srgbClr val="00C9A7"/>
                </a:solidFill>
                <a:latin typeface="Calibri"/>
              </a:defRPr>
            </a:pPr>
            <a:r>
              <a:t>Graph Neural Networks (GNNs)</a:t>
            </a:r>
          </a:p>
        </p:txBody>
      </p:sp>
      <p:sp>
        <p:nvSpPr>
          <p:cNvPr id="12" name="TextBox 11"/>
          <p:cNvSpPr txBox="1"/>
          <p:nvPr/>
        </p:nvSpPr>
        <p:spPr>
          <a:xfrm>
            <a:off x="1005840" y="3520440"/>
            <a:ext cx="5029200" cy="365760"/>
          </a:xfrm>
          <a:prstGeom prst="rect">
            <a:avLst/>
          </a:prstGeom>
          <a:noFill/>
        </p:spPr>
        <p:txBody>
          <a:bodyPr wrap="square">
            <a:spAutoFit/>
          </a:bodyPr>
          <a:lstStyle/>
          <a:p>
            <a:pPr algn="l">
              <a:lnSpc>
                <a:spcPts val="1680"/>
              </a:lnSpc>
              <a:spcAft>
                <a:spcPts val="0"/>
              </a:spcAft>
              <a:defRPr sz="1400" b="0">
                <a:solidFill>
                  <a:srgbClr val="CCCCCC"/>
                </a:solidFill>
                <a:latin typeface="Calibri"/>
              </a:defRPr>
            </a:pPr>
            <a:r>
              <a:t>• Model network topology as a graph — nodes = devices, edges = links</a:t>
            </a:r>
          </a:p>
        </p:txBody>
      </p:sp>
      <p:sp>
        <p:nvSpPr>
          <p:cNvPr id="13" name="TextBox 12"/>
          <p:cNvSpPr txBox="1"/>
          <p:nvPr/>
        </p:nvSpPr>
        <p:spPr>
          <a:xfrm>
            <a:off x="1005840" y="3840480"/>
            <a:ext cx="5029200" cy="365760"/>
          </a:xfrm>
          <a:prstGeom prst="rect">
            <a:avLst/>
          </a:prstGeom>
          <a:noFill/>
        </p:spPr>
        <p:txBody>
          <a:bodyPr wrap="square">
            <a:spAutoFit/>
          </a:bodyPr>
          <a:lstStyle/>
          <a:p>
            <a:pPr algn="l">
              <a:lnSpc>
                <a:spcPts val="1680"/>
              </a:lnSpc>
              <a:spcAft>
                <a:spcPts val="0"/>
              </a:spcAft>
              <a:defRPr sz="1400" b="0">
                <a:solidFill>
                  <a:srgbClr val="CCCCCC"/>
                </a:solidFill>
                <a:latin typeface="Calibri"/>
              </a:defRPr>
            </a:pPr>
            <a:r>
              <a:t>• RouteNet-Fermi: GNN architecture for per-flow delay/jitter prediction</a:t>
            </a:r>
          </a:p>
        </p:txBody>
      </p:sp>
      <p:sp>
        <p:nvSpPr>
          <p:cNvPr id="14" name="TextBox 13"/>
          <p:cNvSpPr txBox="1"/>
          <p:nvPr/>
        </p:nvSpPr>
        <p:spPr>
          <a:xfrm>
            <a:off x="1005840" y="4160520"/>
            <a:ext cx="5029200" cy="365760"/>
          </a:xfrm>
          <a:prstGeom prst="rect">
            <a:avLst/>
          </a:prstGeom>
          <a:noFill/>
        </p:spPr>
        <p:txBody>
          <a:bodyPr wrap="square">
            <a:spAutoFit/>
          </a:bodyPr>
          <a:lstStyle/>
          <a:p>
            <a:pPr algn="l">
              <a:lnSpc>
                <a:spcPts val="1680"/>
              </a:lnSpc>
              <a:spcAft>
                <a:spcPts val="0"/>
              </a:spcAft>
              <a:defRPr sz="1400" b="0">
                <a:solidFill>
                  <a:srgbClr val="CCCCCC"/>
                </a:solidFill>
                <a:latin typeface="Calibri"/>
              </a:defRPr>
            </a:pPr>
            <a:r>
              <a:t>• Capture spatial correlations that time-series models miss</a:t>
            </a:r>
          </a:p>
        </p:txBody>
      </p:sp>
      <p:sp>
        <p:nvSpPr>
          <p:cNvPr id="15" name="TextBox 14"/>
          <p:cNvSpPr txBox="1"/>
          <p:nvPr/>
        </p:nvSpPr>
        <p:spPr>
          <a:xfrm>
            <a:off x="6400800" y="1554480"/>
            <a:ext cx="5303520" cy="365760"/>
          </a:xfrm>
          <a:prstGeom prst="rect">
            <a:avLst/>
          </a:prstGeom>
          <a:noFill/>
        </p:spPr>
        <p:txBody>
          <a:bodyPr wrap="square">
            <a:spAutoFit/>
          </a:bodyPr>
          <a:lstStyle/>
          <a:p>
            <a:pPr algn="l">
              <a:lnSpc>
                <a:spcPts val="2160"/>
              </a:lnSpc>
              <a:spcAft>
                <a:spcPts val="0"/>
              </a:spcAft>
              <a:defRPr sz="1800" b="1">
                <a:solidFill>
                  <a:srgbClr val="00C9A7"/>
                </a:solidFill>
                <a:latin typeface="Calibri"/>
              </a:defRPr>
            </a:pPr>
            <a:r>
              <a:t>Ensemble &amp; Hybrid Methods</a:t>
            </a:r>
          </a:p>
        </p:txBody>
      </p:sp>
      <p:sp>
        <p:nvSpPr>
          <p:cNvPr id="16" name="TextBox 15"/>
          <p:cNvSpPr txBox="1"/>
          <p:nvPr/>
        </p:nvSpPr>
        <p:spPr>
          <a:xfrm>
            <a:off x="6675120" y="1965960"/>
            <a:ext cx="5029200" cy="365760"/>
          </a:xfrm>
          <a:prstGeom prst="rect">
            <a:avLst/>
          </a:prstGeom>
          <a:noFill/>
        </p:spPr>
        <p:txBody>
          <a:bodyPr wrap="square">
            <a:spAutoFit/>
          </a:bodyPr>
          <a:lstStyle/>
          <a:p>
            <a:pPr algn="l">
              <a:lnSpc>
                <a:spcPts val="1680"/>
              </a:lnSpc>
              <a:spcAft>
                <a:spcPts val="0"/>
              </a:spcAft>
              <a:defRPr sz="1400" b="0">
                <a:solidFill>
                  <a:srgbClr val="CCCCCC"/>
                </a:solidFill>
                <a:latin typeface="Calibri"/>
              </a:defRPr>
            </a:pPr>
            <a:r>
              <a:t>• Combine multiple models (e.g., LSTM + Random Forest) for robust predictions</a:t>
            </a:r>
          </a:p>
        </p:txBody>
      </p:sp>
      <p:sp>
        <p:nvSpPr>
          <p:cNvPr id="17" name="TextBox 16"/>
          <p:cNvSpPr txBox="1"/>
          <p:nvPr/>
        </p:nvSpPr>
        <p:spPr>
          <a:xfrm>
            <a:off x="6675120" y="2286000"/>
            <a:ext cx="5029200" cy="365760"/>
          </a:xfrm>
          <a:prstGeom prst="rect">
            <a:avLst/>
          </a:prstGeom>
          <a:noFill/>
        </p:spPr>
        <p:txBody>
          <a:bodyPr wrap="square">
            <a:spAutoFit/>
          </a:bodyPr>
          <a:lstStyle/>
          <a:p>
            <a:pPr algn="l">
              <a:lnSpc>
                <a:spcPts val="1680"/>
              </a:lnSpc>
              <a:spcAft>
                <a:spcPts val="0"/>
              </a:spcAft>
              <a:defRPr sz="1400" b="0">
                <a:solidFill>
                  <a:srgbClr val="CCCCCC"/>
                </a:solidFill>
                <a:latin typeface="Calibri"/>
              </a:defRPr>
            </a:pPr>
            <a:r>
              <a:t>• Stacking and boosting improve accuracy over single models</a:t>
            </a:r>
          </a:p>
        </p:txBody>
      </p:sp>
      <p:sp>
        <p:nvSpPr>
          <p:cNvPr id="18" name="TextBox 17"/>
          <p:cNvSpPr txBox="1"/>
          <p:nvPr/>
        </p:nvSpPr>
        <p:spPr>
          <a:xfrm>
            <a:off x="6675120" y="2606040"/>
            <a:ext cx="5029200" cy="365760"/>
          </a:xfrm>
          <a:prstGeom prst="rect">
            <a:avLst/>
          </a:prstGeom>
          <a:noFill/>
        </p:spPr>
        <p:txBody>
          <a:bodyPr wrap="square">
            <a:spAutoFit/>
          </a:bodyPr>
          <a:lstStyle/>
          <a:p>
            <a:pPr algn="l">
              <a:lnSpc>
                <a:spcPts val="1680"/>
              </a:lnSpc>
              <a:spcAft>
                <a:spcPts val="0"/>
              </a:spcAft>
              <a:defRPr sz="1400" b="0">
                <a:solidFill>
                  <a:srgbClr val="CCCCCC"/>
                </a:solidFill>
                <a:latin typeface="Calibri"/>
              </a:defRPr>
            </a:pPr>
            <a:r>
              <a:t>• Adaptive ensembles handle concept drift in network traffic</a:t>
            </a:r>
          </a:p>
        </p:txBody>
      </p:sp>
      <p:sp>
        <p:nvSpPr>
          <p:cNvPr id="19" name="TextBox 18"/>
          <p:cNvSpPr txBox="1"/>
          <p:nvPr/>
        </p:nvSpPr>
        <p:spPr>
          <a:xfrm>
            <a:off x="6400800" y="3108960"/>
            <a:ext cx="5303520" cy="365760"/>
          </a:xfrm>
          <a:prstGeom prst="rect">
            <a:avLst/>
          </a:prstGeom>
          <a:noFill/>
        </p:spPr>
        <p:txBody>
          <a:bodyPr wrap="square">
            <a:spAutoFit/>
          </a:bodyPr>
          <a:lstStyle/>
          <a:p>
            <a:pPr algn="l">
              <a:lnSpc>
                <a:spcPts val="2160"/>
              </a:lnSpc>
              <a:spcAft>
                <a:spcPts val="0"/>
              </a:spcAft>
              <a:defRPr sz="1800" b="1">
                <a:solidFill>
                  <a:srgbClr val="00C9A7"/>
                </a:solidFill>
                <a:latin typeface="Calibri"/>
              </a:defRPr>
            </a:pPr>
            <a:r>
              <a:t>Attention Mechanisms</a:t>
            </a:r>
          </a:p>
        </p:txBody>
      </p:sp>
      <p:sp>
        <p:nvSpPr>
          <p:cNvPr id="20" name="TextBox 19"/>
          <p:cNvSpPr txBox="1"/>
          <p:nvPr/>
        </p:nvSpPr>
        <p:spPr>
          <a:xfrm>
            <a:off x="6675120" y="3520440"/>
            <a:ext cx="5029200" cy="365760"/>
          </a:xfrm>
          <a:prstGeom prst="rect">
            <a:avLst/>
          </a:prstGeom>
          <a:noFill/>
        </p:spPr>
        <p:txBody>
          <a:bodyPr wrap="square">
            <a:spAutoFit/>
          </a:bodyPr>
          <a:lstStyle/>
          <a:p>
            <a:pPr algn="l">
              <a:lnSpc>
                <a:spcPts val="1680"/>
              </a:lnSpc>
              <a:spcAft>
                <a:spcPts val="0"/>
              </a:spcAft>
              <a:defRPr sz="1400" b="0">
                <a:solidFill>
                  <a:srgbClr val="CCCCCC"/>
                </a:solidFill>
                <a:latin typeface="Calibri"/>
              </a:defRPr>
            </a:pPr>
            <a:r>
              <a:t>• Transformer-based models capture long-range dependencies</a:t>
            </a:r>
          </a:p>
        </p:txBody>
      </p:sp>
      <p:sp>
        <p:nvSpPr>
          <p:cNvPr id="21" name="TextBox 20"/>
          <p:cNvSpPr txBox="1"/>
          <p:nvPr/>
        </p:nvSpPr>
        <p:spPr>
          <a:xfrm>
            <a:off x="6675120" y="3840480"/>
            <a:ext cx="5029200" cy="365760"/>
          </a:xfrm>
          <a:prstGeom prst="rect">
            <a:avLst/>
          </a:prstGeom>
          <a:noFill/>
        </p:spPr>
        <p:txBody>
          <a:bodyPr wrap="square">
            <a:spAutoFit/>
          </a:bodyPr>
          <a:lstStyle/>
          <a:p>
            <a:pPr algn="l">
              <a:lnSpc>
                <a:spcPts val="1680"/>
              </a:lnSpc>
              <a:spcAft>
                <a:spcPts val="0"/>
              </a:spcAft>
              <a:defRPr sz="1400" b="0">
                <a:solidFill>
                  <a:srgbClr val="CCCCCC"/>
                </a:solidFill>
                <a:latin typeface="Calibri"/>
              </a:defRPr>
            </a:pPr>
            <a:r>
              <a:t>• Self-attention weights highlight which telemetry features matter most</a:t>
            </a:r>
          </a:p>
        </p:txBody>
      </p:sp>
      <p:sp>
        <p:nvSpPr>
          <p:cNvPr id="22" name="TextBox 21"/>
          <p:cNvSpPr txBox="1"/>
          <p:nvPr/>
        </p:nvSpPr>
        <p:spPr>
          <a:xfrm>
            <a:off x="6675120" y="4160520"/>
            <a:ext cx="5029200" cy="365760"/>
          </a:xfrm>
          <a:prstGeom prst="rect">
            <a:avLst/>
          </a:prstGeom>
          <a:noFill/>
        </p:spPr>
        <p:txBody>
          <a:bodyPr wrap="square">
            <a:spAutoFit/>
          </a:bodyPr>
          <a:lstStyle/>
          <a:p>
            <a:pPr algn="l">
              <a:lnSpc>
                <a:spcPts val="1680"/>
              </a:lnSpc>
              <a:spcAft>
                <a:spcPts val="0"/>
              </a:spcAft>
              <a:defRPr sz="1400" b="0">
                <a:solidFill>
                  <a:srgbClr val="CCCCCC"/>
                </a:solidFill>
                <a:latin typeface="Calibri"/>
              </a:defRPr>
            </a:pPr>
            <a:r>
              <a:t>• Emerging as state-of-the-art for multi-variate network forecasting</a:t>
            </a:r>
          </a:p>
        </p:txBody>
      </p:sp>
      <p:sp>
        <p:nvSpPr>
          <p:cNvPr id="23" name="TextBox 22"/>
          <p:cNvSpPr txBox="1"/>
          <p:nvPr/>
        </p:nvSpPr>
        <p:spPr>
          <a:xfrm>
            <a:off x="9326880" y="6263640"/>
            <a:ext cx="2743200" cy="457200"/>
          </a:xfrm>
          <a:prstGeom prst="rect">
            <a:avLst/>
          </a:prstGeom>
          <a:noFill/>
        </p:spPr>
        <p:txBody>
          <a:bodyPr wrap="square">
            <a:spAutoFit/>
          </a:bodyPr>
          <a:lstStyle/>
          <a:p>
            <a:pPr algn="r">
              <a:lnSpc>
                <a:spcPts val="1439"/>
              </a:lnSpc>
              <a:spcAft>
                <a:spcPts val="0"/>
              </a:spcAft>
              <a:defRPr sz="1200" b="1">
                <a:solidFill>
                  <a:srgbClr val="00C9A7"/>
                </a:solidFill>
                <a:latin typeface="Calibri"/>
              </a:defRPr>
            </a:pPr>
            <a:r>
              <a:t>Presenter: Esam Mukbil</a:t>
            </a:r>
          </a:p>
        </p:txBody>
      </p:sp>
      <p:sp>
        <p:nvSpPr>
          <p:cNvPr id="24" name="TextBox 23"/>
          <p:cNvSpPr txBox="1"/>
          <p:nvPr/>
        </p:nvSpPr>
        <p:spPr>
          <a:xfrm>
            <a:off x="365760" y="6309360"/>
            <a:ext cx="1371600" cy="365760"/>
          </a:xfrm>
          <a:prstGeom prst="rect">
            <a:avLst/>
          </a:prstGeom>
          <a:noFill/>
        </p:spPr>
        <p:txBody>
          <a:bodyPr wrap="square">
            <a:spAutoFit/>
          </a:bodyPr>
          <a:lstStyle/>
          <a:p>
            <a:pPr algn="l">
              <a:lnSpc>
                <a:spcPts val="1200"/>
              </a:lnSpc>
              <a:spcAft>
                <a:spcPts val="0"/>
              </a:spcAft>
              <a:defRPr sz="1000" b="0">
                <a:solidFill>
                  <a:srgbClr val="999999"/>
                </a:solidFill>
                <a:latin typeface="Calibri"/>
              </a:defRPr>
            </a:pPr>
            <a:r>
              <a:t>9 / 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C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00C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65760"/>
            <a:ext cx="10515600" cy="640080"/>
          </a:xfrm>
          <a:prstGeom prst="rect">
            <a:avLst/>
          </a:prstGeom>
          <a:noFill/>
        </p:spPr>
        <p:txBody>
          <a:bodyPr wrap="square">
            <a:spAutoFit/>
          </a:bodyPr>
          <a:lstStyle/>
          <a:p>
            <a:pPr algn="l">
              <a:lnSpc>
                <a:spcPts val="4320"/>
              </a:lnSpc>
              <a:spcAft>
                <a:spcPts val="0"/>
              </a:spcAft>
              <a:defRPr sz="3600" b="1">
                <a:solidFill>
                  <a:srgbClr val="FFFFFF"/>
                </a:solidFill>
                <a:latin typeface="Calibri"/>
              </a:defRPr>
            </a:pPr>
            <a:r>
              <a:t>ML for QoS Optimization</a:t>
            </a:r>
          </a:p>
        </p:txBody>
      </p:sp>
      <p:sp>
        <p:nvSpPr>
          <p:cNvPr id="5" name="TextBox 4"/>
          <p:cNvSpPr txBox="1"/>
          <p:nvPr/>
        </p:nvSpPr>
        <p:spPr>
          <a:xfrm>
            <a:off x="731520" y="960120"/>
            <a:ext cx="10515600" cy="411480"/>
          </a:xfrm>
          <a:prstGeom prst="rect">
            <a:avLst/>
          </a:prstGeom>
          <a:noFill/>
        </p:spPr>
        <p:txBody>
          <a:bodyPr wrap="square">
            <a:spAutoFit/>
          </a:bodyPr>
          <a:lstStyle/>
          <a:p>
            <a:pPr algn="l">
              <a:lnSpc>
                <a:spcPts val="2160"/>
              </a:lnSpc>
              <a:spcAft>
                <a:spcPts val="0"/>
              </a:spcAft>
              <a:defRPr sz="1800" b="0">
                <a:solidFill>
                  <a:srgbClr val="CCCCCC"/>
                </a:solidFill>
                <a:latin typeface="Calibri"/>
              </a:defRPr>
            </a:pPr>
            <a:r>
              <a:t>Using predicted telemetry to maintain service-level agreements</a:t>
            </a:r>
          </a:p>
        </p:txBody>
      </p:sp>
      <p:sp>
        <p:nvSpPr>
          <p:cNvPr id="6" name="TextBox 5"/>
          <p:cNvSpPr txBox="1"/>
          <p:nvPr/>
        </p:nvSpPr>
        <p:spPr>
          <a:xfrm>
            <a:off x="9326880" y="6263640"/>
            <a:ext cx="2743200" cy="457200"/>
          </a:xfrm>
          <a:prstGeom prst="rect">
            <a:avLst/>
          </a:prstGeom>
          <a:noFill/>
        </p:spPr>
        <p:txBody>
          <a:bodyPr wrap="square">
            <a:spAutoFit/>
          </a:bodyPr>
          <a:lstStyle/>
          <a:p>
            <a:pPr algn="r">
              <a:lnSpc>
                <a:spcPts val="1439"/>
              </a:lnSpc>
              <a:spcAft>
                <a:spcPts val="0"/>
              </a:spcAft>
              <a:defRPr sz="1200" b="1">
                <a:solidFill>
                  <a:srgbClr val="009FFD"/>
                </a:solidFill>
                <a:latin typeface="Calibri"/>
              </a:defRPr>
            </a:pPr>
            <a:r>
              <a:t>Presenter: Esam Mukbil</a:t>
            </a:r>
          </a:p>
        </p:txBody>
      </p:sp>
      <p:sp>
        <p:nvSpPr>
          <p:cNvPr id="7" name="Rectangle 6"/>
          <p:cNvSpPr/>
          <p:nvPr/>
        </p:nvSpPr>
        <p:spPr>
          <a:xfrm>
            <a:off x="731520" y="1554480"/>
            <a:ext cx="73152" cy="914400"/>
          </a:xfrm>
          <a:prstGeom prst="rect">
            <a:avLst/>
          </a:prstGeom>
          <a:solidFill>
            <a:srgbClr val="00C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554480"/>
            <a:ext cx="10515600" cy="320040"/>
          </a:xfrm>
          <a:prstGeom prst="rect">
            <a:avLst/>
          </a:prstGeom>
          <a:noFill/>
        </p:spPr>
        <p:txBody>
          <a:bodyPr wrap="square">
            <a:spAutoFit/>
          </a:bodyPr>
          <a:lstStyle/>
          <a:p>
            <a:pPr algn="l">
              <a:lnSpc>
                <a:spcPts val="2160"/>
              </a:lnSpc>
              <a:spcAft>
                <a:spcPts val="0"/>
              </a:spcAft>
              <a:defRPr sz="1800" b="1">
                <a:solidFill>
                  <a:srgbClr val="00C9A7"/>
                </a:solidFill>
                <a:latin typeface="Calibri"/>
              </a:defRPr>
            </a:pPr>
            <a:r>
              <a:t>Reinforcement Learning (RL)</a:t>
            </a:r>
          </a:p>
        </p:txBody>
      </p:sp>
      <p:sp>
        <p:nvSpPr>
          <p:cNvPr id="9" name="TextBox 8"/>
          <p:cNvSpPr txBox="1"/>
          <p:nvPr/>
        </p:nvSpPr>
        <p:spPr>
          <a:xfrm>
            <a:off x="1005840" y="1901952"/>
            <a:ext cx="10515600" cy="640080"/>
          </a:xfrm>
          <a:prstGeom prst="rect">
            <a:avLst/>
          </a:prstGeom>
          <a:noFill/>
        </p:spPr>
        <p:txBody>
          <a:bodyPr wrap="square">
            <a:spAutoFit/>
          </a:bodyPr>
          <a:lstStyle/>
          <a:p>
            <a:pPr algn="l">
              <a:lnSpc>
                <a:spcPts val="1680"/>
              </a:lnSpc>
              <a:spcAft>
                <a:spcPts val="0"/>
              </a:spcAft>
              <a:defRPr sz="1400" b="0">
                <a:solidFill>
                  <a:srgbClr val="CCCCCC"/>
                </a:solidFill>
                <a:latin typeface="Calibri"/>
              </a:defRPr>
            </a:pPr>
            <a:r>
              <a:t>Agents learn optimal routing/scheduling policies by interacting with the network environment. DQN and PPO are widely used for real-time QoS-aware traffic engineering.</a:t>
            </a:r>
          </a:p>
        </p:txBody>
      </p:sp>
      <p:sp>
        <p:nvSpPr>
          <p:cNvPr id="10" name="Rectangle 9"/>
          <p:cNvSpPr/>
          <p:nvPr/>
        </p:nvSpPr>
        <p:spPr>
          <a:xfrm>
            <a:off x="731520" y="2743200"/>
            <a:ext cx="73152" cy="914400"/>
          </a:xfrm>
          <a:prstGeom prst="rect">
            <a:avLst/>
          </a:prstGeom>
          <a:solidFill>
            <a:srgbClr val="00C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743200"/>
            <a:ext cx="10515600" cy="320040"/>
          </a:xfrm>
          <a:prstGeom prst="rect">
            <a:avLst/>
          </a:prstGeom>
          <a:noFill/>
        </p:spPr>
        <p:txBody>
          <a:bodyPr wrap="square">
            <a:spAutoFit/>
          </a:bodyPr>
          <a:lstStyle/>
          <a:p>
            <a:pPr algn="l">
              <a:lnSpc>
                <a:spcPts val="2160"/>
              </a:lnSpc>
              <a:spcAft>
                <a:spcPts val="0"/>
              </a:spcAft>
              <a:defRPr sz="1800" b="1">
                <a:solidFill>
                  <a:srgbClr val="00C9A7"/>
                </a:solidFill>
                <a:latin typeface="Calibri"/>
              </a:defRPr>
            </a:pPr>
            <a:r>
              <a:t>Deep Q-Networks (DQN)</a:t>
            </a:r>
          </a:p>
        </p:txBody>
      </p:sp>
      <p:sp>
        <p:nvSpPr>
          <p:cNvPr id="12" name="TextBox 11"/>
          <p:cNvSpPr txBox="1"/>
          <p:nvPr/>
        </p:nvSpPr>
        <p:spPr>
          <a:xfrm>
            <a:off x="1005840" y="3090672"/>
            <a:ext cx="10515600" cy="640080"/>
          </a:xfrm>
          <a:prstGeom prst="rect">
            <a:avLst/>
          </a:prstGeom>
          <a:noFill/>
        </p:spPr>
        <p:txBody>
          <a:bodyPr wrap="square">
            <a:spAutoFit/>
          </a:bodyPr>
          <a:lstStyle/>
          <a:p>
            <a:pPr algn="l">
              <a:lnSpc>
                <a:spcPts val="1680"/>
              </a:lnSpc>
              <a:spcAft>
                <a:spcPts val="0"/>
              </a:spcAft>
              <a:defRPr sz="1400" b="0">
                <a:solidFill>
                  <a:srgbClr val="CCCCCC"/>
                </a:solidFill>
                <a:latin typeface="Calibri"/>
              </a:defRPr>
            </a:pPr>
            <a:r>
              <a:t>Map network state (telemetry features) to optimal actions (e.g., rerouting flows). Effective for dynamic bandwidth allocation and load balancing.</a:t>
            </a:r>
          </a:p>
        </p:txBody>
      </p:sp>
      <p:sp>
        <p:nvSpPr>
          <p:cNvPr id="13" name="Rectangle 12"/>
          <p:cNvSpPr/>
          <p:nvPr/>
        </p:nvSpPr>
        <p:spPr>
          <a:xfrm>
            <a:off x="731520" y="3931920"/>
            <a:ext cx="73152" cy="914400"/>
          </a:xfrm>
          <a:prstGeom prst="rect">
            <a:avLst/>
          </a:prstGeom>
          <a:solidFill>
            <a:srgbClr val="00C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3931920"/>
            <a:ext cx="10515600" cy="320040"/>
          </a:xfrm>
          <a:prstGeom prst="rect">
            <a:avLst/>
          </a:prstGeom>
          <a:noFill/>
        </p:spPr>
        <p:txBody>
          <a:bodyPr wrap="square">
            <a:spAutoFit/>
          </a:bodyPr>
          <a:lstStyle/>
          <a:p>
            <a:pPr algn="l">
              <a:lnSpc>
                <a:spcPts val="2160"/>
              </a:lnSpc>
              <a:spcAft>
                <a:spcPts val="0"/>
              </a:spcAft>
              <a:defRPr sz="1800" b="1">
                <a:solidFill>
                  <a:srgbClr val="00C9A7"/>
                </a:solidFill>
                <a:latin typeface="Calibri"/>
              </a:defRPr>
            </a:pPr>
            <a:r>
              <a:t>Multi-Objective Optimization</a:t>
            </a:r>
          </a:p>
        </p:txBody>
      </p:sp>
      <p:sp>
        <p:nvSpPr>
          <p:cNvPr id="15" name="TextBox 14"/>
          <p:cNvSpPr txBox="1"/>
          <p:nvPr/>
        </p:nvSpPr>
        <p:spPr>
          <a:xfrm>
            <a:off x="1005840" y="4279392"/>
            <a:ext cx="10515600" cy="640080"/>
          </a:xfrm>
          <a:prstGeom prst="rect">
            <a:avLst/>
          </a:prstGeom>
          <a:noFill/>
        </p:spPr>
        <p:txBody>
          <a:bodyPr wrap="square">
            <a:spAutoFit/>
          </a:bodyPr>
          <a:lstStyle/>
          <a:p>
            <a:pPr algn="l">
              <a:lnSpc>
                <a:spcPts val="1680"/>
              </a:lnSpc>
              <a:spcAft>
                <a:spcPts val="0"/>
              </a:spcAft>
              <a:defRPr sz="1400" b="0">
                <a:solidFill>
                  <a:srgbClr val="CCCCCC"/>
                </a:solidFill>
                <a:latin typeface="Calibri"/>
              </a:defRPr>
            </a:pPr>
            <a:r>
              <a:t>Balance competing QoS metrics (latency vs. throughput vs. fairness) using Pareto-optimal ML solutions. Neural networks approximate the Pareto front.</a:t>
            </a:r>
          </a:p>
        </p:txBody>
      </p:sp>
      <p:sp>
        <p:nvSpPr>
          <p:cNvPr id="16" name="Rectangle 15"/>
          <p:cNvSpPr/>
          <p:nvPr/>
        </p:nvSpPr>
        <p:spPr>
          <a:xfrm>
            <a:off x="731520" y="5120640"/>
            <a:ext cx="73152" cy="914400"/>
          </a:xfrm>
          <a:prstGeom prst="rect">
            <a:avLst/>
          </a:prstGeom>
          <a:solidFill>
            <a:srgbClr val="00C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5120640"/>
            <a:ext cx="10515600" cy="320040"/>
          </a:xfrm>
          <a:prstGeom prst="rect">
            <a:avLst/>
          </a:prstGeom>
          <a:noFill/>
        </p:spPr>
        <p:txBody>
          <a:bodyPr wrap="square">
            <a:spAutoFit/>
          </a:bodyPr>
          <a:lstStyle/>
          <a:p>
            <a:pPr algn="l">
              <a:lnSpc>
                <a:spcPts val="2160"/>
              </a:lnSpc>
              <a:spcAft>
                <a:spcPts val="0"/>
              </a:spcAft>
              <a:defRPr sz="1800" b="1">
                <a:solidFill>
                  <a:srgbClr val="00C9A7"/>
                </a:solidFill>
                <a:latin typeface="Calibri"/>
              </a:defRPr>
            </a:pPr>
            <a:r>
              <a:t>Federated Learning</a:t>
            </a:r>
          </a:p>
        </p:txBody>
      </p:sp>
      <p:sp>
        <p:nvSpPr>
          <p:cNvPr id="18" name="TextBox 17"/>
          <p:cNvSpPr txBox="1"/>
          <p:nvPr/>
        </p:nvSpPr>
        <p:spPr>
          <a:xfrm>
            <a:off x="1005840" y="5468112"/>
            <a:ext cx="10515600" cy="640080"/>
          </a:xfrm>
          <a:prstGeom prst="rect">
            <a:avLst/>
          </a:prstGeom>
          <a:noFill/>
        </p:spPr>
        <p:txBody>
          <a:bodyPr wrap="square">
            <a:spAutoFit/>
          </a:bodyPr>
          <a:lstStyle/>
          <a:p>
            <a:pPr algn="l">
              <a:lnSpc>
                <a:spcPts val="1680"/>
              </a:lnSpc>
              <a:spcAft>
                <a:spcPts val="0"/>
              </a:spcAft>
              <a:defRPr sz="1400" b="0">
                <a:solidFill>
                  <a:srgbClr val="CCCCCC"/>
                </a:solidFill>
                <a:latin typeface="Calibri"/>
              </a:defRPr>
            </a:pPr>
            <a:r>
              <a:t>Train QoS models across distributed network domains without sharing raw telemetry data. Preserves privacy while enabling cross-domain optimization.</a:t>
            </a:r>
          </a:p>
        </p:txBody>
      </p:sp>
      <p:sp>
        <p:nvSpPr>
          <p:cNvPr id="19" name="TextBox 18"/>
          <p:cNvSpPr txBox="1"/>
          <p:nvPr/>
        </p:nvSpPr>
        <p:spPr>
          <a:xfrm>
            <a:off x="9326880" y="6263640"/>
            <a:ext cx="2743200" cy="457200"/>
          </a:xfrm>
          <a:prstGeom prst="rect">
            <a:avLst/>
          </a:prstGeom>
          <a:noFill/>
        </p:spPr>
        <p:txBody>
          <a:bodyPr wrap="square">
            <a:spAutoFit/>
          </a:bodyPr>
          <a:lstStyle/>
          <a:p>
            <a:pPr algn="r">
              <a:lnSpc>
                <a:spcPts val="1439"/>
              </a:lnSpc>
              <a:spcAft>
                <a:spcPts val="0"/>
              </a:spcAft>
              <a:defRPr sz="1200" b="1">
                <a:solidFill>
                  <a:srgbClr val="00C9A7"/>
                </a:solidFill>
                <a:latin typeface="Calibri"/>
              </a:defRPr>
            </a:pPr>
            <a:r>
              <a:t>Presenter: Esam Mukbil</a:t>
            </a:r>
          </a:p>
        </p:txBody>
      </p:sp>
      <p:sp>
        <p:nvSpPr>
          <p:cNvPr id="20" name="TextBox 19"/>
          <p:cNvSpPr txBox="1"/>
          <p:nvPr/>
        </p:nvSpPr>
        <p:spPr>
          <a:xfrm>
            <a:off x="365760" y="6309360"/>
            <a:ext cx="1371600" cy="365760"/>
          </a:xfrm>
          <a:prstGeom prst="rect">
            <a:avLst/>
          </a:prstGeom>
          <a:noFill/>
        </p:spPr>
        <p:txBody>
          <a:bodyPr wrap="square">
            <a:spAutoFit/>
          </a:bodyPr>
          <a:lstStyle/>
          <a:p>
            <a:pPr algn="l">
              <a:lnSpc>
                <a:spcPts val="1200"/>
              </a:lnSpc>
              <a:spcAft>
                <a:spcPts val="0"/>
              </a:spcAft>
              <a:defRPr sz="1000" b="0">
                <a:solidFill>
                  <a:srgbClr val="999999"/>
                </a:solidFill>
                <a:latin typeface="Calibri"/>
              </a:defRPr>
            </a:pPr>
            <a:r>
              <a:t>10 / 20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C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00C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65760"/>
            <a:ext cx="10515600" cy="640080"/>
          </a:xfrm>
          <a:prstGeom prst="rect">
            <a:avLst/>
          </a:prstGeom>
          <a:noFill/>
        </p:spPr>
        <p:txBody>
          <a:bodyPr wrap="square">
            <a:spAutoFit/>
          </a:bodyPr>
          <a:lstStyle/>
          <a:p>
            <a:pPr algn="l">
              <a:lnSpc>
                <a:spcPts val="4320"/>
              </a:lnSpc>
              <a:spcAft>
                <a:spcPts val="0"/>
              </a:spcAft>
              <a:defRPr sz="3600" b="1">
                <a:solidFill>
                  <a:srgbClr val="FFFFFF"/>
                </a:solidFill>
                <a:latin typeface="Calibri"/>
              </a:defRPr>
            </a:pPr>
            <a:r>
              <a:t>Performance Prediction &amp; QoS: Key Findings</a:t>
            </a:r>
          </a:p>
        </p:txBody>
      </p:sp>
      <p:sp>
        <p:nvSpPr>
          <p:cNvPr id="5" name="TextBox 4"/>
          <p:cNvSpPr txBox="1"/>
          <p:nvPr/>
        </p:nvSpPr>
        <p:spPr>
          <a:xfrm>
            <a:off x="731520" y="960120"/>
            <a:ext cx="10515600" cy="411480"/>
          </a:xfrm>
          <a:prstGeom prst="rect">
            <a:avLst/>
          </a:prstGeom>
          <a:noFill/>
        </p:spPr>
        <p:txBody>
          <a:bodyPr wrap="square">
            <a:spAutoFit/>
          </a:bodyPr>
          <a:lstStyle/>
          <a:p>
            <a:pPr algn="l">
              <a:lnSpc>
                <a:spcPts val="2160"/>
              </a:lnSpc>
              <a:spcAft>
                <a:spcPts val="0"/>
              </a:spcAft>
              <a:defRPr sz="1800" b="0">
                <a:solidFill>
                  <a:srgbClr val="CCCCCC"/>
                </a:solidFill>
                <a:latin typeface="Calibri"/>
              </a:defRPr>
            </a:pPr>
            <a:r>
              <a:t>Insights from recent academic and industry literature</a:t>
            </a:r>
          </a:p>
        </p:txBody>
      </p:sp>
      <p:sp>
        <p:nvSpPr>
          <p:cNvPr id="6" name="TextBox 5"/>
          <p:cNvSpPr txBox="1"/>
          <p:nvPr/>
        </p:nvSpPr>
        <p:spPr>
          <a:xfrm>
            <a:off x="9326880" y="6263640"/>
            <a:ext cx="2743200" cy="457200"/>
          </a:xfrm>
          <a:prstGeom prst="rect">
            <a:avLst/>
          </a:prstGeom>
          <a:noFill/>
        </p:spPr>
        <p:txBody>
          <a:bodyPr wrap="square">
            <a:spAutoFit/>
          </a:bodyPr>
          <a:lstStyle/>
          <a:p>
            <a:pPr algn="r">
              <a:lnSpc>
                <a:spcPts val="1439"/>
              </a:lnSpc>
              <a:spcAft>
                <a:spcPts val="0"/>
              </a:spcAft>
              <a:defRPr sz="1200" b="1">
                <a:solidFill>
                  <a:srgbClr val="009FFD"/>
                </a:solidFill>
                <a:latin typeface="Calibri"/>
              </a:defRPr>
            </a:pPr>
            <a:r>
              <a:t>Presenter: Esam Mukbil</a:t>
            </a:r>
          </a:p>
        </p:txBody>
      </p:sp>
      <p:sp>
        <p:nvSpPr>
          <p:cNvPr id="7" name="Oval 6"/>
          <p:cNvSpPr/>
          <p:nvPr/>
        </p:nvSpPr>
        <p:spPr>
          <a:xfrm>
            <a:off x="685800" y="1572768"/>
            <a:ext cx="347472" cy="347472"/>
          </a:xfrm>
          <a:prstGeom prst="ellipse">
            <a:avLst/>
          </a:prstGeom>
          <a:solidFill>
            <a:srgbClr val="00C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591056"/>
            <a:ext cx="347472" cy="320040"/>
          </a:xfrm>
          <a:prstGeom prst="rect">
            <a:avLst/>
          </a:prstGeom>
          <a:noFill/>
        </p:spPr>
        <p:txBody>
          <a:bodyPr wrap="square">
            <a:spAutoFit/>
          </a:bodyPr>
          <a:lstStyle/>
          <a:p>
            <a:pPr algn="ctr">
              <a:lnSpc>
                <a:spcPts val="1920"/>
              </a:lnSpc>
              <a:spcAft>
                <a:spcPts val="0"/>
              </a:spcAft>
              <a:defRPr sz="1600" b="1">
                <a:solidFill>
                  <a:srgbClr val="FFFFFF"/>
                </a:solidFill>
                <a:latin typeface="Calibri"/>
              </a:defRPr>
            </a:pPr>
            <a:r>
              <a:t>1</a:t>
            </a:r>
          </a:p>
        </p:txBody>
      </p:sp>
      <p:sp>
        <p:nvSpPr>
          <p:cNvPr id="9" name="TextBox 8"/>
          <p:cNvSpPr txBox="1"/>
          <p:nvPr/>
        </p:nvSpPr>
        <p:spPr>
          <a:xfrm>
            <a:off x="1188720" y="1554480"/>
            <a:ext cx="10515600" cy="320040"/>
          </a:xfrm>
          <a:prstGeom prst="rect">
            <a:avLst/>
          </a:prstGeom>
          <a:noFill/>
        </p:spPr>
        <p:txBody>
          <a:bodyPr wrap="square">
            <a:spAutoFit/>
          </a:bodyPr>
          <a:lstStyle/>
          <a:p>
            <a:pPr algn="l">
              <a:lnSpc>
                <a:spcPts val="2039"/>
              </a:lnSpc>
              <a:spcAft>
                <a:spcPts val="0"/>
              </a:spcAft>
              <a:defRPr sz="1700" b="1">
                <a:solidFill>
                  <a:srgbClr val="00C9A7"/>
                </a:solidFill>
                <a:latin typeface="Calibri"/>
              </a:defRPr>
            </a:pPr>
            <a:r>
              <a:t>GNNs &gt; Time-Series for Topology-Aware Prediction</a:t>
            </a:r>
          </a:p>
        </p:txBody>
      </p:sp>
      <p:sp>
        <p:nvSpPr>
          <p:cNvPr id="10" name="TextBox 9"/>
          <p:cNvSpPr txBox="1"/>
          <p:nvPr/>
        </p:nvSpPr>
        <p:spPr>
          <a:xfrm>
            <a:off x="1188720" y="1901952"/>
            <a:ext cx="10515600" cy="640080"/>
          </a:xfrm>
          <a:prstGeom prst="rect">
            <a:avLst/>
          </a:prstGeom>
          <a:noFill/>
        </p:spPr>
        <p:txBody>
          <a:bodyPr wrap="square">
            <a:spAutoFit/>
          </a:bodyPr>
          <a:lstStyle/>
          <a:p>
            <a:pPr algn="l">
              <a:lnSpc>
                <a:spcPts val="1680"/>
              </a:lnSpc>
              <a:spcAft>
                <a:spcPts val="0"/>
              </a:spcAft>
              <a:defRPr sz="1400" b="0">
                <a:solidFill>
                  <a:srgbClr val="CCCCCC"/>
                </a:solidFill>
                <a:latin typeface="Calibri"/>
              </a:defRPr>
            </a:pPr>
            <a:r>
              <a:t>Graph neural networks outperform pure time-series models when network topology matters — they capture how congestion propagates across paths and links.</a:t>
            </a:r>
          </a:p>
        </p:txBody>
      </p:sp>
      <p:sp>
        <p:nvSpPr>
          <p:cNvPr id="11" name="Oval 10"/>
          <p:cNvSpPr/>
          <p:nvPr/>
        </p:nvSpPr>
        <p:spPr>
          <a:xfrm>
            <a:off x="685800" y="2761488"/>
            <a:ext cx="347472" cy="347472"/>
          </a:xfrm>
          <a:prstGeom prst="ellipse">
            <a:avLst/>
          </a:prstGeom>
          <a:solidFill>
            <a:srgbClr val="00C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779776"/>
            <a:ext cx="347472" cy="320040"/>
          </a:xfrm>
          <a:prstGeom prst="rect">
            <a:avLst/>
          </a:prstGeom>
          <a:noFill/>
        </p:spPr>
        <p:txBody>
          <a:bodyPr wrap="square">
            <a:spAutoFit/>
          </a:bodyPr>
          <a:lstStyle/>
          <a:p>
            <a:pPr algn="ctr">
              <a:lnSpc>
                <a:spcPts val="1920"/>
              </a:lnSpc>
              <a:spcAft>
                <a:spcPts val="0"/>
              </a:spcAft>
              <a:defRPr sz="1600" b="1">
                <a:solidFill>
                  <a:srgbClr val="FFFFFF"/>
                </a:solidFill>
                <a:latin typeface="Calibri"/>
              </a:defRPr>
            </a:pPr>
            <a:r>
              <a:t>2</a:t>
            </a:r>
          </a:p>
        </p:txBody>
      </p:sp>
      <p:sp>
        <p:nvSpPr>
          <p:cNvPr id="13" name="TextBox 12"/>
          <p:cNvSpPr txBox="1"/>
          <p:nvPr/>
        </p:nvSpPr>
        <p:spPr>
          <a:xfrm>
            <a:off x="1188720" y="2743200"/>
            <a:ext cx="10515600" cy="320040"/>
          </a:xfrm>
          <a:prstGeom prst="rect">
            <a:avLst/>
          </a:prstGeom>
          <a:noFill/>
        </p:spPr>
        <p:txBody>
          <a:bodyPr wrap="square">
            <a:spAutoFit/>
          </a:bodyPr>
          <a:lstStyle/>
          <a:p>
            <a:pPr algn="l">
              <a:lnSpc>
                <a:spcPts val="2039"/>
              </a:lnSpc>
              <a:spcAft>
                <a:spcPts val="0"/>
              </a:spcAft>
              <a:defRPr sz="1700" b="1">
                <a:solidFill>
                  <a:srgbClr val="00C9A7"/>
                </a:solidFill>
                <a:latin typeface="Calibri"/>
              </a:defRPr>
            </a:pPr>
            <a:r>
              <a:t>RL for QoS Is Promising but Hard to Deploy</a:t>
            </a:r>
          </a:p>
        </p:txBody>
      </p:sp>
      <p:sp>
        <p:nvSpPr>
          <p:cNvPr id="14" name="TextBox 13"/>
          <p:cNvSpPr txBox="1"/>
          <p:nvPr/>
        </p:nvSpPr>
        <p:spPr>
          <a:xfrm>
            <a:off x="1188720" y="3090672"/>
            <a:ext cx="10515600" cy="640080"/>
          </a:xfrm>
          <a:prstGeom prst="rect">
            <a:avLst/>
          </a:prstGeom>
          <a:noFill/>
        </p:spPr>
        <p:txBody>
          <a:bodyPr wrap="square">
            <a:spAutoFit/>
          </a:bodyPr>
          <a:lstStyle/>
          <a:p>
            <a:pPr algn="l">
              <a:lnSpc>
                <a:spcPts val="1680"/>
              </a:lnSpc>
              <a:spcAft>
                <a:spcPts val="0"/>
              </a:spcAft>
              <a:defRPr sz="1400" b="0">
                <a:solidFill>
                  <a:srgbClr val="CCCCCC"/>
                </a:solidFill>
                <a:latin typeface="Calibri"/>
              </a:defRPr>
            </a:pPr>
            <a:r>
              <a:t>Reinforcement learning achieves near-optimal QoS policies in simulation, but real-world deployment faces challenges: safety constraints, exploration risk, and training instability.</a:t>
            </a:r>
          </a:p>
        </p:txBody>
      </p:sp>
      <p:sp>
        <p:nvSpPr>
          <p:cNvPr id="15" name="Oval 14"/>
          <p:cNvSpPr/>
          <p:nvPr/>
        </p:nvSpPr>
        <p:spPr>
          <a:xfrm>
            <a:off x="685800" y="3950208"/>
            <a:ext cx="347472" cy="347472"/>
          </a:xfrm>
          <a:prstGeom prst="ellipse">
            <a:avLst/>
          </a:prstGeom>
          <a:solidFill>
            <a:srgbClr val="00C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968496"/>
            <a:ext cx="347472" cy="320040"/>
          </a:xfrm>
          <a:prstGeom prst="rect">
            <a:avLst/>
          </a:prstGeom>
          <a:noFill/>
        </p:spPr>
        <p:txBody>
          <a:bodyPr wrap="square">
            <a:spAutoFit/>
          </a:bodyPr>
          <a:lstStyle/>
          <a:p>
            <a:pPr algn="ctr">
              <a:lnSpc>
                <a:spcPts val="1920"/>
              </a:lnSpc>
              <a:spcAft>
                <a:spcPts val="0"/>
              </a:spcAft>
              <a:defRPr sz="1600" b="1">
                <a:solidFill>
                  <a:srgbClr val="FFFFFF"/>
                </a:solidFill>
                <a:latin typeface="Calibri"/>
              </a:defRPr>
            </a:pPr>
            <a:r>
              <a:t>3</a:t>
            </a:r>
          </a:p>
        </p:txBody>
      </p:sp>
      <p:sp>
        <p:nvSpPr>
          <p:cNvPr id="17" name="TextBox 16"/>
          <p:cNvSpPr txBox="1"/>
          <p:nvPr/>
        </p:nvSpPr>
        <p:spPr>
          <a:xfrm>
            <a:off x="1188720" y="3931920"/>
            <a:ext cx="10515600" cy="320040"/>
          </a:xfrm>
          <a:prstGeom prst="rect">
            <a:avLst/>
          </a:prstGeom>
          <a:noFill/>
        </p:spPr>
        <p:txBody>
          <a:bodyPr wrap="square">
            <a:spAutoFit/>
          </a:bodyPr>
          <a:lstStyle/>
          <a:p>
            <a:pPr algn="l">
              <a:lnSpc>
                <a:spcPts val="2039"/>
              </a:lnSpc>
              <a:spcAft>
                <a:spcPts val="0"/>
              </a:spcAft>
              <a:defRPr sz="1700" b="1">
                <a:solidFill>
                  <a:srgbClr val="00C9A7"/>
                </a:solidFill>
                <a:latin typeface="Calibri"/>
              </a:defRPr>
            </a:pPr>
            <a:r>
              <a:t>Data Quality Is the Bottleneck</a:t>
            </a:r>
          </a:p>
        </p:txBody>
      </p:sp>
      <p:sp>
        <p:nvSpPr>
          <p:cNvPr id="18" name="TextBox 17"/>
          <p:cNvSpPr txBox="1"/>
          <p:nvPr/>
        </p:nvSpPr>
        <p:spPr>
          <a:xfrm>
            <a:off x="1188720" y="4279392"/>
            <a:ext cx="10515600" cy="640080"/>
          </a:xfrm>
          <a:prstGeom prst="rect">
            <a:avLst/>
          </a:prstGeom>
          <a:noFill/>
        </p:spPr>
        <p:txBody>
          <a:bodyPr wrap="square">
            <a:spAutoFit/>
          </a:bodyPr>
          <a:lstStyle/>
          <a:p>
            <a:pPr algn="l">
              <a:lnSpc>
                <a:spcPts val="1680"/>
              </a:lnSpc>
              <a:spcAft>
                <a:spcPts val="0"/>
              </a:spcAft>
              <a:defRPr sz="1400" b="0">
                <a:solidFill>
                  <a:srgbClr val="CCCCCC"/>
                </a:solidFill>
                <a:latin typeface="Calibri"/>
              </a:defRPr>
            </a:pPr>
            <a:r>
              <a:t>Prediction accuracy depends heavily on telemetry data quality. Missing values, sampling artifacts, and clock synchronization issues degrade model performance significantly.</a:t>
            </a:r>
          </a:p>
        </p:txBody>
      </p:sp>
      <p:sp>
        <p:nvSpPr>
          <p:cNvPr id="19" name="Oval 18"/>
          <p:cNvSpPr/>
          <p:nvPr/>
        </p:nvSpPr>
        <p:spPr>
          <a:xfrm>
            <a:off x="685800" y="5138928"/>
            <a:ext cx="347472" cy="347472"/>
          </a:xfrm>
          <a:prstGeom prst="ellipse">
            <a:avLst/>
          </a:prstGeom>
          <a:solidFill>
            <a:srgbClr val="00C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5157216"/>
            <a:ext cx="347472" cy="320040"/>
          </a:xfrm>
          <a:prstGeom prst="rect">
            <a:avLst/>
          </a:prstGeom>
          <a:noFill/>
        </p:spPr>
        <p:txBody>
          <a:bodyPr wrap="square">
            <a:spAutoFit/>
          </a:bodyPr>
          <a:lstStyle/>
          <a:p>
            <a:pPr algn="ctr">
              <a:lnSpc>
                <a:spcPts val="1920"/>
              </a:lnSpc>
              <a:spcAft>
                <a:spcPts val="0"/>
              </a:spcAft>
              <a:defRPr sz="1600" b="1">
                <a:solidFill>
                  <a:srgbClr val="FFFFFF"/>
                </a:solidFill>
                <a:latin typeface="Calibri"/>
              </a:defRPr>
            </a:pPr>
            <a:r>
              <a:t>4</a:t>
            </a:r>
          </a:p>
        </p:txBody>
      </p:sp>
      <p:sp>
        <p:nvSpPr>
          <p:cNvPr id="21" name="TextBox 20"/>
          <p:cNvSpPr txBox="1"/>
          <p:nvPr/>
        </p:nvSpPr>
        <p:spPr>
          <a:xfrm>
            <a:off x="1188720" y="5120640"/>
            <a:ext cx="10515600" cy="320040"/>
          </a:xfrm>
          <a:prstGeom prst="rect">
            <a:avLst/>
          </a:prstGeom>
          <a:noFill/>
        </p:spPr>
        <p:txBody>
          <a:bodyPr wrap="square">
            <a:spAutoFit/>
          </a:bodyPr>
          <a:lstStyle/>
          <a:p>
            <a:pPr algn="l">
              <a:lnSpc>
                <a:spcPts val="2039"/>
              </a:lnSpc>
              <a:spcAft>
                <a:spcPts val="0"/>
              </a:spcAft>
              <a:defRPr sz="1700" b="1">
                <a:solidFill>
                  <a:srgbClr val="00C9A7"/>
                </a:solidFill>
                <a:latin typeface="Calibri"/>
              </a:defRPr>
            </a:pPr>
            <a:r>
              <a:t>Proactive &gt; Reactive Management</a:t>
            </a:r>
          </a:p>
        </p:txBody>
      </p:sp>
      <p:sp>
        <p:nvSpPr>
          <p:cNvPr id="22" name="TextBox 21"/>
          <p:cNvSpPr txBox="1"/>
          <p:nvPr/>
        </p:nvSpPr>
        <p:spPr>
          <a:xfrm>
            <a:off x="1188720" y="5468112"/>
            <a:ext cx="10515600" cy="640080"/>
          </a:xfrm>
          <a:prstGeom prst="rect">
            <a:avLst/>
          </a:prstGeom>
          <a:noFill/>
        </p:spPr>
        <p:txBody>
          <a:bodyPr wrap="square">
            <a:spAutoFit/>
          </a:bodyPr>
          <a:lstStyle/>
          <a:p>
            <a:pPr algn="l">
              <a:lnSpc>
                <a:spcPts val="1680"/>
              </a:lnSpc>
              <a:spcAft>
                <a:spcPts val="0"/>
              </a:spcAft>
              <a:defRPr sz="1400" b="0">
                <a:solidFill>
                  <a:srgbClr val="CCCCCC"/>
                </a:solidFill>
                <a:latin typeface="Calibri"/>
              </a:defRPr>
            </a:pPr>
            <a:r>
              <a:t>ML-driven proactive management (predict-then-act) reduces SLA violations by 30–50% compared to reactive threshold-based approaches in studied deployments.</a:t>
            </a:r>
          </a:p>
        </p:txBody>
      </p:sp>
      <p:sp>
        <p:nvSpPr>
          <p:cNvPr id="23" name="TextBox 22"/>
          <p:cNvSpPr txBox="1"/>
          <p:nvPr/>
        </p:nvSpPr>
        <p:spPr>
          <a:xfrm>
            <a:off x="9326880" y="6263640"/>
            <a:ext cx="2743200" cy="457200"/>
          </a:xfrm>
          <a:prstGeom prst="rect">
            <a:avLst/>
          </a:prstGeom>
          <a:noFill/>
        </p:spPr>
        <p:txBody>
          <a:bodyPr wrap="square">
            <a:spAutoFit/>
          </a:bodyPr>
          <a:lstStyle/>
          <a:p>
            <a:pPr algn="r">
              <a:lnSpc>
                <a:spcPts val="1439"/>
              </a:lnSpc>
              <a:spcAft>
                <a:spcPts val="0"/>
              </a:spcAft>
              <a:defRPr sz="1200" b="1">
                <a:solidFill>
                  <a:srgbClr val="00C9A7"/>
                </a:solidFill>
                <a:latin typeface="Calibri"/>
              </a:defRPr>
            </a:pPr>
            <a:r>
              <a:t>Presenter: Esam Mukbil</a:t>
            </a:r>
          </a:p>
        </p:txBody>
      </p:sp>
      <p:sp>
        <p:nvSpPr>
          <p:cNvPr id="24" name="TextBox 23"/>
          <p:cNvSpPr txBox="1"/>
          <p:nvPr/>
        </p:nvSpPr>
        <p:spPr>
          <a:xfrm>
            <a:off x="365760" y="6309360"/>
            <a:ext cx="1371600" cy="365760"/>
          </a:xfrm>
          <a:prstGeom prst="rect">
            <a:avLst/>
          </a:prstGeom>
          <a:noFill/>
        </p:spPr>
        <p:txBody>
          <a:bodyPr wrap="square">
            <a:spAutoFit/>
          </a:bodyPr>
          <a:lstStyle/>
          <a:p>
            <a:pPr algn="l">
              <a:lnSpc>
                <a:spcPts val="1200"/>
              </a:lnSpc>
              <a:spcAft>
                <a:spcPts val="0"/>
              </a:spcAft>
              <a:defRPr sz="1000" b="0">
                <a:solidFill>
                  <a:srgbClr val="999999"/>
                </a:solidFill>
                <a:latin typeface="Calibri"/>
              </a:defRPr>
            </a:pPr>
            <a:r>
              <a:t>11 / 20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C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00C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65760"/>
            <a:ext cx="10515600" cy="640080"/>
          </a:xfrm>
          <a:prstGeom prst="rect">
            <a:avLst/>
          </a:prstGeom>
          <a:noFill/>
        </p:spPr>
        <p:txBody>
          <a:bodyPr wrap="square">
            <a:spAutoFit/>
          </a:bodyPr>
          <a:lstStyle/>
          <a:p>
            <a:pPr algn="l">
              <a:lnSpc>
                <a:spcPts val="4320"/>
              </a:lnSpc>
              <a:spcAft>
                <a:spcPts val="0"/>
              </a:spcAft>
              <a:defRPr sz="3600" b="1">
                <a:solidFill>
                  <a:srgbClr val="FFFFFF"/>
                </a:solidFill>
                <a:latin typeface="Calibri"/>
              </a:defRPr>
            </a:pPr>
            <a:r>
              <a:t>ML-Enhanced Network Telemetry Pipeline</a:t>
            </a:r>
          </a:p>
        </p:txBody>
      </p:sp>
      <p:sp>
        <p:nvSpPr>
          <p:cNvPr id="5" name="TextBox 4"/>
          <p:cNvSpPr txBox="1"/>
          <p:nvPr/>
        </p:nvSpPr>
        <p:spPr>
          <a:xfrm>
            <a:off x="731520" y="960120"/>
            <a:ext cx="10515600" cy="411480"/>
          </a:xfrm>
          <a:prstGeom prst="rect">
            <a:avLst/>
          </a:prstGeom>
          <a:noFill/>
        </p:spPr>
        <p:txBody>
          <a:bodyPr wrap="square">
            <a:spAutoFit/>
          </a:bodyPr>
          <a:lstStyle/>
          <a:p>
            <a:pPr algn="l">
              <a:lnSpc>
                <a:spcPts val="2160"/>
              </a:lnSpc>
              <a:spcAft>
                <a:spcPts val="0"/>
              </a:spcAft>
              <a:defRPr sz="1800" b="0">
                <a:solidFill>
                  <a:srgbClr val="CCCCCC"/>
                </a:solidFill>
                <a:latin typeface="Calibri"/>
              </a:defRPr>
            </a:pPr>
            <a:r>
              <a:t>How ML integrates into modern telemetry architectures</a:t>
            </a:r>
          </a:p>
        </p:txBody>
      </p:sp>
      <p:sp>
        <p:nvSpPr>
          <p:cNvPr id="6" name="TextBox 5"/>
          <p:cNvSpPr txBox="1"/>
          <p:nvPr/>
        </p:nvSpPr>
        <p:spPr>
          <a:xfrm>
            <a:off x="9326880" y="6263640"/>
            <a:ext cx="2743200" cy="457200"/>
          </a:xfrm>
          <a:prstGeom prst="rect">
            <a:avLst/>
          </a:prstGeom>
          <a:noFill/>
        </p:spPr>
        <p:txBody>
          <a:bodyPr wrap="square">
            <a:spAutoFit/>
          </a:bodyPr>
          <a:lstStyle/>
          <a:p>
            <a:pPr algn="r">
              <a:lnSpc>
                <a:spcPts val="1439"/>
              </a:lnSpc>
              <a:spcAft>
                <a:spcPts val="0"/>
              </a:spcAft>
              <a:defRPr sz="1200" b="1">
                <a:solidFill>
                  <a:srgbClr val="009FFD"/>
                </a:solidFill>
                <a:latin typeface="Calibri"/>
              </a:defRPr>
            </a:pPr>
            <a:r>
              <a:t>Presenter: Esam Mukbil</a:t>
            </a:r>
          </a:p>
        </p:txBody>
      </p:sp>
      <p:sp>
        <p:nvSpPr>
          <p:cNvPr id="7" name="Rounded Rectangle 6"/>
          <p:cNvSpPr/>
          <p:nvPr/>
        </p:nvSpPr>
        <p:spPr>
          <a:xfrm>
            <a:off x="731520" y="2103120"/>
            <a:ext cx="1920240" cy="1828800"/>
          </a:xfrm>
          <a:prstGeom prst="roundRect">
            <a:avLst/>
          </a:prstGeom>
          <a:solidFill>
            <a:srgbClr val="141832"/>
          </a:solidFill>
          <a:ln w="25400">
            <a:solidFill>
              <a:srgbClr val="009F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286000"/>
            <a:ext cx="1645920" cy="320040"/>
          </a:xfrm>
          <a:prstGeom prst="rect">
            <a:avLst/>
          </a:prstGeom>
          <a:noFill/>
        </p:spPr>
        <p:txBody>
          <a:bodyPr wrap="square">
            <a:spAutoFit/>
          </a:bodyPr>
          <a:lstStyle/>
          <a:p>
            <a:pPr algn="ctr">
              <a:lnSpc>
                <a:spcPts val="1800"/>
              </a:lnSpc>
              <a:spcAft>
                <a:spcPts val="0"/>
              </a:spcAft>
              <a:defRPr sz="1500" b="1">
                <a:solidFill>
                  <a:srgbClr val="009FFD"/>
                </a:solidFill>
                <a:latin typeface="Calibri"/>
              </a:defRPr>
            </a:pPr>
            <a:r>
              <a:t>1. Collection</a:t>
            </a:r>
          </a:p>
        </p:txBody>
      </p:sp>
      <p:sp>
        <p:nvSpPr>
          <p:cNvPr id="9" name="TextBox 8"/>
          <p:cNvSpPr txBox="1"/>
          <p:nvPr/>
        </p:nvSpPr>
        <p:spPr>
          <a:xfrm>
            <a:off x="868680" y="2743200"/>
            <a:ext cx="1645920" cy="1097280"/>
          </a:xfrm>
          <a:prstGeom prst="rect">
            <a:avLst/>
          </a:prstGeom>
          <a:noFill/>
        </p:spPr>
        <p:txBody>
          <a:bodyPr wrap="square">
            <a:spAutoFit/>
          </a:bodyPr>
          <a:lstStyle/>
          <a:p>
            <a:pPr algn="ctr">
              <a:lnSpc>
                <a:spcPts val="1560"/>
              </a:lnSpc>
              <a:spcAft>
                <a:spcPts val="0"/>
              </a:spcAft>
              <a:defRPr sz="1300" b="0">
                <a:solidFill>
                  <a:srgbClr val="CCCCCC"/>
                </a:solidFill>
                <a:latin typeface="Calibri"/>
              </a:defRPr>
            </a:pPr>
            <a:r>
              <a:t>gNMI, gRPC,</a:t>
            </a:r>
            <a:br/>
            <a:r>
              <a:t>INT, NetFlow</a:t>
            </a:r>
          </a:p>
        </p:txBody>
      </p:sp>
      <p:sp>
        <p:nvSpPr>
          <p:cNvPr id="10" name="Right Arrow 9"/>
          <p:cNvSpPr/>
          <p:nvPr/>
        </p:nvSpPr>
        <p:spPr>
          <a:xfrm>
            <a:off x="2651760" y="2880360"/>
            <a:ext cx="228600" cy="274320"/>
          </a:xfrm>
          <a:prstGeom prst="rightArrow">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880360" y="2103120"/>
            <a:ext cx="1920240" cy="1828800"/>
          </a:xfrm>
          <a:prstGeom prst="roundRect">
            <a:avLst/>
          </a:prstGeom>
          <a:solidFill>
            <a:srgbClr val="141832"/>
          </a:solidFill>
          <a:ln w="2540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17520" y="2286000"/>
            <a:ext cx="1645920" cy="320040"/>
          </a:xfrm>
          <a:prstGeom prst="rect">
            <a:avLst/>
          </a:prstGeom>
          <a:noFill/>
        </p:spPr>
        <p:txBody>
          <a:bodyPr wrap="square">
            <a:spAutoFit/>
          </a:bodyPr>
          <a:lstStyle/>
          <a:p>
            <a:pPr algn="ctr">
              <a:lnSpc>
                <a:spcPts val="1800"/>
              </a:lnSpc>
              <a:spcAft>
                <a:spcPts val="0"/>
              </a:spcAft>
              <a:defRPr sz="1500" b="1">
                <a:solidFill>
                  <a:srgbClr val="00B4D8"/>
                </a:solidFill>
                <a:latin typeface="Calibri"/>
              </a:defRPr>
            </a:pPr>
            <a:r>
              <a:t>2. Ingestion</a:t>
            </a:r>
          </a:p>
        </p:txBody>
      </p:sp>
      <p:sp>
        <p:nvSpPr>
          <p:cNvPr id="13" name="TextBox 12"/>
          <p:cNvSpPr txBox="1"/>
          <p:nvPr/>
        </p:nvSpPr>
        <p:spPr>
          <a:xfrm>
            <a:off x="3017520" y="2743200"/>
            <a:ext cx="1645920" cy="1097280"/>
          </a:xfrm>
          <a:prstGeom prst="rect">
            <a:avLst/>
          </a:prstGeom>
          <a:noFill/>
        </p:spPr>
        <p:txBody>
          <a:bodyPr wrap="square">
            <a:spAutoFit/>
          </a:bodyPr>
          <a:lstStyle/>
          <a:p>
            <a:pPr algn="ctr">
              <a:lnSpc>
                <a:spcPts val="1560"/>
              </a:lnSpc>
              <a:spcAft>
                <a:spcPts val="0"/>
              </a:spcAft>
              <a:defRPr sz="1300" b="0">
                <a:solidFill>
                  <a:srgbClr val="CCCCCC"/>
                </a:solidFill>
                <a:latin typeface="Calibri"/>
              </a:defRPr>
            </a:pPr>
            <a:r>
              <a:t>Stream processing</a:t>
            </a:r>
            <a:br/>
            <a:r>
              <a:t>Kafka, Flink</a:t>
            </a:r>
          </a:p>
        </p:txBody>
      </p:sp>
      <p:sp>
        <p:nvSpPr>
          <p:cNvPr id="14" name="Right Arrow 13"/>
          <p:cNvSpPr/>
          <p:nvPr/>
        </p:nvSpPr>
        <p:spPr>
          <a:xfrm>
            <a:off x="4800600" y="2880360"/>
            <a:ext cx="228600" cy="274320"/>
          </a:xfrm>
          <a:prstGeom prst="rightArrow">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029200" y="2103120"/>
            <a:ext cx="1920240" cy="1828800"/>
          </a:xfrm>
          <a:prstGeom prst="roundRect">
            <a:avLst/>
          </a:prstGeom>
          <a:solidFill>
            <a:srgbClr val="141832"/>
          </a:solidFill>
          <a:ln w="25400">
            <a:solidFill>
              <a:srgbClr val="00C9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66360" y="2286000"/>
            <a:ext cx="1645920" cy="320040"/>
          </a:xfrm>
          <a:prstGeom prst="rect">
            <a:avLst/>
          </a:prstGeom>
          <a:noFill/>
        </p:spPr>
        <p:txBody>
          <a:bodyPr wrap="square">
            <a:spAutoFit/>
          </a:bodyPr>
          <a:lstStyle/>
          <a:p>
            <a:pPr algn="ctr">
              <a:lnSpc>
                <a:spcPts val="1800"/>
              </a:lnSpc>
              <a:spcAft>
                <a:spcPts val="0"/>
              </a:spcAft>
              <a:defRPr sz="1500" b="1">
                <a:solidFill>
                  <a:srgbClr val="00C9A7"/>
                </a:solidFill>
                <a:latin typeface="Calibri"/>
              </a:defRPr>
            </a:pPr>
            <a:r>
              <a:t>3. Storage</a:t>
            </a:r>
          </a:p>
        </p:txBody>
      </p:sp>
      <p:sp>
        <p:nvSpPr>
          <p:cNvPr id="17" name="TextBox 16"/>
          <p:cNvSpPr txBox="1"/>
          <p:nvPr/>
        </p:nvSpPr>
        <p:spPr>
          <a:xfrm>
            <a:off x="5166360" y="2743200"/>
            <a:ext cx="1645920" cy="1097280"/>
          </a:xfrm>
          <a:prstGeom prst="rect">
            <a:avLst/>
          </a:prstGeom>
          <a:noFill/>
        </p:spPr>
        <p:txBody>
          <a:bodyPr wrap="square">
            <a:spAutoFit/>
          </a:bodyPr>
          <a:lstStyle/>
          <a:p>
            <a:pPr algn="ctr">
              <a:lnSpc>
                <a:spcPts val="1560"/>
              </a:lnSpc>
              <a:spcAft>
                <a:spcPts val="0"/>
              </a:spcAft>
              <a:defRPr sz="1300" b="0">
                <a:solidFill>
                  <a:srgbClr val="CCCCCC"/>
                </a:solidFill>
                <a:latin typeface="Calibri"/>
              </a:defRPr>
            </a:pPr>
            <a:r>
              <a:t>Time-series DB</a:t>
            </a:r>
            <a:br/>
            <a:r>
              <a:t>Data lakes</a:t>
            </a:r>
          </a:p>
        </p:txBody>
      </p:sp>
      <p:sp>
        <p:nvSpPr>
          <p:cNvPr id="18" name="Right Arrow 17"/>
          <p:cNvSpPr/>
          <p:nvPr/>
        </p:nvSpPr>
        <p:spPr>
          <a:xfrm>
            <a:off x="6949440" y="2880360"/>
            <a:ext cx="228600" cy="274320"/>
          </a:xfrm>
          <a:prstGeom prst="rightArrow">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178040" y="2103120"/>
            <a:ext cx="1920240" cy="1828800"/>
          </a:xfrm>
          <a:prstGeom prst="roundRect">
            <a:avLst/>
          </a:prstGeom>
          <a:solidFill>
            <a:srgbClr val="141832"/>
          </a:solidFill>
          <a:ln w="25400">
            <a:solidFill>
              <a:srgbClr val="845E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0" y="2286000"/>
            <a:ext cx="1645920" cy="320040"/>
          </a:xfrm>
          <a:prstGeom prst="rect">
            <a:avLst/>
          </a:prstGeom>
          <a:noFill/>
        </p:spPr>
        <p:txBody>
          <a:bodyPr wrap="square">
            <a:spAutoFit/>
          </a:bodyPr>
          <a:lstStyle/>
          <a:p>
            <a:pPr algn="ctr">
              <a:lnSpc>
                <a:spcPts val="1800"/>
              </a:lnSpc>
              <a:spcAft>
                <a:spcPts val="0"/>
              </a:spcAft>
              <a:defRPr sz="1500" b="1">
                <a:solidFill>
                  <a:srgbClr val="845EC2"/>
                </a:solidFill>
                <a:latin typeface="Calibri"/>
              </a:defRPr>
            </a:pPr>
            <a:r>
              <a:t>4. ML Analysis</a:t>
            </a:r>
          </a:p>
        </p:txBody>
      </p:sp>
      <p:sp>
        <p:nvSpPr>
          <p:cNvPr id="21" name="TextBox 20"/>
          <p:cNvSpPr txBox="1"/>
          <p:nvPr/>
        </p:nvSpPr>
        <p:spPr>
          <a:xfrm>
            <a:off x="7315200" y="2743200"/>
            <a:ext cx="1645920" cy="1097280"/>
          </a:xfrm>
          <a:prstGeom prst="rect">
            <a:avLst/>
          </a:prstGeom>
          <a:noFill/>
        </p:spPr>
        <p:txBody>
          <a:bodyPr wrap="square">
            <a:spAutoFit/>
          </a:bodyPr>
          <a:lstStyle/>
          <a:p>
            <a:pPr algn="ctr">
              <a:lnSpc>
                <a:spcPts val="1560"/>
              </a:lnSpc>
              <a:spcAft>
                <a:spcPts val="0"/>
              </a:spcAft>
              <a:defRPr sz="1300" b="0">
                <a:solidFill>
                  <a:srgbClr val="CCCCCC"/>
                </a:solidFill>
                <a:latin typeface="Calibri"/>
              </a:defRPr>
            </a:pPr>
            <a:r>
              <a:t>Anomaly detection</a:t>
            </a:r>
            <a:br/>
            <a:r>
              <a:t>Prediction, RL</a:t>
            </a:r>
          </a:p>
        </p:txBody>
      </p:sp>
      <p:sp>
        <p:nvSpPr>
          <p:cNvPr id="22" name="Right Arrow 21"/>
          <p:cNvSpPr/>
          <p:nvPr/>
        </p:nvSpPr>
        <p:spPr>
          <a:xfrm>
            <a:off x="9098280" y="2880360"/>
            <a:ext cx="228600" cy="274320"/>
          </a:xfrm>
          <a:prstGeom prst="rightArrow">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326880" y="2103120"/>
            <a:ext cx="1920240" cy="1828800"/>
          </a:xfrm>
          <a:prstGeom prst="roundRect">
            <a:avLst/>
          </a:prstGeom>
          <a:solidFill>
            <a:srgbClr val="141832"/>
          </a:solidFill>
          <a:ln w="25400">
            <a:solidFill>
              <a:srgbClr val="FF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464040" y="2286000"/>
            <a:ext cx="1645920" cy="320040"/>
          </a:xfrm>
          <a:prstGeom prst="rect">
            <a:avLst/>
          </a:prstGeom>
          <a:noFill/>
        </p:spPr>
        <p:txBody>
          <a:bodyPr wrap="square">
            <a:spAutoFit/>
          </a:bodyPr>
          <a:lstStyle/>
          <a:p>
            <a:pPr algn="ctr">
              <a:lnSpc>
                <a:spcPts val="1800"/>
              </a:lnSpc>
              <a:spcAft>
                <a:spcPts val="0"/>
              </a:spcAft>
              <a:defRPr sz="1500" b="1">
                <a:solidFill>
                  <a:srgbClr val="FF8C00"/>
                </a:solidFill>
                <a:latin typeface="Calibri"/>
              </a:defRPr>
            </a:pPr>
            <a:r>
              <a:t>5. Action</a:t>
            </a:r>
          </a:p>
        </p:txBody>
      </p:sp>
      <p:sp>
        <p:nvSpPr>
          <p:cNvPr id="25" name="TextBox 24"/>
          <p:cNvSpPr txBox="1"/>
          <p:nvPr/>
        </p:nvSpPr>
        <p:spPr>
          <a:xfrm>
            <a:off x="9464040" y="2743200"/>
            <a:ext cx="1645920" cy="1097280"/>
          </a:xfrm>
          <a:prstGeom prst="rect">
            <a:avLst/>
          </a:prstGeom>
          <a:noFill/>
        </p:spPr>
        <p:txBody>
          <a:bodyPr wrap="square">
            <a:spAutoFit/>
          </a:bodyPr>
          <a:lstStyle/>
          <a:p>
            <a:pPr algn="ctr">
              <a:lnSpc>
                <a:spcPts val="1560"/>
              </a:lnSpc>
              <a:spcAft>
                <a:spcPts val="0"/>
              </a:spcAft>
              <a:defRPr sz="1300" b="0">
                <a:solidFill>
                  <a:srgbClr val="CCCCCC"/>
                </a:solidFill>
                <a:latin typeface="Calibri"/>
              </a:defRPr>
            </a:pPr>
            <a:r>
              <a:t>Auto-remediation</a:t>
            </a:r>
            <a:br/>
            <a:r>
              <a:t>Policy updates</a:t>
            </a:r>
          </a:p>
        </p:txBody>
      </p:sp>
      <p:sp>
        <p:nvSpPr>
          <p:cNvPr id="26" name="TextBox 25"/>
          <p:cNvSpPr txBox="1"/>
          <p:nvPr/>
        </p:nvSpPr>
        <p:spPr>
          <a:xfrm>
            <a:off x="731520" y="4389120"/>
            <a:ext cx="10515600" cy="1371600"/>
          </a:xfrm>
          <a:prstGeom prst="rect">
            <a:avLst/>
          </a:prstGeom>
          <a:noFill/>
        </p:spPr>
        <p:txBody>
          <a:bodyPr wrap="square">
            <a:spAutoFit/>
          </a:bodyPr>
          <a:lstStyle/>
          <a:p>
            <a:pPr algn="l">
              <a:lnSpc>
                <a:spcPts val="1959"/>
              </a:lnSpc>
              <a:spcAft>
                <a:spcPts val="0"/>
              </a:spcAft>
              <a:defRPr sz="1400" b="0">
                <a:solidFill>
                  <a:srgbClr val="CCCCCC"/>
                </a:solidFill>
                <a:latin typeface="Calibri"/>
              </a:defRPr>
            </a:pPr>
            <a:r>
              <a:t>Modern telemetry pipelines are evolving from passive data collection to active, ML-driven closed-loop systems. The integration of ML at the analysis stage enables proactive network management — transforming raw telemetry into actionable insights and automated responses in near real-time.</a:t>
            </a:r>
          </a:p>
        </p:txBody>
      </p:sp>
      <p:sp>
        <p:nvSpPr>
          <p:cNvPr id="27" name="TextBox 26"/>
          <p:cNvSpPr txBox="1"/>
          <p:nvPr/>
        </p:nvSpPr>
        <p:spPr>
          <a:xfrm>
            <a:off x="9326880" y="6263640"/>
            <a:ext cx="2743200" cy="457200"/>
          </a:xfrm>
          <a:prstGeom prst="rect">
            <a:avLst/>
          </a:prstGeom>
          <a:noFill/>
        </p:spPr>
        <p:txBody>
          <a:bodyPr wrap="square">
            <a:spAutoFit/>
          </a:bodyPr>
          <a:lstStyle/>
          <a:p>
            <a:pPr algn="r">
              <a:lnSpc>
                <a:spcPts val="1439"/>
              </a:lnSpc>
              <a:spcAft>
                <a:spcPts val="0"/>
              </a:spcAft>
              <a:defRPr sz="1200" b="1">
                <a:solidFill>
                  <a:srgbClr val="00C9A7"/>
                </a:solidFill>
                <a:latin typeface="Calibri"/>
              </a:defRPr>
            </a:pPr>
            <a:r>
              <a:t>Presenter: Esam Mukbil</a:t>
            </a:r>
          </a:p>
        </p:txBody>
      </p:sp>
      <p:sp>
        <p:nvSpPr>
          <p:cNvPr id="28" name="TextBox 27"/>
          <p:cNvSpPr txBox="1"/>
          <p:nvPr/>
        </p:nvSpPr>
        <p:spPr>
          <a:xfrm>
            <a:off x="365760" y="6309360"/>
            <a:ext cx="1371600" cy="365760"/>
          </a:xfrm>
          <a:prstGeom prst="rect">
            <a:avLst/>
          </a:prstGeom>
          <a:noFill/>
        </p:spPr>
        <p:txBody>
          <a:bodyPr wrap="square">
            <a:spAutoFit/>
          </a:bodyPr>
          <a:lstStyle/>
          <a:p>
            <a:pPr algn="l">
              <a:lnSpc>
                <a:spcPts val="1200"/>
              </a:lnSpc>
              <a:spcAft>
                <a:spcPts val="0"/>
              </a:spcAft>
              <a:defRPr sz="1000" b="0">
                <a:solidFill>
                  <a:srgbClr val="999999"/>
                </a:solidFill>
                <a:latin typeface="Calibri"/>
              </a:defRPr>
            </a:pPr>
            <a:r>
              <a:t>12 / 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42E"/>
        </a:solidFill>
        <a:effectLst/>
      </p:bgPr>
    </p:bg>
    <p:spTree>
      <p:nvGrpSpPr>
        <p:cNvPr id="1" name=""/>
        <p:cNvGrpSpPr/>
        <p:nvPr/>
      </p:nvGrpSpPr>
      <p:grpSpPr/>
      <p:sp>
        <p:nvSpPr>
          <p:cNvPr id="2" name="Rectangle 1"/>
          <p:cNvSpPr/>
          <p:nvPr/>
        </p:nvSpPr>
        <p:spPr>
          <a:xfrm>
            <a:off x="0" y="6784848"/>
            <a:ext cx="12191695" cy="73152"/>
          </a:xfrm>
          <a:prstGeom prst="rect">
            <a:avLst/>
          </a:prstGeom>
          <a:solidFill>
            <a:srgbClr val="845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371600"/>
            <a:ext cx="10058400" cy="457200"/>
          </a:xfrm>
          <a:prstGeom prst="rect">
            <a:avLst/>
          </a:prstGeom>
          <a:noFill/>
        </p:spPr>
        <p:txBody>
          <a:bodyPr wrap="square">
            <a:spAutoFit/>
          </a:bodyPr>
          <a:lstStyle/>
          <a:p>
            <a:pPr algn="ctr">
              <a:lnSpc>
                <a:spcPts val="1920"/>
              </a:lnSpc>
              <a:spcAft>
                <a:spcPts val="0"/>
              </a:spcAft>
              <a:defRPr sz="1600" b="1">
                <a:solidFill>
                  <a:srgbClr val="845EC2"/>
                </a:solidFill>
                <a:latin typeface="Calibri"/>
              </a:defRPr>
            </a:pPr>
            <a:r>
              <a:t>PART 3</a:t>
            </a:r>
          </a:p>
        </p:txBody>
      </p:sp>
      <p:sp>
        <p:nvSpPr>
          <p:cNvPr id="4" name="Rectangle 3"/>
          <p:cNvSpPr/>
          <p:nvPr/>
        </p:nvSpPr>
        <p:spPr>
          <a:xfrm>
            <a:off x="0" y="2560320"/>
            <a:ext cx="12191695" cy="1645920"/>
          </a:xfrm>
          <a:prstGeom prst="rect">
            <a:avLst/>
          </a:prstGeom>
          <a:solidFill>
            <a:srgbClr val="1015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058400" cy="1280160"/>
          </a:xfrm>
          <a:prstGeom prst="rect">
            <a:avLst/>
          </a:prstGeom>
          <a:noFill/>
        </p:spPr>
        <p:txBody>
          <a:bodyPr wrap="square">
            <a:spAutoFit/>
          </a:bodyPr>
          <a:lstStyle/>
          <a:p>
            <a:pPr algn="ctr">
              <a:lnSpc>
                <a:spcPts val="4800"/>
              </a:lnSpc>
              <a:spcAft>
                <a:spcPts val="0"/>
              </a:spcAft>
              <a:defRPr sz="4000" b="1">
                <a:solidFill>
                  <a:srgbClr val="845EC2"/>
                </a:solidFill>
                <a:latin typeface="Calibri"/>
              </a:defRPr>
            </a:pPr>
            <a:r>
              <a:t>Industry, Emerging Trends &amp; Conclusion</a:t>
            </a:r>
          </a:p>
        </p:txBody>
      </p:sp>
      <p:sp>
        <p:nvSpPr>
          <p:cNvPr id="6" name="TextBox 5"/>
          <p:cNvSpPr txBox="1"/>
          <p:nvPr/>
        </p:nvSpPr>
        <p:spPr>
          <a:xfrm>
            <a:off x="914400" y="4572000"/>
            <a:ext cx="10058400" cy="457200"/>
          </a:xfrm>
          <a:prstGeom prst="rect">
            <a:avLst/>
          </a:prstGeom>
          <a:noFill/>
        </p:spPr>
        <p:txBody>
          <a:bodyPr wrap="square">
            <a:spAutoFit/>
          </a:bodyPr>
          <a:lstStyle/>
          <a:p>
            <a:pPr algn="ctr">
              <a:lnSpc>
                <a:spcPts val="2400"/>
              </a:lnSpc>
              <a:spcAft>
                <a:spcPts val="0"/>
              </a:spcAft>
              <a:defRPr sz="2000" b="0">
                <a:solidFill>
                  <a:srgbClr val="FFFFFF"/>
                </a:solidFill>
                <a:latin typeface="Calibri"/>
              </a:defRPr>
            </a:pPr>
            <a:r>
              <a:t>Presenter: Hashim Kshim</a:t>
            </a:r>
          </a:p>
        </p:txBody>
      </p:sp>
      <p:sp>
        <p:nvSpPr>
          <p:cNvPr id="7" name="TextBox 6"/>
          <p:cNvSpPr txBox="1"/>
          <p:nvPr/>
        </p:nvSpPr>
        <p:spPr>
          <a:xfrm>
            <a:off x="365760" y="6309360"/>
            <a:ext cx="1371600" cy="365760"/>
          </a:xfrm>
          <a:prstGeom prst="rect">
            <a:avLst/>
          </a:prstGeom>
          <a:noFill/>
        </p:spPr>
        <p:txBody>
          <a:bodyPr wrap="square">
            <a:spAutoFit/>
          </a:bodyPr>
          <a:lstStyle/>
          <a:p>
            <a:pPr algn="l">
              <a:lnSpc>
                <a:spcPts val="1200"/>
              </a:lnSpc>
              <a:spcAft>
                <a:spcPts val="0"/>
              </a:spcAft>
              <a:defRPr sz="1000" b="0">
                <a:solidFill>
                  <a:srgbClr val="999999"/>
                </a:solidFill>
                <a:latin typeface="Calibri"/>
              </a:defRPr>
            </a:pPr>
            <a:r>
              <a:t>13 / 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845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00C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65760"/>
            <a:ext cx="10515600" cy="640080"/>
          </a:xfrm>
          <a:prstGeom prst="rect">
            <a:avLst/>
          </a:prstGeom>
          <a:noFill/>
        </p:spPr>
        <p:txBody>
          <a:bodyPr wrap="square">
            <a:spAutoFit/>
          </a:bodyPr>
          <a:lstStyle/>
          <a:p>
            <a:pPr algn="l">
              <a:lnSpc>
                <a:spcPts val="4320"/>
              </a:lnSpc>
              <a:spcAft>
                <a:spcPts val="0"/>
              </a:spcAft>
              <a:defRPr sz="3600" b="1">
                <a:solidFill>
                  <a:srgbClr val="FFFFFF"/>
                </a:solidFill>
                <a:latin typeface="Calibri"/>
              </a:defRPr>
            </a:pPr>
            <a:r>
              <a:t>Industry: Nokia's Modern Broadband Network Telemetry</a:t>
            </a:r>
          </a:p>
        </p:txBody>
      </p:sp>
      <p:sp>
        <p:nvSpPr>
          <p:cNvPr id="5" name="TextBox 4"/>
          <p:cNvSpPr txBox="1"/>
          <p:nvPr/>
        </p:nvSpPr>
        <p:spPr>
          <a:xfrm>
            <a:off x="731520" y="960120"/>
            <a:ext cx="10515600" cy="411480"/>
          </a:xfrm>
          <a:prstGeom prst="rect">
            <a:avLst/>
          </a:prstGeom>
          <a:noFill/>
        </p:spPr>
        <p:txBody>
          <a:bodyPr wrap="square">
            <a:spAutoFit/>
          </a:bodyPr>
          <a:lstStyle/>
          <a:p>
            <a:pPr algn="l">
              <a:lnSpc>
                <a:spcPts val="2160"/>
              </a:lnSpc>
              <a:spcAft>
                <a:spcPts val="0"/>
              </a:spcAft>
              <a:defRPr sz="1800" b="0">
                <a:solidFill>
                  <a:srgbClr val="CCCCCC"/>
                </a:solidFill>
                <a:latin typeface="Calibri"/>
              </a:defRPr>
            </a:pPr>
            <a:r>
              <a:t>From reactive monitoring to AI-driven network intelligence</a:t>
            </a:r>
          </a:p>
        </p:txBody>
      </p:sp>
      <p:sp>
        <p:nvSpPr>
          <p:cNvPr id="6" name="TextBox 5"/>
          <p:cNvSpPr txBox="1"/>
          <p:nvPr/>
        </p:nvSpPr>
        <p:spPr>
          <a:xfrm>
            <a:off x="9326880" y="6263640"/>
            <a:ext cx="2743200" cy="457200"/>
          </a:xfrm>
          <a:prstGeom prst="rect">
            <a:avLst/>
          </a:prstGeom>
          <a:noFill/>
        </p:spPr>
        <p:txBody>
          <a:bodyPr wrap="square">
            <a:spAutoFit/>
          </a:bodyPr>
          <a:lstStyle/>
          <a:p>
            <a:pPr algn="r">
              <a:lnSpc>
                <a:spcPts val="1439"/>
              </a:lnSpc>
              <a:spcAft>
                <a:spcPts val="0"/>
              </a:spcAft>
              <a:defRPr sz="1200" b="1">
                <a:solidFill>
                  <a:srgbClr val="009FFD"/>
                </a:solidFill>
                <a:latin typeface="Calibri"/>
              </a:defRPr>
            </a:pPr>
            <a:r>
              <a:t>Presenter: Hashim Kshim</a:t>
            </a:r>
          </a:p>
        </p:txBody>
      </p:sp>
      <p:sp>
        <p:nvSpPr>
          <p:cNvPr id="7" name="TextBox 6"/>
          <p:cNvSpPr txBox="1"/>
          <p:nvPr/>
        </p:nvSpPr>
        <p:spPr>
          <a:xfrm>
            <a:off x="731520" y="1554480"/>
            <a:ext cx="5486400" cy="4389120"/>
          </a:xfrm>
          <a:prstGeom prst="rect">
            <a:avLst/>
          </a:prstGeom>
          <a:noFill/>
        </p:spPr>
        <p:txBody>
          <a:bodyPr wrap="square">
            <a:spAutoFit/>
          </a:bodyPr>
          <a:lstStyle/>
          <a:p>
            <a:pPr>
              <a:spcBef>
                <a:spcPts val="200"/>
              </a:spcBef>
              <a:spcAft>
                <a:spcPts val="1000"/>
              </a:spcAft>
              <a:defRPr sz="1500" b="0">
                <a:solidFill>
                  <a:srgbClr val="CCCCCC"/>
                </a:solidFill>
                <a:latin typeface="Calibri"/>
              </a:defRPr>
            </a:pPr>
            <a:r>
              <a:t>Nokia's broadband telemetry platform collects streaming data from millions of endpoints in real time</a:t>
            </a:r>
          </a:p>
          <a:p>
            <a:pPr>
              <a:spcBef>
                <a:spcPts val="200"/>
              </a:spcBef>
              <a:spcAft>
                <a:spcPts val="1000"/>
              </a:spcAft>
              <a:defRPr sz="1500" b="0">
                <a:solidFill>
                  <a:srgbClr val="CCCCCC"/>
                </a:solidFill>
                <a:latin typeface="Calibri"/>
              </a:defRPr>
            </a:pPr>
            <a:r>
              <a:t>Employs ML for predictive maintenance — detecting degrading CPE and fiber links before failures occur</a:t>
            </a:r>
          </a:p>
          <a:p>
            <a:pPr>
              <a:spcBef>
                <a:spcPts val="200"/>
              </a:spcBef>
              <a:spcAft>
                <a:spcPts val="1000"/>
              </a:spcAft>
              <a:defRPr sz="1500" b="0">
                <a:solidFill>
                  <a:srgbClr val="CCCCCC"/>
                </a:solidFill>
                <a:latin typeface="Calibri"/>
              </a:defRPr>
            </a:pPr>
            <a:r>
              <a:t>Automated root-cause analysis reduces mean time to resolution (MTTR) from hours to minutes</a:t>
            </a:r>
          </a:p>
          <a:p>
            <a:pPr>
              <a:spcBef>
                <a:spcPts val="200"/>
              </a:spcBef>
              <a:spcAft>
                <a:spcPts val="1000"/>
              </a:spcAft>
              <a:defRPr sz="1500" b="0">
                <a:solidFill>
                  <a:srgbClr val="CCCCCC"/>
                </a:solidFill>
                <a:latin typeface="Calibri"/>
              </a:defRPr>
            </a:pPr>
            <a:r>
              <a:t>Leverages unsupervised clustering to group similar network behaviors and detect fleet-wide anomalies</a:t>
            </a:r>
          </a:p>
          <a:p>
            <a:pPr>
              <a:spcBef>
                <a:spcPts val="200"/>
              </a:spcBef>
              <a:spcAft>
                <a:spcPts val="1000"/>
              </a:spcAft>
              <a:defRPr sz="1500" b="0">
                <a:solidFill>
                  <a:srgbClr val="CCCCCC"/>
                </a:solidFill>
                <a:latin typeface="Calibri"/>
              </a:defRPr>
            </a:pPr>
            <a:r>
              <a:t>Integration with Nokia AVA platform for AI-as-a-service in telco environments</a:t>
            </a:r>
          </a:p>
        </p:txBody>
      </p:sp>
      <p:sp>
        <p:nvSpPr>
          <p:cNvPr id="8" name="Rounded Rectangle 7"/>
          <p:cNvSpPr/>
          <p:nvPr/>
        </p:nvSpPr>
        <p:spPr>
          <a:xfrm>
            <a:off x="6583680" y="1554480"/>
            <a:ext cx="5120640" cy="3200400"/>
          </a:xfrm>
          <a:prstGeom prst="roundRect">
            <a:avLst/>
          </a:prstGeom>
          <a:solidFill>
            <a:srgbClr val="141832"/>
          </a:solidFill>
          <a:ln w="19050">
            <a:solidFill>
              <a:srgbClr val="845E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0" y="1737360"/>
            <a:ext cx="4572000" cy="365760"/>
          </a:xfrm>
          <a:prstGeom prst="rect">
            <a:avLst/>
          </a:prstGeom>
          <a:noFill/>
        </p:spPr>
        <p:txBody>
          <a:bodyPr wrap="square">
            <a:spAutoFit/>
          </a:bodyPr>
          <a:lstStyle/>
          <a:p>
            <a:pPr algn="l">
              <a:lnSpc>
                <a:spcPts val="1800"/>
              </a:lnSpc>
              <a:spcAft>
                <a:spcPts val="0"/>
              </a:spcAft>
              <a:defRPr sz="1500" b="1">
                <a:solidFill>
                  <a:srgbClr val="845EC2"/>
                </a:solidFill>
                <a:latin typeface="Calibri"/>
              </a:defRPr>
            </a:pPr>
            <a:r>
              <a:t>Nokia's Key ML Capabilities</a:t>
            </a:r>
          </a:p>
        </p:txBody>
      </p:sp>
      <p:sp>
        <p:nvSpPr>
          <p:cNvPr id="10" name="TextBox 9"/>
          <p:cNvSpPr txBox="1"/>
          <p:nvPr/>
        </p:nvSpPr>
        <p:spPr>
          <a:xfrm>
            <a:off x="6858000" y="2194560"/>
            <a:ext cx="4572000" cy="2377440"/>
          </a:xfrm>
          <a:prstGeom prst="rect">
            <a:avLst/>
          </a:prstGeom>
          <a:noFill/>
        </p:spPr>
        <p:txBody>
          <a:bodyPr wrap="square">
            <a:spAutoFit/>
          </a:bodyPr>
          <a:lstStyle/>
          <a:p>
            <a:pPr>
              <a:spcBef>
                <a:spcPts val="200"/>
              </a:spcBef>
              <a:spcAft>
                <a:spcPts val="600"/>
              </a:spcAft>
              <a:defRPr sz="1300" b="0">
                <a:solidFill>
                  <a:srgbClr val="CCCCCC"/>
                </a:solidFill>
                <a:latin typeface="Calibri"/>
              </a:defRPr>
            </a:pPr>
            <a:r>
              <a:t>Predictive maintenance using supervised ML models</a:t>
            </a:r>
          </a:p>
          <a:p>
            <a:pPr>
              <a:spcBef>
                <a:spcPts val="200"/>
              </a:spcBef>
              <a:spcAft>
                <a:spcPts val="600"/>
              </a:spcAft>
              <a:defRPr sz="1300" b="0">
                <a:solidFill>
                  <a:srgbClr val="CCCCCC"/>
                </a:solidFill>
                <a:latin typeface="Calibri"/>
              </a:defRPr>
            </a:pPr>
            <a:r>
              <a:t>Anomaly detection via unsupervised clustering</a:t>
            </a:r>
          </a:p>
          <a:p>
            <a:pPr>
              <a:spcBef>
                <a:spcPts val="200"/>
              </a:spcBef>
              <a:spcAft>
                <a:spcPts val="600"/>
              </a:spcAft>
              <a:defRPr sz="1300" b="0">
                <a:solidFill>
                  <a:srgbClr val="CCCCCC"/>
                </a:solidFill>
                <a:latin typeface="Calibri"/>
              </a:defRPr>
            </a:pPr>
            <a:r>
              <a:t>Customer experience scoring with ensemble models</a:t>
            </a:r>
          </a:p>
          <a:p>
            <a:pPr>
              <a:spcBef>
                <a:spcPts val="200"/>
              </a:spcBef>
              <a:spcAft>
                <a:spcPts val="600"/>
              </a:spcAft>
              <a:defRPr sz="1300" b="0">
                <a:solidFill>
                  <a:srgbClr val="CCCCCC"/>
                </a:solidFill>
                <a:latin typeface="Calibri"/>
              </a:defRPr>
            </a:pPr>
            <a:r>
              <a:t>Network capacity forecasting with time-series DL</a:t>
            </a:r>
          </a:p>
          <a:p>
            <a:pPr>
              <a:spcBef>
                <a:spcPts val="200"/>
              </a:spcBef>
              <a:spcAft>
                <a:spcPts val="600"/>
              </a:spcAft>
              <a:defRPr sz="1300" b="0">
                <a:solidFill>
                  <a:srgbClr val="CCCCCC"/>
                </a:solidFill>
                <a:latin typeface="Calibri"/>
              </a:defRPr>
            </a:pPr>
            <a:r>
              <a:t>Automated incident correlation and root-cause analysis</a:t>
            </a:r>
          </a:p>
        </p:txBody>
      </p:sp>
      <p:sp>
        <p:nvSpPr>
          <p:cNvPr id="11" name="TextBox 10"/>
          <p:cNvSpPr txBox="1"/>
          <p:nvPr/>
        </p:nvSpPr>
        <p:spPr>
          <a:xfrm>
            <a:off x="9326880" y="6263640"/>
            <a:ext cx="2743200" cy="457200"/>
          </a:xfrm>
          <a:prstGeom prst="rect">
            <a:avLst/>
          </a:prstGeom>
          <a:noFill/>
        </p:spPr>
        <p:txBody>
          <a:bodyPr wrap="square">
            <a:spAutoFit/>
          </a:bodyPr>
          <a:lstStyle/>
          <a:p>
            <a:pPr algn="r">
              <a:lnSpc>
                <a:spcPts val="1439"/>
              </a:lnSpc>
              <a:spcAft>
                <a:spcPts val="0"/>
              </a:spcAft>
              <a:defRPr sz="1200" b="1">
                <a:solidFill>
                  <a:srgbClr val="845EC2"/>
                </a:solidFill>
                <a:latin typeface="Calibri"/>
              </a:defRPr>
            </a:pPr>
            <a:r>
              <a:t>Presenter: Hashim Kshim</a:t>
            </a:r>
          </a:p>
        </p:txBody>
      </p:sp>
      <p:sp>
        <p:nvSpPr>
          <p:cNvPr id="12" name="TextBox 11"/>
          <p:cNvSpPr txBox="1"/>
          <p:nvPr/>
        </p:nvSpPr>
        <p:spPr>
          <a:xfrm>
            <a:off x="365760" y="6309360"/>
            <a:ext cx="1371600" cy="365760"/>
          </a:xfrm>
          <a:prstGeom prst="rect">
            <a:avLst/>
          </a:prstGeom>
          <a:noFill/>
        </p:spPr>
        <p:txBody>
          <a:bodyPr wrap="square">
            <a:spAutoFit/>
          </a:bodyPr>
          <a:lstStyle/>
          <a:p>
            <a:pPr algn="l">
              <a:lnSpc>
                <a:spcPts val="1200"/>
              </a:lnSpc>
              <a:spcAft>
                <a:spcPts val="0"/>
              </a:spcAft>
              <a:defRPr sz="1000" b="0">
                <a:solidFill>
                  <a:srgbClr val="999999"/>
                </a:solidFill>
                <a:latin typeface="Calibri"/>
              </a:defRPr>
            </a:pPr>
            <a:r>
              <a:t>14 / 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845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00C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65760"/>
            <a:ext cx="10515600" cy="640080"/>
          </a:xfrm>
          <a:prstGeom prst="rect">
            <a:avLst/>
          </a:prstGeom>
          <a:noFill/>
        </p:spPr>
        <p:txBody>
          <a:bodyPr wrap="square">
            <a:spAutoFit/>
          </a:bodyPr>
          <a:lstStyle/>
          <a:p>
            <a:pPr algn="l">
              <a:lnSpc>
                <a:spcPts val="4320"/>
              </a:lnSpc>
              <a:spcAft>
                <a:spcPts val="0"/>
              </a:spcAft>
              <a:defRPr sz="3600" b="1">
                <a:solidFill>
                  <a:srgbClr val="FFFFFF"/>
                </a:solidFill>
                <a:latin typeface="Calibri"/>
              </a:defRPr>
            </a:pPr>
            <a:r>
              <a:t>Industry: Ericsson's AI-Driven Network Telemetry</a:t>
            </a:r>
          </a:p>
        </p:txBody>
      </p:sp>
      <p:sp>
        <p:nvSpPr>
          <p:cNvPr id="5" name="TextBox 4"/>
          <p:cNvSpPr txBox="1"/>
          <p:nvPr/>
        </p:nvSpPr>
        <p:spPr>
          <a:xfrm>
            <a:off x="731520" y="960120"/>
            <a:ext cx="10515600" cy="411480"/>
          </a:xfrm>
          <a:prstGeom prst="rect">
            <a:avLst/>
          </a:prstGeom>
          <a:noFill/>
        </p:spPr>
        <p:txBody>
          <a:bodyPr wrap="square">
            <a:spAutoFit/>
          </a:bodyPr>
          <a:lstStyle/>
          <a:p>
            <a:pPr algn="l">
              <a:lnSpc>
                <a:spcPts val="2160"/>
              </a:lnSpc>
              <a:spcAft>
                <a:spcPts val="0"/>
              </a:spcAft>
              <a:defRPr sz="1800" b="0">
                <a:solidFill>
                  <a:srgbClr val="CCCCCC"/>
                </a:solidFill>
                <a:latin typeface="Calibri"/>
              </a:defRPr>
            </a:pPr>
            <a:r>
              <a:t>Data mesh architecture and Transport Automation Controller</a:t>
            </a:r>
          </a:p>
        </p:txBody>
      </p:sp>
      <p:sp>
        <p:nvSpPr>
          <p:cNvPr id="6" name="TextBox 5"/>
          <p:cNvSpPr txBox="1"/>
          <p:nvPr/>
        </p:nvSpPr>
        <p:spPr>
          <a:xfrm>
            <a:off x="9326880" y="6263640"/>
            <a:ext cx="2743200" cy="457200"/>
          </a:xfrm>
          <a:prstGeom prst="rect">
            <a:avLst/>
          </a:prstGeom>
          <a:noFill/>
        </p:spPr>
        <p:txBody>
          <a:bodyPr wrap="square">
            <a:spAutoFit/>
          </a:bodyPr>
          <a:lstStyle/>
          <a:p>
            <a:pPr algn="r">
              <a:lnSpc>
                <a:spcPts val="1439"/>
              </a:lnSpc>
              <a:spcAft>
                <a:spcPts val="0"/>
              </a:spcAft>
              <a:defRPr sz="1200" b="1">
                <a:solidFill>
                  <a:srgbClr val="009FFD"/>
                </a:solidFill>
                <a:latin typeface="Calibri"/>
              </a:defRPr>
            </a:pPr>
            <a:r>
              <a:t>Presenter: Hashim Kshim</a:t>
            </a:r>
          </a:p>
        </p:txBody>
      </p:sp>
      <p:sp>
        <p:nvSpPr>
          <p:cNvPr id="7" name="TextBox 6"/>
          <p:cNvSpPr txBox="1"/>
          <p:nvPr/>
        </p:nvSpPr>
        <p:spPr>
          <a:xfrm>
            <a:off x="731520" y="1554480"/>
            <a:ext cx="5029200" cy="365760"/>
          </a:xfrm>
          <a:prstGeom prst="rect">
            <a:avLst/>
          </a:prstGeom>
          <a:noFill/>
        </p:spPr>
        <p:txBody>
          <a:bodyPr wrap="square">
            <a:spAutoFit/>
          </a:bodyPr>
          <a:lstStyle/>
          <a:p>
            <a:pPr algn="l">
              <a:lnSpc>
                <a:spcPts val="2039"/>
              </a:lnSpc>
              <a:spcAft>
                <a:spcPts val="0"/>
              </a:spcAft>
              <a:defRPr sz="1700" b="1">
                <a:solidFill>
                  <a:srgbClr val="845EC2"/>
                </a:solidFill>
                <a:latin typeface="Calibri"/>
              </a:defRPr>
            </a:pPr>
            <a:r>
              <a:t>From Data Mess to AI-Ready Data Mesh</a:t>
            </a:r>
          </a:p>
        </p:txBody>
      </p:sp>
      <p:sp>
        <p:nvSpPr>
          <p:cNvPr id="8" name="TextBox 7"/>
          <p:cNvSpPr txBox="1"/>
          <p:nvPr/>
        </p:nvSpPr>
        <p:spPr>
          <a:xfrm>
            <a:off x="1005840" y="2011680"/>
            <a:ext cx="4754880" cy="320040"/>
          </a:xfrm>
          <a:prstGeom prst="rect">
            <a:avLst/>
          </a:prstGeom>
          <a:noFill/>
        </p:spPr>
        <p:txBody>
          <a:bodyPr wrap="square">
            <a:spAutoFit/>
          </a:bodyPr>
          <a:lstStyle/>
          <a:p>
            <a:pPr algn="l">
              <a:lnSpc>
                <a:spcPts val="1680"/>
              </a:lnSpc>
              <a:spcAft>
                <a:spcPts val="0"/>
              </a:spcAft>
              <a:defRPr sz="1400" b="0">
                <a:solidFill>
                  <a:srgbClr val="CCCCCC"/>
                </a:solidFill>
                <a:latin typeface="Calibri"/>
              </a:defRPr>
            </a:pPr>
            <a:r>
              <a:t>• Ericsson advocates a 'data mesh' approach to telemetry</a:t>
            </a:r>
          </a:p>
        </p:txBody>
      </p:sp>
      <p:sp>
        <p:nvSpPr>
          <p:cNvPr id="9" name="TextBox 8"/>
          <p:cNvSpPr txBox="1"/>
          <p:nvPr/>
        </p:nvSpPr>
        <p:spPr>
          <a:xfrm>
            <a:off x="1005840" y="2331720"/>
            <a:ext cx="4754880" cy="320040"/>
          </a:xfrm>
          <a:prstGeom prst="rect">
            <a:avLst/>
          </a:prstGeom>
          <a:noFill/>
        </p:spPr>
        <p:txBody>
          <a:bodyPr wrap="square">
            <a:spAutoFit/>
          </a:bodyPr>
          <a:lstStyle/>
          <a:p>
            <a:pPr algn="l">
              <a:lnSpc>
                <a:spcPts val="1680"/>
              </a:lnSpc>
              <a:spcAft>
                <a:spcPts val="0"/>
              </a:spcAft>
              <a:defRPr sz="1400" b="0">
                <a:solidFill>
                  <a:srgbClr val="CCCCCC"/>
                </a:solidFill>
                <a:latin typeface="Calibri"/>
              </a:defRPr>
            </a:pPr>
            <a:r>
              <a:t>• Distributed data ownership with domain-specific telemetry pipelines</a:t>
            </a:r>
          </a:p>
        </p:txBody>
      </p:sp>
      <p:sp>
        <p:nvSpPr>
          <p:cNvPr id="10" name="TextBox 9"/>
          <p:cNvSpPr txBox="1"/>
          <p:nvPr/>
        </p:nvSpPr>
        <p:spPr>
          <a:xfrm>
            <a:off x="1005840" y="2651760"/>
            <a:ext cx="4754880" cy="320040"/>
          </a:xfrm>
          <a:prstGeom prst="rect">
            <a:avLst/>
          </a:prstGeom>
          <a:noFill/>
        </p:spPr>
        <p:txBody>
          <a:bodyPr wrap="square">
            <a:spAutoFit/>
          </a:bodyPr>
          <a:lstStyle/>
          <a:p>
            <a:pPr algn="l">
              <a:lnSpc>
                <a:spcPts val="1680"/>
              </a:lnSpc>
              <a:spcAft>
                <a:spcPts val="0"/>
              </a:spcAft>
              <a:defRPr sz="1400" b="0">
                <a:solidFill>
                  <a:srgbClr val="CCCCCC"/>
                </a:solidFill>
                <a:latin typeface="Calibri"/>
              </a:defRPr>
            </a:pPr>
            <a:r>
              <a:t>• Self-serve data infrastructure enabling ML teams across domains</a:t>
            </a:r>
          </a:p>
        </p:txBody>
      </p:sp>
      <p:sp>
        <p:nvSpPr>
          <p:cNvPr id="11" name="TextBox 10"/>
          <p:cNvSpPr txBox="1"/>
          <p:nvPr/>
        </p:nvSpPr>
        <p:spPr>
          <a:xfrm>
            <a:off x="1005840" y="2971800"/>
            <a:ext cx="4754880" cy="320040"/>
          </a:xfrm>
          <a:prstGeom prst="rect">
            <a:avLst/>
          </a:prstGeom>
          <a:noFill/>
        </p:spPr>
        <p:txBody>
          <a:bodyPr wrap="square">
            <a:spAutoFit/>
          </a:bodyPr>
          <a:lstStyle/>
          <a:p>
            <a:pPr algn="l">
              <a:lnSpc>
                <a:spcPts val="1680"/>
              </a:lnSpc>
              <a:spcAft>
                <a:spcPts val="0"/>
              </a:spcAft>
              <a:defRPr sz="1400" b="0">
                <a:solidFill>
                  <a:srgbClr val="CCCCCC"/>
                </a:solidFill>
                <a:latin typeface="Calibri"/>
              </a:defRPr>
            </a:pPr>
            <a:r>
              <a:t>• Focus on data quality, governance, and real-time accessibility</a:t>
            </a:r>
          </a:p>
        </p:txBody>
      </p:sp>
      <p:sp>
        <p:nvSpPr>
          <p:cNvPr id="12" name="TextBox 11"/>
          <p:cNvSpPr txBox="1"/>
          <p:nvPr/>
        </p:nvSpPr>
        <p:spPr>
          <a:xfrm>
            <a:off x="6400800" y="1554480"/>
            <a:ext cx="5029200" cy="365760"/>
          </a:xfrm>
          <a:prstGeom prst="rect">
            <a:avLst/>
          </a:prstGeom>
          <a:noFill/>
        </p:spPr>
        <p:txBody>
          <a:bodyPr wrap="square">
            <a:spAutoFit/>
          </a:bodyPr>
          <a:lstStyle/>
          <a:p>
            <a:pPr algn="l">
              <a:lnSpc>
                <a:spcPts val="2039"/>
              </a:lnSpc>
              <a:spcAft>
                <a:spcPts val="0"/>
              </a:spcAft>
              <a:defRPr sz="1700" b="1">
                <a:solidFill>
                  <a:srgbClr val="845EC2"/>
                </a:solidFill>
                <a:latin typeface="Calibri"/>
              </a:defRPr>
            </a:pPr>
            <a:r>
              <a:t>Transport Automation Controller (TAC)</a:t>
            </a:r>
          </a:p>
        </p:txBody>
      </p:sp>
      <p:sp>
        <p:nvSpPr>
          <p:cNvPr id="13" name="TextBox 12"/>
          <p:cNvSpPr txBox="1"/>
          <p:nvPr/>
        </p:nvSpPr>
        <p:spPr>
          <a:xfrm>
            <a:off x="6675120" y="2011680"/>
            <a:ext cx="4754880" cy="320040"/>
          </a:xfrm>
          <a:prstGeom prst="rect">
            <a:avLst/>
          </a:prstGeom>
          <a:noFill/>
        </p:spPr>
        <p:txBody>
          <a:bodyPr wrap="square">
            <a:spAutoFit/>
          </a:bodyPr>
          <a:lstStyle/>
          <a:p>
            <a:pPr algn="l">
              <a:lnSpc>
                <a:spcPts val="1680"/>
              </a:lnSpc>
              <a:spcAft>
                <a:spcPts val="0"/>
              </a:spcAft>
              <a:defRPr sz="1400" b="0">
                <a:solidFill>
                  <a:srgbClr val="CCCCCC"/>
                </a:solidFill>
                <a:latin typeface="Calibri"/>
              </a:defRPr>
            </a:pPr>
            <a:r>
              <a:t>• AI/ML at the helm of transport network performance visualization</a:t>
            </a:r>
          </a:p>
        </p:txBody>
      </p:sp>
      <p:sp>
        <p:nvSpPr>
          <p:cNvPr id="14" name="TextBox 13"/>
          <p:cNvSpPr txBox="1"/>
          <p:nvPr/>
        </p:nvSpPr>
        <p:spPr>
          <a:xfrm>
            <a:off x="6675120" y="2331720"/>
            <a:ext cx="4754880" cy="320040"/>
          </a:xfrm>
          <a:prstGeom prst="rect">
            <a:avLst/>
          </a:prstGeom>
          <a:noFill/>
        </p:spPr>
        <p:txBody>
          <a:bodyPr wrap="square">
            <a:spAutoFit/>
          </a:bodyPr>
          <a:lstStyle/>
          <a:p>
            <a:pPr algn="l">
              <a:lnSpc>
                <a:spcPts val="1680"/>
              </a:lnSpc>
              <a:spcAft>
                <a:spcPts val="0"/>
              </a:spcAft>
              <a:defRPr sz="1400" b="0">
                <a:solidFill>
                  <a:srgbClr val="CCCCCC"/>
                </a:solidFill>
                <a:latin typeface="Calibri"/>
              </a:defRPr>
            </a:pPr>
            <a:r>
              <a:t>• Automated anomaly detection on KPI time-series data</a:t>
            </a:r>
          </a:p>
        </p:txBody>
      </p:sp>
      <p:sp>
        <p:nvSpPr>
          <p:cNvPr id="15" name="TextBox 14"/>
          <p:cNvSpPr txBox="1"/>
          <p:nvPr/>
        </p:nvSpPr>
        <p:spPr>
          <a:xfrm>
            <a:off x="6675120" y="2651760"/>
            <a:ext cx="4754880" cy="320040"/>
          </a:xfrm>
          <a:prstGeom prst="rect">
            <a:avLst/>
          </a:prstGeom>
          <a:noFill/>
        </p:spPr>
        <p:txBody>
          <a:bodyPr wrap="square">
            <a:spAutoFit/>
          </a:bodyPr>
          <a:lstStyle/>
          <a:p>
            <a:pPr algn="l">
              <a:lnSpc>
                <a:spcPts val="1680"/>
              </a:lnSpc>
              <a:spcAft>
                <a:spcPts val="0"/>
              </a:spcAft>
              <a:defRPr sz="1400" b="0">
                <a:solidFill>
                  <a:srgbClr val="CCCCCC"/>
                </a:solidFill>
                <a:latin typeface="Calibri"/>
              </a:defRPr>
            </a:pPr>
            <a:r>
              <a:t>• Predictive analytics for proactive capacity planning</a:t>
            </a:r>
          </a:p>
        </p:txBody>
      </p:sp>
      <p:sp>
        <p:nvSpPr>
          <p:cNvPr id="16" name="TextBox 15"/>
          <p:cNvSpPr txBox="1"/>
          <p:nvPr/>
        </p:nvSpPr>
        <p:spPr>
          <a:xfrm>
            <a:off x="6675120" y="2971800"/>
            <a:ext cx="4754880" cy="320040"/>
          </a:xfrm>
          <a:prstGeom prst="rect">
            <a:avLst/>
          </a:prstGeom>
          <a:noFill/>
        </p:spPr>
        <p:txBody>
          <a:bodyPr wrap="square">
            <a:spAutoFit/>
          </a:bodyPr>
          <a:lstStyle/>
          <a:p>
            <a:pPr algn="l">
              <a:lnSpc>
                <a:spcPts val="1680"/>
              </a:lnSpc>
              <a:spcAft>
                <a:spcPts val="0"/>
              </a:spcAft>
              <a:defRPr sz="1400" b="0">
                <a:solidFill>
                  <a:srgbClr val="CCCCCC"/>
                </a:solidFill>
                <a:latin typeface="Calibri"/>
              </a:defRPr>
            </a:pPr>
            <a:r>
              <a:t>• Closed-loop automation: detect → diagnose → remediate</a:t>
            </a:r>
          </a:p>
        </p:txBody>
      </p:sp>
      <p:sp>
        <p:nvSpPr>
          <p:cNvPr id="17" name="Rounded Rectangle 16"/>
          <p:cNvSpPr/>
          <p:nvPr/>
        </p:nvSpPr>
        <p:spPr>
          <a:xfrm>
            <a:off x="731520" y="4114800"/>
            <a:ext cx="10698480" cy="1645920"/>
          </a:xfrm>
          <a:prstGeom prst="roundRect">
            <a:avLst/>
          </a:prstGeom>
          <a:solidFill>
            <a:srgbClr val="141832"/>
          </a:solidFill>
          <a:ln w="19050">
            <a:solidFill>
              <a:srgbClr val="845E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4251960"/>
            <a:ext cx="10241280" cy="320040"/>
          </a:xfrm>
          <a:prstGeom prst="rect">
            <a:avLst/>
          </a:prstGeom>
          <a:noFill/>
        </p:spPr>
        <p:txBody>
          <a:bodyPr wrap="square">
            <a:spAutoFit/>
          </a:bodyPr>
          <a:lstStyle/>
          <a:p>
            <a:pPr algn="l">
              <a:lnSpc>
                <a:spcPts val="1800"/>
              </a:lnSpc>
              <a:spcAft>
                <a:spcPts val="0"/>
              </a:spcAft>
              <a:defRPr sz="1500" b="1">
                <a:solidFill>
                  <a:srgbClr val="845EC2"/>
                </a:solidFill>
                <a:latin typeface="Calibri"/>
              </a:defRPr>
            </a:pPr>
            <a:r>
              <a:t>Key Industry Insight</a:t>
            </a:r>
          </a:p>
        </p:txBody>
      </p:sp>
      <p:sp>
        <p:nvSpPr>
          <p:cNvPr id="19" name="TextBox 18"/>
          <p:cNvSpPr txBox="1"/>
          <p:nvPr/>
        </p:nvSpPr>
        <p:spPr>
          <a:xfrm>
            <a:off x="1005840" y="4617720"/>
            <a:ext cx="10241280" cy="914400"/>
          </a:xfrm>
          <a:prstGeom prst="rect">
            <a:avLst/>
          </a:prstGeom>
          <a:noFill/>
        </p:spPr>
        <p:txBody>
          <a:bodyPr wrap="square">
            <a:spAutoFit/>
          </a:bodyPr>
          <a:lstStyle/>
          <a:p>
            <a:pPr algn="l">
              <a:lnSpc>
                <a:spcPts val="1820"/>
              </a:lnSpc>
              <a:spcAft>
                <a:spcPts val="0"/>
              </a:spcAft>
              <a:defRPr sz="1300" b="0">
                <a:solidFill>
                  <a:srgbClr val="CCCCCC"/>
                </a:solidFill>
                <a:latin typeface="Calibri"/>
              </a:defRPr>
            </a:pPr>
            <a:r>
              <a:t>Both Nokia and Ericsson are converging on AI-native telemetry architectures: moving from centralized, rule-based monitoring to distributed, ML-driven systems that can autonomously detect issues, predict failures, and initiate remediation. The data mesh paradigm reflects the industry's recognition that telemetry data management is as critical as the ML models themselves.</a:t>
            </a:r>
          </a:p>
        </p:txBody>
      </p:sp>
      <p:sp>
        <p:nvSpPr>
          <p:cNvPr id="20" name="TextBox 19"/>
          <p:cNvSpPr txBox="1"/>
          <p:nvPr/>
        </p:nvSpPr>
        <p:spPr>
          <a:xfrm>
            <a:off x="9326880" y="6263640"/>
            <a:ext cx="2743200" cy="457200"/>
          </a:xfrm>
          <a:prstGeom prst="rect">
            <a:avLst/>
          </a:prstGeom>
          <a:noFill/>
        </p:spPr>
        <p:txBody>
          <a:bodyPr wrap="square">
            <a:spAutoFit/>
          </a:bodyPr>
          <a:lstStyle/>
          <a:p>
            <a:pPr algn="r">
              <a:lnSpc>
                <a:spcPts val="1439"/>
              </a:lnSpc>
              <a:spcAft>
                <a:spcPts val="0"/>
              </a:spcAft>
              <a:defRPr sz="1200" b="1">
                <a:solidFill>
                  <a:srgbClr val="845EC2"/>
                </a:solidFill>
                <a:latin typeface="Calibri"/>
              </a:defRPr>
            </a:pPr>
            <a:r>
              <a:t>Presenter: Hashim Kshim</a:t>
            </a:r>
          </a:p>
        </p:txBody>
      </p:sp>
      <p:sp>
        <p:nvSpPr>
          <p:cNvPr id="21" name="TextBox 20"/>
          <p:cNvSpPr txBox="1"/>
          <p:nvPr/>
        </p:nvSpPr>
        <p:spPr>
          <a:xfrm>
            <a:off x="365760" y="6309360"/>
            <a:ext cx="1371600" cy="365760"/>
          </a:xfrm>
          <a:prstGeom prst="rect">
            <a:avLst/>
          </a:prstGeom>
          <a:noFill/>
        </p:spPr>
        <p:txBody>
          <a:bodyPr wrap="square">
            <a:spAutoFit/>
          </a:bodyPr>
          <a:lstStyle/>
          <a:p>
            <a:pPr algn="l">
              <a:lnSpc>
                <a:spcPts val="1200"/>
              </a:lnSpc>
              <a:spcAft>
                <a:spcPts val="0"/>
              </a:spcAft>
              <a:defRPr sz="1000" b="0">
                <a:solidFill>
                  <a:srgbClr val="999999"/>
                </a:solidFill>
                <a:latin typeface="Calibri"/>
              </a:defRPr>
            </a:pPr>
            <a:r>
              <a:t>15 / 20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845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00C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65760"/>
            <a:ext cx="10515600" cy="640080"/>
          </a:xfrm>
          <a:prstGeom prst="rect">
            <a:avLst/>
          </a:prstGeom>
          <a:noFill/>
        </p:spPr>
        <p:txBody>
          <a:bodyPr wrap="square">
            <a:spAutoFit/>
          </a:bodyPr>
          <a:lstStyle/>
          <a:p>
            <a:pPr algn="l">
              <a:lnSpc>
                <a:spcPts val="4320"/>
              </a:lnSpc>
              <a:spcAft>
                <a:spcPts val="0"/>
              </a:spcAft>
              <a:defRPr sz="3600" b="1">
                <a:solidFill>
                  <a:srgbClr val="FFFFFF"/>
                </a:solidFill>
                <a:latin typeface="Calibri"/>
              </a:defRPr>
            </a:pPr>
            <a:r>
              <a:t>Emerging Trends: 6G &amp; GenAI for Network Telemetry</a:t>
            </a:r>
          </a:p>
        </p:txBody>
      </p:sp>
      <p:sp>
        <p:nvSpPr>
          <p:cNvPr id="5" name="TextBox 4"/>
          <p:cNvSpPr txBox="1"/>
          <p:nvPr/>
        </p:nvSpPr>
        <p:spPr>
          <a:xfrm>
            <a:off x="731520" y="960120"/>
            <a:ext cx="10515600" cy="411480"/>
          </a:xfrm>
          <a:prstGeom prst="rect">
            <a:avLst/>
          </a:prstGeom>
          <a:noFill/>
        </p:spPr>
        <p:txBody>
          <a:bodyPr wrap="square">
            <a:spAutoFit/>
          </a:bodyPr>
          <a:lstStyle/>
          <a:p>
            <a:pPr algn="l">
              <a:lnSpc>
                <a:spcPts val="2160"/>
              </a:lnSpc>
              <a:spcAft>
                <a:spcPts val="0"/>
              </a:spcAft>
              <a:defRPr sz="1800" b="0">
                <a:solidFill>
                  <a:srgbClr val="CCCCCC"/>
                </a:solidFill>
                <a:latin typeface="Calibri"/>
              </a:defRPr>
            </a:pPr>
            <a:r>
              <a:t>Next-generation technologies reshaping telemetry and network management</a:t>
            </a:r>
          </a:p>
        </p:txBody>
      </p:sp>
      <p:sp>
        <p:nvSpPr>
          <p:cNvPr id="6" name="TextBox 5"/>
          <p:cNvSpPr txBox="1"/>
          <p:nvPr/>
        </p:nvSpPr>
        <p:spPr>
          <a:xfrm>
            <a:off x="9326880" y="6263640"/>
            <a:ext cx="2743200" cy="457200"/>
          </a:xfrm>
          <a:prstGeom prst="rect">
            <a:avLst/>
          </a:prstGeom>
          <a:noFill/>
        </p:spPr>
        <p:txBody>
          <a:bodyPr wrap="square">
            <a:spAutoFit/>
          </a:bodyPr>
          <a:lstStyle/>
          <a:p>
            <a:pPr algn="r">
              <a:lnSpc>
                <a:spcPts val="1439"/>
              </a:lnSpc>
              <a:spcAft>
                <a:spcPts val="0"/>
              </a:spcAft>
              <a:defRPr sz="1200" b="1">
                <a:solidFill>
                  <a:srgbClr val="009FFD"/>
                </a:solidFill>
                <a:latin typeface="Calibri"/>
              </a:defRPr>
            </a:pPr>
            <a:r>
              <a:t>Presenter: Hashim Kshim</a:t>
            </a:r>
          </a:p>
        </p:txBody>
      </p:sp>
      <p:sp>
        <p:nvSpPr>
          <p:cNvPr id="7" name="TextBox 6"/>
          <p:cNvSpPr txBox="1"/>
          <p:nvPr/>
        </p:nvSpPr>
        <p:spPr>
          <a:xfrm>
            <a:off x="731520" y="1554480"/>
            <a:ext cx="10972800" cy="365760"/>
          </a:xfrm>
          <a:prstGeom prst="rect">
            <a:avLst/>
          </a:prstGeom>
          <a:noFill/>
        </p:spPr>
        <p:txBody>
          <a:bodyPr wrap="square">
            <a:spAutoFit/>
          </a:bodyPr>
          <a:lstStyle/>
          <a:p>
            <a:pPr algn="l">
              <a:lnSpc>
                <a:spcPts val="2400"/>
              </a:lnSpc>
              <a:spcAft>
                <a:spcPts val="0"/>
              </a:spcAft>
              <a:defRPr sz="2000" b="1">
                <a:solidFill>
                  <a:srgbClr val="00C9A7"/>
                </a:solidFill>
                <a:latin typeface="Calibri"/>
              </a:defRPr>
            </a:pPr>
            <a:r>
              <a:t>6G &amp; Next-Gen Telemetry</a:t>
            </a:r>
          </a:p>
        </p:txBody>
      </p:sp>
      <p:sp>
        <p:nvSpPr>
          <p:cNvPr id="8" name="TextBox 7"/>
          <p:cNvSpPr txBox="1"/>
          <p:nvPr/>
        </p:nvSpPr>
        <p:spPr>
          <a:xfrm>
            <a:off x="1005840" y="2011680"/>
            <a:ext cx="10515600" cy="365760"/>
          </a:xfrm>
          <a:prstGeom prst="rect">
            <a:avLst/>
          </a:prstGeom>
          <a:noFill/>
        </p:spPr>
        <p:txBody>
          <a:bodyPr wrap="square">
            <a:spAutoFit/>
          </a:bodyPr>
          <a:lstStyle/>
          <a:p>
            <a:pPr algn="l">
              <a:lnSpc>
                <a:spcPts val="1680"/>
              </a:lnSpc>
              <a:spcAft>
                <a:spcPts val="0"/>
              </a:spcAft>
              <a:defRPr sz="1400" b="0">
                <a:solidFill>
                  <a:srgbClr val="CCCCCC"/>
                </a:solidFill>
                <a:latin typeface="Calibri"/>
              </a:defRPr>
            </a:pPr>
            <a:r>
              <a:t>• 6G networks target sub-millisecond latency and Tbps throughput — demanding real-time ML inference at the edge</a:t>
            </a:r>
          </a:p>
        </p:txBody>
      </p:sp>
      <p:sp>
        <p:nvSpPr>
          <p:cNvPr id="9" name="TextBox 8"/>
          <p:cNvSpPr txBox="1"/>
          <p:nvPr/>
        </p:nvSpPr>
        <p:spPr>
          <a:xfrm>
            <a:off x="1005840" y="2359152"/>
            <a:ext cx="10515600" cy="365760"/>
          </a:xfrm>
          <a:prstGeom prst="rect">
            <a:avLst/>
          </a:prstGeom>
          <a:noFill/>
        </p:spPr>
        <p:txBody>
          <a:bodyPr wrap="square">
            <a:spAutoFit/>
          </a:bodyPr>
          <a:lstStyle/>
          <a:p>
            <a:pPr algn="l">
              <a:lnSpc>
                <a:spcPts val="1680"/>
              </a:lnSpc>
              <a:spcAft>
                <a:spcPts val="0"/>
              </a:spcAft>
              <a:defRPr sz="1400" b="0">
                <a:solidFill>
                  <a:srgbClr val="CCCCCC"/>
                </a:solidFill>
                <a:latin typeface="Calibri"/>
              </a:defRPr>
            </a:pPr>
            <a:r>
              <a:t>• Digital twin networks: ML-powered virtual replicas of physical networks for simulation and what-if analysis</a:t>
            </a:r>
          </a:p>
        </p:txBody>
      </p:sp>
      <p:sp>
        <p:nvSpPr>
          <p:cNvPr id="10" name="TextBox 9"/>
          <p:cNvSpPr txBox="1"/>
          <p:nvPr/>
        </p:nvSpPr>
        <p:spPr>
          <a:xfrm>
            <a:off x="1005840" y="2706624"/>
            <a:ext cx="10515600" cy="365760"/>
          </a:xfrm>
          <a:prstGeom prst="rect">
            <a:avLst/>
          </a:prstGeom>
          <a:noFill/>
        </p:spPr>
        <p:txBody>
          <a:bodyPr wrap="square">
            <a:spAutoFit/>
          </a:bodyPr>
          <a:lstStyle/>
          <a:p>
            <a:pPr algn="l">
              <a:lnSpc>
                <a:spcPts val="1680"/>
              </a:lnSpc>
              <a:spcAft>
                <a:spcPts val="0"/>
              </a:spcAft>
              <a:defRPr sz="1400" b="0">
                <a:solidFill>
                  <a:srgbClr val="CCCCCC"/>
                </a:solidFill>
                <a:latin typeface="Calibri"/>
              </a:defRPr>
            </a:pPr>
            <a:r>
              <a:t>• Semantic telemetry: intelligent data reduction at the source — only transmit meaningful changes, not raw streams</a:t>
            </a:r>
          </a:p>
        </p:txBody>
      </p:sp>
      <p:sp>
        <p:nvSpPr>
          <p:cNvPr id="11" name="TextBox 10"/>
          <p:cNvSpPr txBox="1"/>
          <p:nvPr/>
        </p:nvSpPr>
        <p:spPr>
          <a:xfrm>
            <a:off x="1005840" y="3054096"/>
            <a:ext cx="10515600" cy="365760"/>
          </a:xfrm>
          <a:prstGeom prst="rect">
            <a:avLst/>
          </a:prstGeom>
          <a:noFill/>
        </p:spPr>
        <p:txBody>
          <a:bodyPr wrap="square">
            <a:spAutoFit/>
          </a:bodyPr>
          <a:lstStyle/>
          <a:p>
            <a:pPr algn="l">
              <a:lnSpc>
                <a:spcPts val="1680"/>
              </a:lnSpc>
              <a:spcAft>
                <a:spcPts val="0"/>
              </a:spcAft>
              <a:defRPr sz="1400" b="0">
                <a:solidFill>
                  <a:srgbClr val="CCCCCC"/>
                </a:solidFill>
                <a:latin typeface="Calibri"/>
              </a:defRPr>
            </a:pPr>
            <a:r>
              <a:t>• Native AI architecture: 6G standards embed ML as a first-class network function, not an add-on</a:t>
            </a:r>
          </a:p>
        </p:txBody>
      </p:sp>
      <p:sp>
        <p:nvSpPr>
          <p:cNvPr id="12" name="TextBox 11"/>
          <p:cNvSpPr txBox="1"/>
          <p:nvPr/>
        </p:nvSpPr>
        <p:spPr>
          <a:xfrm>
            <a:off x="731520" y="3675888"/>
            <a:ext cx="10972800" cy="365760"/>
          </a:xfrm>
          <a:prstGeom prst="rect">
            <a:avLst/>
          </a:prstGeom>
          <a:noFill/>
        </p:spPr>
        <p:txBody>
          <a:bodyPr wrap="square">
            <a:spAutoFit/>
          </a:bodyPr>
          <a:lstStyle/>
          <a:p>
            <a:pPr algn="l">
              <a:lnSpc>
                <a:spcPts val="2400"/>
              </a:lnSpc>
              <a:spcAft>
                <a:spcPts val="0"/>
              </a:spcAft>
              <a:defRPr sz="2000" b="1">
                <a:solidFill>
                  <a:srgbClr val="FF8C00"/>
                </a:solidFill>
                <a:latin typeface="Calibri"/>
              </a:defRPr>
            </a:pPr>
            <a:r>
              <a:t>Generative AI &amp; LLMs for Telemetry</a:t>
            </a:r>
          </a:p>
        </p:txBody>
      </p:sp>
      <p:sp>
        <p:nvSpPr>
          <p:cNvPr id="13" name="TextBox 12"/>
          <p:cNvSpPr txBox="1"/>
          <p:nvPr/>
        </p:nvSpPr>
        <p:spPr>
          <a:xfrm>
            <a:off x="1005840" y="4133088"/>
            <a:ext cx="10515600" cy="365760"/>
          </a:xfrm>
          <a:prstGeom prst="rect">
            <a:avLst/>
          </a:prstGeom>
          <a:noFill/>
        </p:spPr>
        <p:txBody>
          <a:bodyPr wrap="square">
            <a:spAutoFit/>
          </a:bodyPr>
          <a:lstStyle/>
          <a:p>
            <a:pPr algn="l">
              <a:lnSpc>
                <a:spcPts val="1680"/>
              </a:lnSpc>
              <a:spcAft>
                <a:spcPts val="0"/>
              </a:spcAft>
              <a:defRPr sz="1400" b="0">
                <a:solidFill>
                  <a:srgbClr val="CCCCCC"/>
                </a:solidFill>
                <a:latin typeface="Calibri"/>
              </a:defRPr>
            </a:pPr>
            <a:r>
              <a:t>• LLMs for natural language querying of telemetry data: 'Show me all anomalies in the US-East backbone last week'</a:t>
            </a:r>
          </a:p>
        </p:txBody>
      </p:sp>
      <p:sp>
        <p:nvSpPr>
          <p:cNvPr id="14" name="TextBox 13"/>
          <p:cNvSpPr txBox="1"/>
          <p:nvPr/>
        </p:nvSpPr>
        <p:spPr>
          <a:xfrm>
            <a:off x="1005840" y="4480560"/>
            <a:ext cx="10515600" cy="365760"/>
          </a:xfrm>
          <a:prstGeom prst="rect">
            <a:avLst/>
          </a:prstGeom>
          <a:noFill/>
        </p:spPr>
        <p:txBody>
          <a:bodyPr wrap="square">
            <a:spAutoFit/>
          </a:bodyPr>
          <a:lstStyle/>
          <a:p>
            <a:pPr algn="l">
              <a:lnSpc>
                <a:spcPts val="1680"/>
              </a:lnSpc>
              <a:spcAft>
                <a:spcPts val="0"/>
              </a:spcAft>
              <a:defRPr sz="1400" b="0">
                <a:solidFill>
                  <a:srgbClr val="CCCCCC"/>
                </a:solidFill>
                <a:latin typeface="Calibri"/>
              </a:defRPr>
            </a:pPr>
            <a:r>
              <a:t>• GenAI for synthetic telemetry data generation — augmenting scarce labeled datasets for training</a:t>
            </a:r>
          </a:p>
        </p:txBody>
      </p:sp>
      <p:sp>
        <p:nvSpPr>
          <p:cNvPr id="15" name="TextBox 14"/>
          <p:cNvSpPr txBox="1"/>
          <p:nvPr/>
        </p:nvSpPr>
        <p:spPr>
          <a:xfrm>
            <a:off x="1005840" y="4828032"/>
            <a:ext cx="10515600" cy="365760"/>
          </a:xfrm>
          <a:prstGeom prst="rect">
            <a:avLst/>
          </a:prstGeom>
          <a:noFill/>
        </p:spPr>
        <p:txBody>
          <a:bodyPr wrap="square">
            <a:spAutoFit/>
          </a:bodyPr>
          <a:lstStyle/>
          <a:p>
            <a:pPr algn="l">
              <a:lnSpc>
                <a:spcPts val="1680"/>
              </a:lnSpc>
              <a:spcAft>
                <a:spcPts val="0"/>
              </a:spcAft>
              <a:defRPr sz="1400" b="0">
                <a:solidFill>
                  <a:srgbClr val="CCCCCC"/>
                </a:solidFill>
                <a:latin typeface="Calibri"/>
              </a:defRPr>
            </a:pPr>
            <a:r>
              <a:t>• Automated incident report generation from raw telemetry events</a:t>
            </a:r>
          </a:p>
        </p:txBody>
      </p:sp>
      <p:sp>
        <p:nvSpPr>
          <p:cNvPr id="16" name="TextBox 15"/>
          <p:cNvSpPr txBox="1"/>
          <p:nvPr/>
        </p:nvSpPr>
        <p:spPr>
          <a:xfrm>
            <a:off x="1005840" y="5175504"/>
            <a:ext cx="10515600" cy="365760"/>
          </a:xfrm>
          <a:prstGeom prst="rect">
            <a:avLst/>
          </a:prstGeom>
          <a:noFill/>
        </p:spPr>
        <p:txBody>
          <a:bodyPr wrap="square">
            <a:spAutoFit/>
          </a:bodyPr>
          <a:lstStyle/>
          <a:p>
            <a:pPr algn="l">
              <a:lnSpc>
                <a:spcPts val="1680"/>
              </a:lnSpc>
              <a:spcAft>
                <a:spcPts val="0"/>
              </a:spcAft>
              <a:defRPr sz="1400" b="0">
                <a:solidFill>
                  <a:srgbClr val="CCCCCC"/>
                </a:solidFill>
                <a:latin typeface="Calibri"/>
              </a:defRPr>
            </a:pPr>
            <a:r>
              <a:t>• Foundation models for network data: pre-trained on diverse telemetry, fine-tuned for specific tasks</a:t>
            </a:r>
          </a:p>
        </p:txBody>
      </p:sp>
      <p:sp>
        <p:nvSpPr>
          <p:cNvPr id="17" name="TextBox 16"/>
          <p:cNvSpPr txBox="1"/>
          <p:nvPr/>
        </p:nvSpPr>
        <p:spPr>
          <a:xfrm>
            <a:off x="9326880" y="6263640"/>
            <a:ext cx="2743200" cy="457200"/>
          </a:xfrm>
          <a:prstGeom prst="rect">
            <a:avLst/>
          </a:prstGeom>
          <a:noFill/>
        </p:spPr>
        <p:txBody>
          <a:bodyPr wrap="square">
            <a:spAutoFit/>
          </a:bodyPr>
          <a:lstStyle/>
          <a:p>
            <a:pPr algn="r">
              <a:lnSpc>
                <a:spcPts val="1439"/>
              </a:lnSpc>
              <a:spcAft>
                <a:spcPts val="0"/>
              </a:spcAft>
              <a:defRPr sz="1200" b="1">
                <a:solidFill>
                  <a:srgbClr val="845EC2"/>
                </a:solidFill>
                <a:latin typeface="Calibri"/>
              </a:defRPr>
            </a:pPr>
            <a:r>
              <a:t>Presenter: Hashim Kshim</a:t>
            </a:r>
          </a:p>
        </p:txBody>
      </p:sp>
      <p:sp>
        <p:nvSpPr>
          <p:cNvPr id="18" name="TextBox 17"/>
          <p:cNvSpPr txBox="1"/>
          <p:nvPr/>
        </p:nvSpPr>
        <p:spPr>
          <a:xfrm>
            <a:off x="365760" y="6309360"/>
            <a:ext cx="1371600" cy="365760"/>
          </a:xfrm>
          <a:prstGeom prst="rect">
            <a:avLst/>
          </a:prstGeom>
          <a:noFill/>
        </p:spPr>
        <p:txBody>
          <a:bodyPr wrap="square">
            <a:spAutoFit/>
          </a:bodyPr>
          <a:lstStyle/>
          <a:p>
            <a:pPr algn="l">
              <a:lnSpc>
                <a:spcPts val="1200"/>
              </a:lnSpc>
              <a:spcAft>
                <a:spcPts val="0"/>
              </a:spcAft>
              <a:defRPr sz="1000" b="0">
                <a:solidFill>
                  <a:srgbClr val="999999"/>
                </a:solidFill>
                <a:latin typeface="Calibri"/>
              </a:defRPr>
            </a:pPr>
            <a:r>
              <a:t>16 / 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845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00C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65760"/>
            <a:ext cx="10515600" cy="640080"/>
          </a:xfrm>
          <a:prstGeom prst="rect">
            <a:avLst/>
          </a:prstGeom>
          <a:noFill/>
        </p:spPr>
        <p:txBody>
          <a:bodyPr wrap="square">
            <a:spAutoFit/>
          </a:bodyPr>
          <a:lstStyle/>
          <a:p>
            <a:pPr algn="l">
              <a:lnSpc>
                <a:spcPts val="4320"/>
              </a:lnSpc>
              <a:spcAft>
                <a:spcPts val="0"/>
              </a:spcAft>
              <a:defRPr sz="3600" b="1">
                <a:solidFill>
                  <a:srgbClr val="FFFFFF"/>
                </a:solidFill>
                <a:latin typeface="Calibri"/>
              </a:defRPr>
            </a:pPr>
            <a:r>
              <a:t>Open Challenges &amp; Future Directions</a:t>
            </a:r>
          </a:p>
        </p:txBody>
      </p:sp>
      <p:sp>
        <p:nvSpPr>
          <p:cNvPr id="5" name="TextBox 4"/>
          <p:cNvSpPr txBox="1"/>
          <p:nvPr/>
        </p:nvSpPr>
        <p:spPr>
          <a:xfrm>
            <a:off x="731520" y="960120"/>
            <a:ext cx="10515600" cy="411480"/>
          </a:xfrm>
          <a:prstGeom prst="rect">
            <a:avLst/>
          </a:prstGeom>
          <a:noFill/>
        </p:spPr>
        <p:txBody>
          <a:bodyPr wrap="square">
            <a:spAutoFit/>
          </a:bodyPr>
          <a:lstStyle/>
          <a:p>
            <a:pPr algn="l">
              <a:lnSpc>
                <a:spcPts val="2160"/>
              </a:lnSpc>
              <a:spcAft>
                <a:spcPts val="0"/>
              </a:spcAft>
              <a:defRPr sz="1800" b="0">
                <a:solidFill>
                  <a:srgbClr val="CCCCCC"/>
                </a:solidFill>
                <a:latin typeface="Calibri"/>
              </a:defRPr>
            </a:pPr>
            <a:r>
              <a:t>Key issues that remain unsolved in ML for network telemetry</a:t>
            </a:r>
          </a:p>
        </p:txBody>
      </p:sp>
      <p:sp>
        <p:nvSpPr>
          <p:cNvPr id="6" name="TextBox 5"/>
          <p:cNvSpPr txBox="1"/>
          <p:nvPr/>
        </p:nvSpPr>
        <p:spPr>
          <a:xfrm>
            <a:off x="9326880" y="6263640"/>
            <a:ext cx="2743200" cy="457200"/>
          </a:xfrm>
          <a:prstGeom prst="rect">
            <a:avLst/>
          </a:prstGeom>
          <a:noFill/>
        </p:spPr>
        <p:txBody>
          <a:bodyPr wrap="square">
            <a:spAutoFit/>
          </a:bodyPr>
          <a:lstStyle/>
          <a:p>
            <a:pPr algn="r">
              <a:lnSpc>
                <a:spcPts val="1439"/>
              </a:lnSpc>
              <a:spcAft>
                <a:spcPts val="0"/>
              </a:spcAft>
              <a:defRPr sz="1200" b="1">
                <a:solidFill>
                  <a:srgbClr val="009FFD"/>
                </a:solidFill>
                <a:latin typeface="Calibri"/>
              </a:defRPr>
            </a:pPr>
            <a:r>
              <a:t>Presenter: Hashim Kshim</a:t>
            </a:r>
          </a:p>
        </p:txBody>
      </p:sp>
      <p:sp>
        <p:nvSpPr>
          <p:cNvPr id="7" name="Rounded Rectangle 6"/>
          <p:cNvSpPr/>
          <p:nvPr/>
        </p:nvSpPr>
        <p:spPr>
          <a:xfrm>
            <a:off x="731520" y="1554480"/>
            <a:ext cx="5303520" cy="1325880"/>
          </a:xfrm>
          <a:prstGeom prst="roundRect">
            <a:avLst/>
          </a:prstGeom>
          <a:solidFill>
            <a:srgbClr val="141832"/>
          </a:solidFill>
          <a:ln w="15240">
            <a:solidFill>
              <a:srgbClr val="845E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691640"/>
            <a:ext cx="4937760" cy="320040"/>
          </a:xfrm>
          <a:prstGeom prst="rect">
            <a:avLst/>
          </a:prstGeom>
          <a:noFill/>
        </p:spPr>
        <p:txBody>
          <a:bodyPr wrap="square">
            <a:spAutoFit/>
          </a:bodyPr>
          <a:lstStyle/>
          <a:p>
            <a:pPr algn="l">
              <a:lnSpc>
                <a:spcPts val="1920"/>
              </a:lnSpc>
              <a:spcAft>
                <a:spcPts val="0"/>
              </a:spcAft>
              <a:defRPr sz="1600" b="1">
                <a:solidFill>
                  <a:srgbClr val="845EC2"/>
                </a:solidFill>
                <a:latin typeface="Calibri"/>
              </a:defRPr>
            </a:pPr>
            <a:r>
              <a:t>Data Scarcity &amp; Labeling</a:t>
            </a:r>
          </a:p>
        </p:txBody>
      </p:sp>
      <p:sp>
        <p:nvSpPr>
          <p:cNvPr id="9" name="TextBox 8"/>
          <p:cNvSpPr txBox="1"/>
          <p:nvPr/>
        </p:nvSpPr>
        <p:spPr>
          <a:xfrm>
            <a:off x="914400" y="2057400"/>
            <a:ext cx="4937760" cy="685800"/>
          </a:xfrm>
          <a:prstGeom prst="rect">
            <a:avLst/>
          </a:prstGeom>
          <a:noFill/>
        </p:spPr>
        <p:txBody>
          <a:bodyPr wrap="square">
            <a:spAutoFit/>
          </a:bodyPr>
          <a:lstStyle/>
          <a:p>
            <a:pPr algn="l">
              <a:lnSpc>
                <a:spcPts val="1439"/>
              </a:lnSpc>
              <a:spcAft>
                <a:spcPts val="0"/>
              </a:spcAft>
              <a:defRPr sz="1200" b="0">
                <a:solidFill>
                  <a:srgbClr val="CCCCCC"/>
                </a:solidFill>
                <a:latin typeface="Calibri"/>
              </a:defRPr>
            </a:pPr>
            <a:r>
              <a:t>Labeled anomaly/fault data is rare in production networks. Self-supervised and few-shot learning are active research areas.</a:t>
            </a:r>
          </a:p>
        </p:txBody>
      </p:sp>
      <p:sp>
        <p:nvSpPr>
          <p:cNvPr id="10" name="Rounded Rectangle 9"/>
          <p:cNvSpPr/>
          <p:nvPr/>
        </p:nvSpPr>
        <p:spPr>
          <a:xfrm>
            <a:off x="731520" y="3108960"/>
            <a:ext cx="5303520" cy="1325880"/>
          </a:xfrm>
          <a:prstGeom prst="roundRect">
            <a:avLst/>
          </a:prstGeom>
          <a:solidFill>
            <a:srgbClr val="141832"/>
          </a:solidFill>
          <a:ln w="15240">
            <a:solidFill>
              <a:srgbClr val="845E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246120"/>
            <a:ext cx="4937760" cy="320040"/>
          </a:xfrm>
          <a:prstGeom prst="rect">
            <a:avLst/>
          </a:prstGeom>
          <a:noFill/>
        </p:spPr>
        <p:txBody>
          <a:bodyPr wrap="square">
            <a:spAutoFit/>
          </a:bodyPr>
          <a:lstStyle/>
          <a:p>
            <a:pPr algn="l">
              <a:lnSpc>
                <a:spcPts val="1920"/>
              </a:lnSpc>
              <a:spcAft>
                <a:spcPts val="0"/>
              </a:spcAft>
              <a:defRPr sz="1600" b="1">
                <a:solidFill>
                  <a:srgbClr val="845EC2"/>
                </a:solidFill>
                <a:latin typeface="Calibri"/>
              </a:defRPr>
            </a:pPr>
            <a:r>
              <a:t>Scalability &amp; Real-Time Inference</a:t>
            </a:r>
          </a:p>
        </p:txBody>
      </p:sp>
      <p:sp>
        <p:nvSpPr>
          <p:cNvPr id="12" name="TextBox 11"/>
          <p:cNvSpPr txBox="1"/>
          <p:nvPr/>
        </p:nvSpPr>
        <p:spPr>
          <a:xfrm>
            <a:off x="914400" y="3611880"/>
            <a:ext cx="4937760" cy="685800"/>
          </a:xfrm>
          <a:prstGeom prst="rect">
            <a:avLst/>
          </a:prstGeom>
          <a:noFill/>
        </p:spPr>
        <p:txBody>
          <a:bodyPr wrap="square">
            <a:spAutoFit/>
          </a:bodyPr>
          <a:lstStyle/>
          <a:p>
            <a:pPr algn="l">
              <a:lnSpc>
                <a:spcPts val="1439"/>
              </a:lnSpc>
              <a:spcAft>
                <a:spcPts val="0"/>
              </a:spcAft>
              <a:defRPr sz="1200" b="0">
                <a:solidFill>
                  <a:srgbClr val="CCCCCC"/>
                </a:solidFill>
                <a:latin typeface="Calibri"/>
              </a:defRPr>
            </a:pPr>
            <a:r>
              <a:t>ML models must process millions of telemetry records per second. Edge inference and model compression are essential.</a:t>
            </a:r>
          </a:p>
        </p:txBody>
      </p:sp>
      <p:sp>
        <p:nvSpPr>
          <p:cNvPr id="13" name="Rounded Rectangle 12"/>
          <p:cNvSpPr/>
          <p:nvPr/>
        </p:nvSpPr>
        <p:spPr>
          <a:xfrm>
            <a:off x="731520" y="4663440"/>
            <a:ext cx="5303520" cy="1325880"/>
          </a:xfrm>
          <a:prstGeom prst="roundRect">
            <a:avLst/>
          </a:prstGeom>
          <a:solidFill>
            <a:srgbClr val="141832"/>
          </a:solidFill>
          <a:ln w="15240">
            <a:solidFill>
              <a:srgbClr val="845E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4800600"/>
            <a:ext cx="4937760" cy="320040"/>
          </a:xfrm>
          <a:prstGeom prst="rect">
            <a:avLst/>
          </a:prstGeom>
          <a:noFill/>
        </p:spPr>
        <p:txBody>
          <a:bodyPr wrap="square">
            <a:spAutoFit/>
          </a:bodyPr>
          <a:lstStyle/>
          <a:p>
            <a:pPr algn="l">
              <a:lnSpc>
                <a:spcPts val="1920"/>
              </a:lnSpc>
              <a:spcAft>
                <a:spcPts val="0"/>
              </a:spcAft>
              <a:defRPr sz="1600" b="1">
                <a:solidFill>
                  <a:srgbClr val="845EC2"/>
                </a:solidFill>
                <a:latin typeface="Calibri"/>
              </a:defRPr>
            </a:pPr>
            <a:r>
              <a:t>Explainability &amp; Trust</a:t>
            </a:r>
          </a:p>
        </p:txBody>
      </p:sp>
      <p:sp>
        <p:nvSpPr>
          <p:cNvPr id="15" name="TextBox 14"/>
          <p:cNvSpPr txBox="1"/>
          <p:nvPr/>
        </p:nvSpPr>
        <p:spPr>
          <a:xfrm>
            <a:off x="914400" y="5166360"/>
            <a:ext cx="4937760" cy="685800"/>
          </a:xfrm>
          <a:prstGeom prst="rect">
            <a:avLst/>
          </a:prstGeom>
          <a:noFill/>
        </p:spPr>
        <p:txBody>
          <a:bodyPr wrap="square">
            <a:spAutoFit/>
          </a:bodyPr>
          <a:lstStyle/>
          <a:p>
            <a:pPr algn="l">
              <a:lnSpc>
                <a:spcPts val="1439"/>
              </a:lnSpc>
              <a:spcAft>
                <a:spcPts val="0"/>
              </a:spcAft>
              <a:defRPr sz="1200" b="0">
                <a:solidFill>
                  <a:srgbClr val="CCCCCC"/>
                </a:solidFill>
                <a:latin typeface="Calibri"/>
              </a:defRPr>
            </a:pPr>
            <a:r>
              <a:t>Network operators need to understand why an ML model flagged an anomaly. Black-box models hinder adoption.</a:t>
            </a:r>
          </a:p>
        </p:txBody>
      </p:sp>
      <p:sp>
        <p:nvSpPr>
          <p:cNvPr id="16" name="Rounded Rectangle 15"/>
          <p:cNvSpPr/>
          <p:nvPr/>
        </p:nvSpPr>
        <p:spPr>
          <a:xfrm>
            <a:off x="6492240" y="1554480"/>
            <a:ext cx="5303520" cy="1325880"/>
          </a:xfrm>
          <a:prstGeom prst="roundRect">
            <a:avLst/>
          </a:prstGeom>
          <a:solidFill>
            <a:srgbClr val="141832"/>
          </a:solidFill>
          <a:ln w="15240">
            <a:solidFill>
              <a:srgbClr val="FF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0" y="1691640"/>
            <a:ext cx="4937760" cy="320040"/>
          </a:xfrm>
          <a:prstGeom prst="rect">
            <a:avLst/>
          </a:prstGeom>
          <a:noFill/>
        </p:spPr>
        <p:txBody>
          <a:bodyPr wrap="square">
            <a:spAutoFit/>
          </a:bodyPr>
          <a:lstStyle/>
          <a:p>
            <a:pPr algn="l">
              <a:lnSpc>
                <a:spcPts val="1920"/>
              </a:lnSpc>
              <a:spcAft>
                <a:spcPts val="0"/>
              </a:spcAft>
              <a:defRPr sz="1600" b="1">
                <a:solidFill>
                  <a:srgbClr val="FF8C00"/>
                </a:solidFill>
                <a:latin typeface="Calibri"/>
              </a:defRPr>
            </a:pPr>
            <a:r>
              <a:t>Concept Drift</a:t>
            </a:r>
          </a:p>
        </p:txBody>
      </p:sp>
      <p:sp>
        <p:nvSpPr>
          <p:cNvPr id="18" name="TextBox 17"/>
          <p:cNvSpPr txBox="1"/>
          <p:nvPr/>
        </p:nvSpPr>
        <p:spPr>
          <a:xfrm>
            <a:off x="6675120" y="2057400"/>
            <a:ext cx="4937760" cy="685800"/>
          </a:xfrm>
          <a:prstGeom prst="rect">
            <a:avLst/>
          </a:prstGeom>
          <a:noFill/>
        </p:spPr>
        <p:txBody>
          <a:bodyPr wrap="square">
            <a:spAutoFit/>
          </a:bodyPr>
          <a:lstStyle/>
          <a:p>
            <a:pPr algn="l">
              <a:lnSpc>
                <a:spcPts val="1439"/>
              </a:lnSpc>
              <a:spcAft>
                <a:spcPts val="0"/>
              </a:spcAft>
              <a:defRPr sz="1200" b="0">
                <a:solidFill>
                  <a:srgbClr val="CCCCCC"/>
                </a:solidFill>
                <a:latin typeface="Calibri"/>
              </a:defRPr>
            </a:pPr>
            <a:r>
              <a:t>Network traffic patterns change over time. Models must adapt continuously without catastrophic forgetting.</a:t>
            </a:r>
          </a:p>
        </p:txBody>
      </p:sp>
      <p:sp>
        <p:nvSpPr>
          <p:cNvPr id="19" name="Rounded Rectangle 18"/>
          <p:cNvSpPr/>
          <p:nvPr/>
        </p:nvSpPr>
        <p:spPr>
          <a:xfrm>
            <a:off x="6492240" y="3108960"/>
            <a:ext cx="5303520" cy="1325880"/>
          </a:xfrm>
          <a:prstGeom prst="roundRect">
            <a:avLst/>
          </a:prstGeom>
          <a:solidFill>
            <a:srgbClr val="141832"/>
          </a:solidFill>
          <a:ln w="15240">
            <a:solidFill>
              <a:srgbClr val="FF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75120" y="3246120"/>
            <a:ext cx="4937760" cy="320040"/>
          </a:xfrm>
          <a:prstGeom prst="rect">
            <a:avLst/>
          </a:prstGeom>
          <a:noFill/>
        </p:spPr>
        <p:txBody>
          <a:bodyPr wrap="square">
            <a:spAutoFit/>
          </a:bodyPr>
          <a:lstStyle/>
          <a:p>
            <a:pPr algn="l">
              <a:lnSpc>
                <a:spcPts val="1920"/>
              </a:lnSpc>
              <a:spcAft>
                <a:spcPts val="0"/>
              </a:spcAft>
              <a:defRPr sz="1600" b="1">
                <a:solidFill>
                  <a:srgbClr val="FF8C00"/>
                </a:solidFill>
                <a:latin typeface="Calibri"/>
              </a:defRPr>
            </a:pPr>
            <a:r>
              <a:t>Cross-Domain Generalization</a:t>
            </a:r>
          </a:p>
        </p:txBody>
      </p:sp>
      <p:sp>
        <p:nvSpPr>
          <p:cNvPr id="21" name="TextBox 20"/>
          <p:cNvSpPr txBox="1"/>
          <p:nvPr/>
        </p:nvSpPr>
        <p:spPr>
          <a:xfrm>
            <a:off x="6675120" y="3611880"/>
            <a:ext cx="4937760" cy="685800"/>
          </a:xfrm>
          <a:prstGeom prst="rect">
            <a:avLst/>
          </a:prstGeom>
          <a:noFill/>
        </p:spPr>
        <p:txBody>
          <a:bodyPr wrap="square">
            <a:spAutoFit/>
          </a:bodyPr>
          <a:lstStyle/>
          <a:p>
            <a:pPr algn="l">
              <a:lnSpc>
                <a:spcPts val="1439"/>
              </a:lnSpc>
              <a:spcAft>
                <a:spcPts val="0"/>
              </a:spcAft>
              <a:defRPr sz="1200" b="0">
                <a:solidFill>
                  <a:srgbClr val="CCCCCC"/>
                </a:solidFill>
                <a:latin typeface="Calibri"/>
              </a:defRPr>
            </a:pPr>
            <a:r>
              <a:t>Models trained on one network often fail on another. Domain adaptation and transfer learning need further development.</a:t>
            </a:r>
          </a:p>
        </p:txBody>
      </p:sp>
      <p:sp>
        <p:nvSpPr>
          <p:cNvPr id="22" name="Rounded Rectangle 21"/>
          <p:cNvSpPr/>
          <p:nvPr/>
        </p:nvSpPr>
        <p:spPr>
          <a:xfrm>
            <a:off x="6492240" y="4663440"/>
            <a:ext cx="5303520" cy="1325880"/>
          </a:xfrm>
          <a:prstGeom prst="roundRect">
            <a:avLst/>
          </a:prstGeom>
          <a:solidFill>
            <a:srgbClr val="141832"/>
          </a:solidFill>
          <a:ln w="15240">
            <a:solidFill>
              <a:srgbClr val="FF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0" y="4800600"/>
            <a:ext cx="4937760" cy="320040"/>
          </a:xfrm>
          <a:prstGeom prst="rect">
            <a:avLst/>
          </a:prstGeom>
          <a:noFill/>
        </p:spPr>
        <p:txBody>
          <a:bodyPr wrap="square">
            <a:spAutoFit/>
          </a:bodyPr>
          <a:lstStyle/>
          <a:p>
            <a:pPr algn="l">
              <a:lnSpc>
                <a:spcPts val="1920"/>
              </a:lnSpc>
              <a:spcAft>
                <a:spcPts val="0"/>
              </a:spcAft>
              <a:defRPr sz="1600" b="1">
                <a:solidFill>
                  <a:srgbClr val="FF8C00"/>
                </a:solidFill>
                <a:latin typeface="Calibri"/>
              </a:defRPr>
            </a:pPr>
            <a:r>
              <a:t>Privacy &amp; Security</a:t>
            </a:r>
          </a:p>
        </p:txBody>
      </p:sp>
      <p:sp>
        <p:nvSpPr>
          <p:cNvPr id="24" name="TextBox 23"/>
          <p:cNvSpPr txBox="1"/>
          <p:nvPr/>
        </p:nvSpPr>
        <p:spPr>
          <a:xfrm>
            <a:off x="6675120" y="5166360"/>
            <a:ext cx="4937760" cy="685800"/>
          </a:xfrm>
          <a:prstGeom prst="rect">
            <a:avLst/>
          </a:prstGeom>
          <a:noFill/>
        </p:spPr>
        <p:txBody>
          <a:bodyPr wrap="square">
            <a:spAutoFit/>
          </a:bodyPr>
          <a:lstStyle/>
          <a:p>
            <a:pPr algn="l">
              <a:lnSpc>
                <a:spcPts val="1439"/>
              </a:lnSpc>
              <a:spcAft>
                <a:spcPts val="0"/>
              </a:spcAft>
              <a:defRPr sz="1200" b="0">
                <a:solidFill>
                  <a:srgbClr val="CCCCCC"/>
                </a:solidFill>
                <a:latin typeface="Calibri"/>
              </a:defRPr>
            </a:pPr>
            <a:r>
              <a:t>Telemetry data may contain sensitive information. Federated and differential-privacy-preserving ML are emerging solutions.</a:t>
            </a:r>
          </a:p>
        </p:txBody>
      </p:sp>
      <p:sp>
        <p:nvSpPr>
          <p:cNvPr id="25" name="TextBox 24"/>
          <p:cNvSpPr txBox="1"/>
          <p:nvPr/>
        </p:nvSpPr>
        <p:spPr>
          <a:xfrm>
            <a:off x="9326880" y="6263640"/>
            <a:ext cx="2743200" cy="457200"/>
          </a:xfrm>
          <a:prstGeom prst="rect">
            <a:avLst/>
          </a:prstGeom>
          <a:noFill/>
        </p:spPr>
        <p:txBody>
          <a:bodyPr wrap="square">
            <a:spAutoFit/>
          </a:bodyPr>
          <a:lstStyle/>
          <a:p>
            <a:pPr algn="r">
              <a:lnSpc>
                <a:spcPts val="1439"/>
              </a:lnSpc>
              <a:spcAft>
                <a:spcPts val="0"/>
              </a:spcAft>
              <a:defRPr sz="1200" b="1">
                <a:solidFill>
                  <a:srgbClr val="845EC2"/>
                </a:solidFill>
                <a:latin typeface="Calibri"/>
              </a:defRPr>
            </a:pPr>
            <a:r>
              <a:t>Presenter: Hashim Kshim</a:t>
            </a:r>
          </a:p>
        </p:txBody>
      </p:sp>
      <p:sp>
        <p:nvSpPr>
          <p:cNvPr id="26" name="TextBox 25"/>
          <p:cNvSpPr txBox="1"/>
          <p:nvPr/>
        </p:nvSpPr>
        <p:spPr>
          <a:xfrm>
            <a:off x="365760" y="6309360"/>
            <a:ext cx="1371600" cy="365760"/>
          </a:xfrm>
          <a:prstGeom prst="rect">
            <a:avLst/>
          </a:prstGeom>
          <a:noFill/>
        </p:spPr>
        <p:txBody>
          <a:bodyPr wrap="square">
            <a:spAutoFit/>
          </a:bodyPr>
          <a:lstStyle/>
          <a:p>
            <a:pPr algn="l">
              <a:lnSpc>
                <a:spcPts val="1200"/>
              </a:lnSpc>
              <a:spcAft>
                <a:spcPts val="0"/>
              </a:spcAft>
              <a:defRPr sz="1000" b="0">
                <a:solidFill>
                  <a:srgbClr val="999999"/>
                </a:solidFill>
                <a:latin typeface="Calibri"/>
              </a:defRPr>
            </a:pPr>
            <a:r>
              <a:t>17 / 20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00C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009F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65760"/>
            <a:ext cx="10515600" cy="640080"/>
          </a:xfrm>
          <a:prstGeom prst="rect">
            <a:avLst/>
          </a:prstGeom>
          <a:noFill/>
        </p:spPr>
        <p:txBody>
          <a:bodyPr wrap="square">
            <a:spAutoFit/>
          </a:bodyPr>
          <a:lstStyle/>
          <a:p>
            <a:pPr algn="l">
              <a:lnSpc>
                <a:spcPts val="4320"/>
              </a:lnSpc>
              <a:spcAft>
                <a:spcPts val="0"/>
              </a:spcAft>
              <a:defRPr sz="3600" b="1">
                <a:solidFill>
                  <a:srgbClr val="FFFFFF"/>
                </a:solidFill>
                <a:latin typeface="Calibri"/>
              </a:defRPr>
            </a:pPr>
            <a:r>
              <a:t>Conclusion &amp; Key Takeaways</a:t>
            </a:r>
          </a:p>
        </p:txBody>
      </p:sp>
      <p:sp>
        <p:nvSpPr>
          <p:cNvPr id="5" name="TextBox 4"/>
          <p:cNvSpPr txBox="1"/>
          <p:nvPr/>
        </p:nvSpPr>
        <p:spPr>
          <a:xfrm>
            <a:off x="9326880" y="6263640"/>
            <a:ext cx="2743200" cy="457200"/>
          </a:xfrm>
          <a:prstGeom prst="rect">
            <a:avLst/>
          </a:prstGeom>
          <a:noFill/>
        </p:spPr>
        <p:txBody>
          <a:bodyPr wrap="square">
            <a:spAutoFit/>
          </a:bodyPr>
          <a:lstStyle/>
          <a:p>
            <a:pPr algn="r">
              <a:lnSpc>
                <a:spcPts val="1439"/>
              </a:lnSpc>
              <a:spcAft>
                <a:spcPts val="0"/>
              </a:spcAft>
              <a:defRPr sz="1200" b="1">
                <a:solidFill>
                  <a:srgbClr val="009FFD"/>
                </a:solidFill>
                <a:latin typeface="Calibri"/>
              </a:defRPr>
            </a:pPr>
            <a:r>
              <a:t>Presenter: Hashim Kshim</a:t>
            </a:r>
          </a:p>
        </p:txBody>
      </p:sp>
      <p:sp>
        <p:nvSpPr>
          <p:cNvPr id="6" name="Oval 5"/>
          <p:cNvSpPr/>
          <p:nvPr/>
        </p:nvSpPr>
        <p:spPr>
          <a:xfrm>
            <a:off x="685800" y="1389888"/>
            <a:ext cx="384048" cy="384048"/>
          </a:xfrm>
          <a:prstGeom prst="ellipse">
            <a:avLst/>
          </a:prstGeom>
          <a:solidFill>
            <a:srgbClr val="009F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17320"/>
            <a:ext cx="384048" cy="347472"/>
          </a:xfrm>
          <a:prstGeom prst="rect">
            <a:avLst/>
          </a:prstGeom>
          <a:noFill/>
        </p:spPr>
        <p:txBody>
          <a:bodyPr wrap="square">
            <a:spAutoFit/>
          </a:bodyPr>
          <a:lstStyle/>
          <a:p>
            <a:pPr algn="ctr">
              <a:lnSpc>
                <a:spcPts val="2160"/>
              </a:lnSpc>
              <a:spcAft>
                <a:spcPts val="0"/>
              </a:spcAft>
              <a:defRPr sz="1800" b="1">
                <a:solidFill>
                  <a:srgbClr val="FFFFFF"/>
                </a:solidFill>
                <a:latin typeface="Calibri"/>
              </a:defRPr>
            </a:pPr>
            <a:r>
              <a:t>1</a:t>
            </a:r>
          </a:p>
        </p:txBody>
      </p:sp>
      <p:sp>
        <p:nvSpPr>
          <p:cNvPr id="8" name="TextBox 7"/>
          <p:cNvSpPr txBox="1"/>
          <p:nvPr/>
        </p:nvSpPr>
        <p:spPr>
          <a:xfrm>
            <a:off x="1280160" y="1371600"/>
            <a:ext cx="10515600" cy="320040"/>
          </a:xfrm>
          <a:prstGeom prst="rect">
            <a:avLst/>
          </a:prstGeom>
          <a:noFill/>
        </p:spPr>
        <p:txBody>
          <a:bodyPr wrap="square">
            <a:spAutoFit/>
          </a:bodyPr>
          <a:lstStyle/>
          <a:p>
            <a:pPr algn="l">
              <a:lnSpc>
                <a:spcPts val="2039"/>
              </a:lnSpc>
              <a:spcAft>
                <a:spcPts val="0"/>
              </a:spcAft>
              <a:defRPr sz="1700" b="1">
                <a:solidFill>
                  <a:srgbClr val="009FFD"/>
                </a:solidFill>
                <a:latin typeface="Calibri"/>
              </a:defRPr>
            </a:pPr>
            <a:r>
              <a:t>ML is transforming network telemetry</a:t>
            </a:r>
          </a:p>
        </p:txBody>
      </p:sp>
      <p:sp>
        <p:nvSpPr>
          <p:cNvPr id="9" name="TextBox 8"/>
          <p:cNvSpPr txBox="1"/>
          <p:nvPr/>
        </p:nvSpPr>
        <p:spPr>
          <a:xfrm>
            <a:off x="1280160" y="1719072"/>
            <a:ext cx="10515600" cy="548640"/>
          </a:xfrm>
          <a:prstGeom prst="rect">
            <a:avLst/>
          </a:prstGeom>
          <a:noFill/>
        </p:spPr>
        <p:txBody>
          <a:bodyPr wrap="square">
            <a:spAutoFit/>
          </a:bodyPr>
          <a:lstStyle/>
          <a:p>
            <a:pPr algn="l">
              <a:lnSpc>
                <a:spcPts val="1680"/>
              </a:lnSpc>
              <a:spcAft>
                <a:spcPts val="0"/>
              </a:spcAft>
              <a:defRPr sz="1400" b="0">
                <a:solidFill>
                  <a:srgbClr val="CCCCCC"/>
                </a:solidFill>
                <a:latin typeface="Calibri"/>
              </a:defRPr>
            </a:pPr>
            <a:r>
              <a:t>From passive data collection to intelligent, proactive network management across anomaly detection, performance prediction, and QoS optimization.</a:t>
            </a:r>
          </a:p>
        </p:txBody>
      </p:sp>
      <p:sp>
        <p:nvSpPr>
          <p:cNvPr id="10" name="Oval 9"/>
          <p:cNvSpPr/>
          <p:nvPr/>
        </p:nvSpPr>
        <p:spPr>
          <a:xfrm>
            <a:off x="685800" y="2395728"/>
            <a:ext cx="384048" cy="384048"/>
          </a:xfrm>
          <a:prstGeom prst="ellipse">
            <a:avLst/>
          </a:prstGeom>
          <a:solidFill>
            <a:srgbClr val="00C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423160"/>
            <a:ext cx="384048" cy="347472"/>
          </a:xfrm>
          <a:prstGeom prst="rect">
            <a:avLst/>
          </a:prstGeom>
          <a:noFill/>
        </p:spPr>
        <p:txBody>
          <a:bodyPr wrap="square">
            <a:spAutoFit/>
          </a:bodyPr>
          <a:lstStyle/>
          <a:p>
            <a:pPr algn="ctr">
              <a:lnSpc>
                <a:spcPts val="2160"/>
              </a:lnSpc>
              <a:spcAft>
                <a:spcPts val="0"/>
              </a:spcAft>
              <a:defRPr sz="1800" b="1">
                <a:solidFill>
                  <a:srgbClr val="FFFFFF"/>
                </a:solidFill>
                <a:latin typeface="Calibri"/>
              </a:defRPr>
            </a:pPr>
            <a:r>
              <a:t>2</a:t>
            </a:r>
          </a:p>
        </p:txBody>
      </p:sp>
      <p:sp>
        <p:nvSpPr>
          <p:cNvPr id="12" name="TextBox 11"/>
          <p:cNvSpPr txBox="1"/>
          <p:nvPr/>
        </p:nvSpPr>
        <p:spPr>
          <a:xfrm>
            <a:off x="1280160" y="2377440"/>
            <a:ext cx="10515600" cy="320040"/>
          </a:xfrm>
          <a:prstGeom prst="rect">
            <a:avLst/>
          </a:prstGeom>
          <a:noFill/>
        </p:spPr>
        <p:txBody>
          <a:bodyPr wrap="square">
            <a:spAutoFit/>
          </a:bodyPr>
          <a:lstStyle/>
          <a:p>
            <a:pPr algn="l">
              <a:lnSpc>
                <a:spcPts val="2039"/>
              </a:lnSpc>
              <a:spcAft>
                <a:spcPts val="0"/>
              </a:spcAft>
              <a:defRPr sz="1700" b="1">
                <a:solidFill>
                  <a:srgbClr val="00C9A7"/>
                </a:solidFill>
                <a:latin typeface="Calibri"/>
              </a:defRPr>
            </a:pPr>
            <a:r>
              <a:t>Deep learning leads, but unsupervised methods dominate in practice</a:t>
            </a:r>
          </a:p>
        </p:txBody>
      </p:sp>
      <p:sp>
        <p:nvSpPr>
          <p:cNvPr id="13" name="TextBox 12"/>
          <p:cNvSpPr txBox="1"/>
          <p:nvPr/>
        </p:nvSpPr>
        <p:spPr>
          <a:xfrm>
            <a:off x="1280160" y="2724912"/>
            <a:ext cx="10515600" cy="548640"/>
          </a:xfrm>
          <a:prstGeom prst="rect">
            <a:avLst/>
          </a:prstGeom>
          <a:noFill/>
        </p:spPr>
        <p:txBody>
          <a:bodyPr wrap="square">
            <a:spAutoFit/>
          </a:bodyPr>
          <a:lstStyle/>
          <a:p>
            <a:pPr algn="l">
              <a:lnSpc>
                <a:spcPts val="1680"/>
              </a:lnSpc>
              <a:spcAft>
                <a:spcPts val="0"/>
              </a:spcAft>
              <a:defRPr sz="1400" b="0">
                <a:solidFill>
                  <a:srgbClr val="CCCCCC"/>
                </a:solidFill>
                <a:latin typeface="Calibri"/>
              </a:defRPr>
            </a:pPr>
            <a:r>
              <a:t>Due to the scarcity of labeled data, autoencoders, clustering, and self-supervised methods are most practical for real-world deployment.</a:t>
            </a:r>
          </a:p>
        </p:txBody>
      </p:sp>
      <p:sp>
        <p:nvSpPr>
          <p:cNvPr id="14" name="Oval 13"/>
          <p:cNvSpPr/>
          <p:nvPr/>
        </p:nvSpPr>
        <p:spPr>
          <a:xfrm>
            <a:off x="685800" y="3401568"/>
            <a:ext cx="384048" cy="384048"/>
          </a:xfrm>
          <a:prstGeom prst="ellipse">
            <a:avLst/>
          </a:prstGeom>
          <a:solidFill>
            <a:srgbClr val="845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429000"/>
            <a:ext cx="384048" cy="347472"/>
          </a:xfrm>
          <a:prstGeom prst="rect">
            <a:avLst/>
          </a:prstGeom>
          <a:noFill/>
        </p:spPr>
        <p:txBody>
          <a:bodyPr wrap="square">
            <a:spAutoFit/>
          </a:bodyPr>
          <a:lstStyle/>
          <a:p>
            <a:pPr algn="ctr">
              <a:lnSpc>
                <a:spcPts val="2160"/>
              </a:lnSpc>
              <a:spcAft>
                <a:spcPts val="0"/>
              </a:spcAft>
              <a:defRPr sz="1800" b="1">
                <a:solidFill>
                  <a:srgbClr val="FFFFFF"/>
                </a:solidFill>
                <a:latin typeface="Calibri"/>
              </a:defRPr>
            </a:pPr>
            <a:r>
              <a:t>3</a:t>
            </a:r>
          </a:p>
        </p:txBody>
      </p:sp>
      <p:sp>
        <p:nvSpPr>
          <p:cNvPr id="16" name="TextBox 15"/>
          <p:cNvSpPr txBox="1"/>
          <p:nvPr/>
        </p:nvSpPr>
        <p:spPr>
          <a:xfrm>
            <a:off x="1280160" y="3383280"/>
            <a:ext cx="10515600" cy="320040"/>
          </a:xfrm>
          <a:prstGeom prst="rect">
            <a:avLst/>
          </a:prstGeom>
          <a:noFill/>
        </p:spPr>
        <p:txBody>
          <a:bodyPr wrap="square">
            <a:spAutoFit/>
          </a:bodyPr>
          <a:lstStyle/>
          <a:p>
            <a:pPr algn="l">
              <a:lnSpc>
                <a:spcPts val="2039"/>
              </a:lnSpc>
              <a:spcAft>
                <a:spcPts val="0"/>
              </a:spcAft>
              <a:defRPr sz="1700" b="1">
                <a:solidFill>
                  <a:srgbClr val="845EC2"/>
                </a:solidFill>
                <a:latin typeface="Calibri"/>
              </a:defRPr>
            </a:pPr>
            <a:r>
              <a:t>Industry is moving toward AI-native telemetry</a:t>
            </a:r>
          </a:p>
        </p:txBody>
      </p:sp>
      <p:sp>
        <p:nvSpPr>
          <p:cNvPr id="17" name="TextBox 16"/>
          <p:cNvSpPr txBox="1"/>
          <p:nvPr/>
        </p:nvSpPr>
        <p:spPr>
          <a:xfrm>
            <a:off x="1280160" y="3730752"/>
            <a:ext cx="10515600" cy="548640"/>
          </a:xfrm>
          <a:prstGeom prst="rect">
            <a:avLst/>
          </a:prstGeom>
          <a:noFill/>
        </p:spPr>
        <p:txBody>
          <a:bodyPr wrap="square">
            <a:spAutoFit/>
          </a:bodyPr>
          <a:lstStyle/>
          <a:p>
            <a:pPr algn="l">
              <a:lnSpc>
                <a:spcPts val="1680"/>
              </a:lnSpc>
              <a:spcAft>
                <a:spcPts val="0"/>
              </a:spcAft>
              <a:defRPr sz="1400" b="0">
                <a:solidFill>
                  <a:srgbClr val="CCCCCC"/>
                </a:solidFill>
                <a:latin typeface="Calibri"/>
              </a:defRPr>
            </a:pPr>
            <a:r>
              <a:t>Nokia and Ericsson are building telemetry platforms with embedded ML — autonomous, closed-loop, and data-mesh-driven architectures.</a:t>
            </a:r>
          </a:p>
        </p:txBody>
      </p:sp>
      <p:sp>
        <p:nvSpPr>
          <p:cNvPr id="18" name="Oval 17"/>
          <p:cNvSpPr/>
          <p:nvPr/>
        </p:nvSpPr>
        <p:spPr>
          <a:xfrm>
            <a:off x="685800" y="4407408"/>
            <a:ext cx="384048" cy="384048"/>
          </a:xfrm>
          <a:prstGeom prst="ellipse">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434840"/>
            <a:ext cx="384048" cy="347472"/>
          </a:xfrm>
          <a:prstGeom prst="rect">
            <a:avLst/>
          </a:prstGeom>
          <a:noFill/>
        </p:spPr>
        <p:txBody>
          <a:bodyPr wrap="square">
            <a:spAutoFit/>
          </a:bodyPr>
          <a:lstStyle/>
          <a:p>
            <a:pPr algn="ctr">
              <a:lnSpc>
                <a:spcPts val="2160"/>
              </a:lnSpc>
              <a:spcAft>
                <a:spcPts val="0"/>
              </a:spcAft>
              <a:defRPr sz="1800" b="1">
                <a:solidFill>
                  <a:srgbClr val="FFFFFF"/>
                </a:solidFill>
                <a:latin typeface="Calibri"/>
              </a:defRPr>
            </a:pPr>
            <a:r>
              <a:t>4</a:t>
            </a:r>
          </a:p>
        </p:txBody>
      </p:sp>
      <p:sp>
        <p:nvSpPr>
          <p:cNvPr id="20" name="TextBox 19"/>
          <p:cNvSpPr txBox="1"/>
          <p:nvPr/>
        </p:nvSpPr>
        <p:spPr>
          <a:xfrm>
            <a:off x="1280160" y="4389120"/>
            <a:ext cx="10515600" cy="320040"/>
          </a:xfrm>
          <a:prstGeom prst="rect">
            <a:avLst/>
          </a:prstGeom>
          <a:noFill/>
        </p:spPr>
        <p:txBody>
          <a:bodyPr wrap="square">
            <a:spAutoFit/>
          </a:bodyPr>
          <a:lstStyle/>
          <a:p>
            <a:pPr algn="l">
              <a:lnSpc>
                <a:spcPts val="2039"/>
              </a:lnSpc>
              <a:spcAft>
                <a:spcPts val="0"/>
              </a:spcAft>
              <a:defRPr sz="1700" b="1">
                <a:solidFill>
                  <a:srgbClr val="FF8C00"/>
                </a:solidFill>
                <a:latin typeface="Calibri"/>
              </a:defRPr>
            </a:pPr>
            <a:r>
              <a:t>6G and GenAI will accelerate the transformation</a:t>
            </a:r>
          </a:p>
        </p:txBody>
      </p:sp>
      <p:sp>
        <p:nvSpPr>
          <p:cNvPr id="21" name="TextBox 20"/>
          <p:cNvSpPr txBox="1"/>
          <p:nvPr/>
        </p:nvSpPr>
        <p:spPr>
          <a:xfrm>
            <a:off x="1280160" y="4736592"/>
            <a:ext cx="10515600" cy="548640"/>
          </a:xfrm>
          <a:prstGeom prst="rect">
            <a:avLst/>
          </a:prstGeom>
          <a:noFill/>
        </p:spPr>
        <p:txBody>
          <a:bodyPr wrap="square">
            <a:spAutoFit/>
          </a:bodyPr>
          <a:lstStyle/>
          <a:p>
            <a:pPr algn="l">
              <a:lnSpc>
                <a:spcPts val="1680"/>
              </a:lnSpc>
              <a:spcAft>
                <a:spcPts val="0"/>
              </a:spcAft>
              <a:defRPr sz="1400" b="0">
                <a:solidFill>
                  <a:srgbClr val="CCCCCC"/>
                </a:solidFill>
                <a:latin typeface="Calibri"/>
              </a:defRPr>
            </a:pPr>
            <a:r>
              <a:t>Next-generation networks will require ML as a native function, while LLMs promise to democratize telemetry analysis through natural language interfaces.</a:t>
            </a:r>
          </a:p>
        </p:txBody>
      </p:sp>
      <p:sp>
        <p:nvSpPr>
          <p:cNvPr id="22" name="Oval 21"/>
          <p:cNvSpPr/>
          <p:nvPr/>
        </p:nvSpPr>
        <p:spPr>
          <a:xfrm>
            <a:off x="685800" y="5413248"/>
            <a:ext cx="384048" cy="384048"/>
          </a:xfrm>
          <a:prstGeom prst="ellipse">
            <a:avLst/>
          </a:prstGeom>
          <a:solidFill>
            <a:srgbClr val="E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440680"/>
            <a:ext cx="384048" cy="347472"/>
          </a:xfrm>
          <a:prstGeom prst="rect">
            <a:avLst/>
          </a:prstGeom>
          <a:noFill/>
        </p:spPr>
        <p:txBody>
          <a:bodyPr wrap="square">
            <a:spAutoFit/>
          </a:bodyPr>
          <a:lstStyle/>
          <a:p>
            <a:pPr algn="ctr">
              <a:lnSpc>
                <a:spcPts val="2160"/>
              </a:lnSpc>
              <a:spcAft>
                <a:spcPts val="0"/>
              </a:spcAft>
              <a:defRPr sz="1800" b="1">
                <a:solidFill>
                  <a:srgbClr val="FFFFFF"/>
                </a:solidFill>
                <a:latin typeface="Calibri"/>
              </a:defRPr>
            </a:pPr>
            <a:r>
              <a:t>5</a:t>
            </a:r>
          </a:p>
        </p:txBody>
      </p:sp>
      <p:sp>
        <p:nvSpPr>
          <p:cNvPr id="24" name="TextBox 23"/>
          <p:cNvSpPr txBox="1"/>
          <p:nvPr/>
        </p:nvSpPr>
        <p:spPr>
          <a:xfrm>
            <a:off x="1280160" y="5394960"/>
            <a:ext cx="10515600" cy="320040"/>
          </a:xfrm>
          <a:prstGeom prst="rect">
            <a:avLst/>
          </a:prstGeom>
          <a:noFill/>
        </p:spPr>
        <p:txBody>
          <a:bodyPr wrap="square">
            <a:spAutoFit/>
          </a:bodyPr>
          <a:lstStyle/>
          <a:p>
            <a:pPr algn="l">
              <a:lnSpc>
                <a:spcPts val="2039"/>
              </a:lnSpc>
              <a:spcAft>
                <a:spcPts val="0"/>
              </a:spcAft>
              <a:defRPr sz="1700" b="1">
                <a:solidFill>
                  <a:srgbClr val="E04040"/>
                </a:solidFill>
                <a:latin typeface="Calibri"/>
              </a:defRPr>
            </a:pPr>
            <a:r>
              <a:t>Key challenges remain: scalability, explainability, and generalization</a:t>
            </a:r>
          </a:p>
        </p:txBody>
      </p:sp>
      <p:sp>
        <p:nvSpPr>
          <p:cNvPr id="25" name="TextBox 24"/>
          <p:cNvSpPr txBox="1"/>
          <p:nvPr/>
        </p:nvSpPr>
        <p:spPr>
          <a:xfrm>
            <a:off x="1280160" y="5742432"/>
            <a:ext cx="10515600" cy="548640"/>
          </a:xfrm>
          <a:prstGeom prst="rect">
            <a:avLst/>
          </a:prstGeom>
          <a:noFill/>
        </p:spPr>
        <p:txBody>
          <a:bodyPr wrap="square">
            <a:spAutoFit/>
          </a:bodyPr>
          <a:lstStyle/>
          <a:p>
            <a:pPr algn="l">
              <a:lnSpc>
                <a:spcPts val="1680"/>
              </a:lnSpc>
              <a:spcAft>
                <a:spcPts val="0"/>
              </a:spcAft>
              <a:defRPr sz="1400" b="0">
                <a:solidFill>
                  <a:srgbClr val="CCCCCC"/>
                </a:solidFill>
                <a:latin typeface="Calibri"/>
              </a:defRPr>
            </a:pPr>
            <a:r>
              <a:t>Real-world adoption requires solving data scarcity, concept drift, real-time inference, and cross-domain transfer.</a:t>
            </a:r>
          </a:p>
        </p:txBody>
      </p:sp>
      <p:sp>
        <p:nvSpPr>
          <p:cNvPr id="26" name="TextBox 25"/>
          <p:cNvSpPr txBox="1"/>
          <p:nvPr/>
        </p:nvSpPr>
        <p:spPr>
          <a:xfrm>
            <a:off x="9326880" y="6263640"/>
            <a:ext cx="2743200" cy="457200"/>
          </a:xfrm>
          <a:prstGeom prst="rect">
            <a:avLst/>
          </a:prstGeom>
          <a:noFill/>
        </p:spPr>
        <p:txBody>
          <a:bodyPr wrap="square">
            <a:spAutoFit/>
          </a:bodyPr>
          <a:lstStyle/>
          <a:p>
            <a:pPr algn="r">
              <a:lnSpc>
                <a:spcPts val="1439"/>
              </a:lnSpc>
              <a:spcAft>
                <a:spcPts val="0"/>
              </a:spcAft>
              <a:defRPr sz="1200" b="1">
                <a:solidFill>
                  <a:srgbClr val="845EC2"/>
                </a:solidFill>
                <a:latin typeface="Calibri"/>
              </a:defRPr>
            </a:pPr>
            <a:r>
              <a:t>Presenter: Hashim Kshim</a:t>
            </a:r>
          </a:p>
        </p:txBody>
      </p:sp>
      <p:sp>
        <p:nvSpPr>
          <p:cNvPr id="27" name="TextBox 26"/>
          <p:cNvSpPr txBox="1"/>
          <p:nvPr/>
        </p:nvSpPr>
        <p:spPr>
          <a:xfrm>
            <a:off x="365760" y="6309360"/>
            <a:ext cx="1371600" cy="365760"/>
          </a:xfrm>
          <a:prstGeom prst="rect">
            <a:avLst/>
          </a:prstGeom>
          <a:noFill/>
        </p:spPr>
        <p:txBody>
          <a:bodyPr wrap="square">
            <a:spAutoFit/>
          </a:bodyPr>
          <a:lstStyle/>
          <a:p>
            <a:pPr algn="l">
              <a:lnSpc>
                <a:spcPts val="1200"/>
              </a:lnSpc>
              <a:spcAft>
                <a:spcPts val="0"/>
              </a:spcAft>
              <a:defRPr sz="1000" b="0">
                <a:solidFill>
                  <a:srgbClr val="999999"/>
                </a:solidFill>
                <a:latin typeface="Calibri"/>
              </a:defRPr>
            </a:pPr>
            <a:r>
              <a:t>18 / 20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F142E"/>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009F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00C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828800"/>
            <a:ext cx="9418320" cy="914400"/>
          </a:xfrm>
          <a:prstGeom prst="rect">
            <a:avLst/>
          </a:prstGeom>
          <a:noFill/>
        </p:spPr>
        <p:txBody>
          <a:bodyPr wrap="square">
            <a:spAutoFit/>
          </a:bodyPr>
          <a:lstStyle/>
          <a:p>
            <a:pPr algn="ctr">
              <a:lnSpc>
                <a:spcPts val="6240"/>
              </a:lnSpc>
              <a:spcAft>
                <a:spcPts val="0"/>
              </a:spcAft>
              <a:defRPr sz="5200" b="1">
                <a:solidFill>
                  <a:srgbClr val="FFFFFF"/>
                </a:solidFill>
                <a:latin typeface="Calibri"/>
              </a:defRPr>
            </a:pPr>
            <a:r>
              <a:t>Thank You!</a:t>
            </a:r>
          </a:p>
        </p:txBody>
      </p:sp>
      <p:sp>
        <p:nvSpPr>
          <p:cNvPr id="5" name="TextBox 4"/>
          <p:cNvSpPr txBox="1"/>
          <p:nvPr/>
        </p:nvSpPr>
        <p:spPr>
          <a:xfrm>
            <a:off x="1371600" y="2926080"/>
            <a:ext cx="9418320" cy="640080"/>
          </a:xfrm>
          <a:prstGeom prst="rect">
            <a:avLst/>
          </a:prstGeom>
          <a:noFill/>
        </p:spPr>
        <p:txBody>
          <a:bodyPr wrap="square">
            <a:spAutoFit/>
          </a:bodyPr>
          <a:lstStyle/>
          <a:p>
            <a:pPr algn="ctr">
              <a:lnSpc>
                <a:spcPts val="3600"/>
              </a:lnSpc>
              <a:spcAft>
                <a:spcPts val="0"/>
              </a:spcAft>
              <a:defRPr sz="3000" b="0">
                <a:solidFill>
                  <a:srgbClr val="00C9A7"/>
                </a:solidFill>
                <a:latin typeface="Calibri"/>
              </a:defRPr>
            </a:pPr>
            <a:r>
              <a:t>Questions &amp; Discussion</a:t>
            </a:r>
          </a:p>
        </p:txBody>
      </p:sp>
      <p:sp>
        <p:nvSpPr>
          <p:cNvPr id="6" name="Rectangle 5"/>
          <p:cNvSpPr/>
          <p:nvPr/>
        </p:nvSpPr>
        <p:spPr>
          <a:xfrm>
            <a:off x="4114800" y="3749039"/>
            <a:ext cx="3931920" cy="36576"/>
          </a:xfrm>
          <a:prstGeom prst="rect">
            <a:avLst/>
          </a:prstGeom>
          <a:solidFill>
            <a:srgbClr val="009F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4114800"/>
            <a:ext cx="9418320" cy="457200"/>
          </a:xfrm>
          <a:prstGeom prst="rect">
            <a:avLst/>
          </a:prstGeom>
          <a:noFill/>
        </p:spPr>
        <p:txBody>
          <a:bodyPr wrap="square">
            <a:spAutoFit/>
          </a:bodyPr>
          <a:lstStyle/>
          <a:p>
            <a:pPr algn="ctr">
              <a:lnSpc>
                <a:spcPts val="2400"/>
              </a:lnSpc>
              <a:spcAft>
                <a:spcPts val="0"/>
              </a:spcAft>
              <a:defRPr sz="2000" b="1">
                <a:solidFill>
                  <a:srgbClr val="FFFFFF"/>
                </a:solidFill>
                <a:latin typeface="Calibri"/>
              </a:defRPr>
            </a:pPr>
            <a:r>
              <a:t>Abdul Rehman    |    Esam Mukbil    |    Hashim Kshim</a:t>
            </a:r>
          </a:p>
        </p:txBody>
      </p:sp>
      <p:sp>
        <p:nvSpPr>
          <p:cNvPr id="8" name="TextBox 7"/>
          <p:cNvSpPr txBox="1"/>
          <p:nvPr/>
        </p:nvSpPr>
        <p:spPr>
          <a:xfrm>
            <a:off x="1371600" y="4754880"/>
            <a:ext cx="9418320" cy="457200"/>
          </a:xfrm>
          <a:prstGeom prst="rect">
            <a:avLst/>
          </a:prstGeom>
          <a:noFill/>
        </p:spPr>
        <p:txBody>
          <a:bodyPr wrap="square">
            <a:spAutoFit/>
          </a:bodyPr>
          <a:lstStyle/>
          <a:p>
            <a:pPr algn="ctr">
              <a:lnSpc>
                <a:spcPts val="1920"/>
              </a:lnSpc>
              <a:spcAft>
                <a:spcPts val="0"/>
              </a:spcAft>
              <a:defRPr sz="1600" b="0">
                <a:solidFill>
                  <a:srgbClr val="999999"/>
                </a:solidFill>
                <a:latin typeface="Calibri"/>
              </a:defRPr>
            </a:pPr>
            <a:r>
              <a:t>NET3006A — Machine Learning for Network Telemetry</a:t>
            </a:r>
          </a:p>
        </p:txBody>
      </p:sp>
      <p:sp>
        <p:nvSpPr>
          <p:cNvPr id="9" name="TextBox 8"/>
          <p:cNvSpPr txBox="1"/>
          <p:nvPr/>
        </p:nvSpPr>
        <p:spPr>
          <a:xfrm>
            <a:off x="365760" y="6309360"/>
            <a:ext cx="1371600" cy="365760"/>
          </a:xfrm>
          <a:prstGeom prst="rect">
            <a:avLst/>
          </a:prstGeom>
          <a:noFill/>
        </p:spPr>
        <p:txBody>
          <a:bodyPr wrap="square">
            <a:spAutoFit/>
          </a:bodyPr>
          <a:lstStyle/>
          <a:p>
            <a:pPr algn="l">
              <a:lnSpc>
                <a:spcPts val="1200"/>
              </a:lnSpc>
              <a:spcAft>
                <a:spcPts val="0"/>
              </a:spcAft>
              <a:defRPr sz="1000" b="0">
                <a:solidFill>
                  <a:srgbClr val="999999"/>
                </a:solidFill>
                <a:latin typeface="Calibri"/>
              </a:defRPr>
            </a:pPr>
            <a:r>
              <a:t>19 / 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sp>
        <p:nvSpPr>
          <p:cNvPr id="2" name="Rectangle 1"/>
          <p:cNvSpPr/>
          <p:nvPr/>
        </p:nvSpPr>
        <p:spPr>
          <a:xfrm>
            <a:off x="0" y="0"/>
            <a:ext cx="137160" cy="6858000"/>
          </a:xfrm>
          <a:prstGeom prst="rect">
            <a:avLst/>
          </a:prstGeom>
          <a:solidFill>
            <a:srgbClr val="009F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00C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65760"/>
            <a:ext cx="10515600" cy="640080"/>
          </a:xfrm>
          <a:prstGeom prst="rect">
            <a:avLst/>
          </a:prstGeom>
          <a:noFill/>
        </p:spPr>
        <p:txBody>
          <a:bodyPr wrap="square">
            <a:spAutoFit/>
          </a:bodyPr>
          <a:lstStyle/>
          <a:p>
            <a:pPr algn="l">
              <a:lnSpc>
                <a:spcPts val="4320"/>
              </a:lnSpc>
              <a:spcAft>
                <a:spcPts val="0"/>
              </a:spcAft>
              <a:defRPr sz="3600" b="1">
                <a:solidFill>
                  <a:srgbClr val="FFFFFF"/>
                </a:solidFill>
                <a:latin typeface="Calibri"/>
              </a:defRPr>
            </a:pPr>
            <a:r>
              <a:t>References</a:t>
            </a:r>
          </a:p>
        </p:txBody>
      </p:sp>
      <p:sp>
        <p:nvSpPr>
          <p:cNvPr id="5" name="TextBox 4"/>
          <p:cNvSpPr txBox="1"/>
          <p:nvPr/>
        </p:nvSpPr>
        <p:spPr>
          <a:xfrm>
            <a:off x="9326880" y="6263640"/>
            <a:ext cx="2743200" cy="457200"/>
          </a:xfrm>
          <a:prstGeom prst="rect">
            <a:avLst/>
          </a:prstGeom>
          <a:noFill/>
        </p:spPr>
        <p:txBody>
          <a:bodyPr wrap="square">
            <a:spAutoFit/>
          </a:bodyPr>
          <a:lstStyle/>
          <a:p>
            <a:pPr algn="r">
              <a:lnSpc>
                <a:spcPts val="1439"/>
              </a:lnSpc>
              <a:spcAft>
                <a:spcPts val="0"/>
              </a:spcAft>
              <a:defRPr sz="1200" b="1">
                <a:solidFill>
                  <a:srgbClr val="009FFD"/>
                </a:solidFill>
                <a:latin typeface="Calibri"/>
              </a:defRPr>
            </a:pPr>
            <a:r>
              <a:t>Presenter: All Members</a:t>
            </a:r>
          </a:p>
        </p:txBody>
      </p:sp>
      <p:sp>
        <p:nvSpPr>
          <p:cNvPr id="6" name="TextBox 5"/>
          <p:cNvSpPr txBox="1"/>
          <p:nvPr/>
        </p:nvSpPr>
        <p:spPr>
          <a:xfrm>
            <a:off x="548640" y="1188720"/>
            <a:ext cx="11064240" cy="5303520"/>
          </a:xfrm>
          <a:prstGeom prst="rect">
            <a:avLst/>
          </a:prstGeom>
          <a:noFill/>
        </p:spPr>
        <p:txBody>
          <a:bodyPr wrap="square">
            <a:spAutoFit/>
          </a:bodyPr>
          <a:lstStyle/>
          <a:p>
            <a:pPr>
              <a:spcBef>
                <a:spcPts val="100"/>
              </a:spcBef>
              <a:spcAft>
                <a:spcPts val="400"/>
              </a:spcAft>
              <a:defRPr sz="1100">
                <a:solidFill>
                  <a:srgbClr val="CCCCCC"/>
                </a:solidFill>
                <a:latin typeface="Calibri"/>
              </a:defRPr>
            </a:pPr>
            <a:r>
              <a:t>[1]  Nokia, "Modern Broadband Network Telemetry," Nokia White Paper, 2024.</a:t>
            </a:r>
          </a:p>
          <a:p>
            <a:pPr>
              <a:spcBef>
                <a:spcPts val="100"/>
              </a:spcBef>
              <a:spcAft>
                <a:spcPts val="400"/>
              </a:spcAft>
              <a:defRPr sz="1100">
                <a:solidFill>
                  <a:srgbClr val="CCCCCC"/>
                </a:solidFill>
                <a:latin typeface="Calibri"/>
              </a:defRPr>
            </a:pPr>
            <a:r>
              <a:t>[2]  Ericsson, "From data mess to AI-ready data mesh," Ericsson Blog, 2024.</a:t>
            </a:r>
          </a:p>
          <a:p>
            <a:pPr>
              <a:spcBef>
                <a:spcPts val="100"/>
              </a:spcBef>
              <a:spcAft>
                <a:spcPts val="400"/>
              </a:spcAft>
              <a:defRPr sz="1100">
                <a:solidFill>
                  <a:srgbClr val="CCCCCC"/>
                </a:solidFill>
                <a:latin typeface="Calibri"/>
              </a:defRPr>
            </a:pPr>
            <a:r>
              <a:t>[3]  Ericsson, "Visualizing network performance: Transport Automation Controller with AI/ML at the helm," Ericsson, 2024.</a:t>
            </a:r>
          </a:p>
          <a:p>
            <a:pPr>
              <a:spcBef>
                <a:spcPts val="100"/>
              </a:spcBef>
              <a:spcAft>
                <a:spcPts val="400"/>
              </a:spcAft>
              <a:defRPr sz="1100">
                <a:solidFill>
                  <a:srgbClr val="CCCCCC"/>
                </a:solidFill>
                <a:latin typeface="Calibri"/>
              </a:defRPr>
            </a:pPr>
            <a:r>
              <a:t>[4]  Z. Yuan et al., "iTeleScope: Softwarized Network Middle-Box for Real-Time Video Telemetry and Classification," IEEE/ACM Trans. Netw., 2023.</a:t>
            </a:r>
          </a:p>
          <a:p>
            <a:pPr>
              <a:spcBef>
                <a:spcPts val="100"/>
              </a:spcBef>
              <a:spcAft>
                <a:spcPts val="400"/>
              </a:spcAft>
              <a:defRPr sz="1100">
                <a:solidFill>
                  <a:srgbClr val="CCCCCC"/>
                </a:solidFill>
                <a:latin typeface="Calibri"/>
              </a:defRPr>
            </a:pPr>
            <a:r>
              <a:t>[5]  A. Dogra et al., "6G Network Architecture: QoS Paradigms and Data Lifecycle Management for Next-Generation Networks," IEEE Commun. Surveys Tuts., 2024.</a:t>
            </a:r>
          </a:p>
          <a:p>
            <a:pPr>
              <a:spcBef>
                <a:spcPts val="100"/>
              </a:spcBef>
              <a:spcAft>
                <a:spcPts val="400"/>
              </a:spcAft>
              <a:defRPr sz="1100">
                <a:solidFill>
                  <a:srgbClr val="CCCCCC"/>
                </a:solidFill>
                <a:latin typeface="Calibri"/>
              </a:defRPr>
            </a:pPr>
            <a:r>
              <a:t>[6]  S. Falkner et al., "Mobile Network Data Synthesis with Generative AI: Challenges and Solutions," IEEE Network, 2024.</a:t>
            </a:r>
          </a:p>
          <a:p>
            <a:pPr>
              <a:spcBef>
                <a:spcPts val="100"/>
              </a:spcBef>
              <a:spcAft>
                <a:spcPts val="400"/>
              </a:spcAft>
              <a:defRPr sz="1100">
                <a:solidFill>
                  <a:srgbClr val="CCCCCC"/>
                </a:solidFill>
                <a:latin typeface="Calibri"/>
              </a:defRPr>
            </a:pPr>
            <a:r>
              <a:t>[7]  M. Boban et al., "Autonomous network operations: from reactive management to intent-driven optimization," Ericsson Technology Review, 2024.</a:t>
            </a:r>
          </a:p>
          <a:p>
            <a:pPr>
              <a:spcBef>
                <a:spcPts val="100"/>
              </a:spcBef>
              <a:spcAft>
                <a:spcPts val="400"/>
              </a:spcAft>
              <a:defRPr sz="1100">
                <a:solidFill>
                  <a:srgbClr val="CCCCCC"/>
                </a:solidFill>
                <a:latin typeface="Calibri"/>
              </a:defRPr>
            </a:pPr>
            <a:r>
              <a:t>[8]  Ericsson, "Four ways generative AI is set to transform the telecom industry," Ericsson Blog, 2024.</a:t>
            </a:r>
          </a:p>
          <a:p>
            <a:pPr>
              <a:spcBef>
                <a:spcPts val="100"/>
              </a:spcBef>
              <a:spcAft>
                <a:spcPts val="400"/>
              </a:spcAft>
              <a:defRPr sz="1100">
                <a:solidFill>
                  <a:srgbClr val="CCCCCC"/>
                </a:solidFill>
                <a:latin typeface="Calibri"/>
              </a:defRPr>
            </a:pPr>
            <a:r>
              <a:t>[9]  ATIS, "Advancing Generative AI Implementation in Telecommunications Networks," ATIS White Paper, 2024.</a:t>
            </a:r>
          </a:p>
          <a:p>
            <a:pPr>
              <a:spcBef>
                <a:spcPts val="100"/>
              </a:spcBef>
              <a:spcAft>
                <a:spcPts val="400"/>
              </a:spcAft>
              <a:defRPr sz="1100">
                <a:solidFill>
                  <a:srgbClr val="CCCCCC"/>
                </a:solidFill>
                <a:latin typeface="Calibri"/>
              </a:defRPr>
            </a:pPr>
            <a:r>
              <a:t>[10] R. Boutaba et al., "A comprehensive survey on machine learning for networking," ACM Comput. Surv., vol. 51, no. 5, 2018.</a:t>
            </a:r>
          </a:p>
          <a:p>
            <a:pPr>
              <a:spcBef>
                <a:spcPts val="100"/>
              </a:spcBef>
              <a:spcAft>
                <a:spcPts val="400"/>
              </a:spcAft>
              <a:defRPr sz="1100">
                <a:solidFill>
                  <a:srgbClr val="CCCCCC"/>
                </a:solidFill>
                <a:latin typeface="Calibri"/>
              </a:defRPr>
            </a:pPr>
            <a:r>
              <a:t>[11] P. Mishra et al., "A detailed investigation and analysis of using ML techniques for intrusion detection," IEEE Commun. Surveys Tuts., 2019.</a:t>
            </a:r>
          </a:p>
          <a:p>
            <a:pPr>
              <a:spcBef>
                <a:spcPts val="100"/>
              </a:spcBef>
              <a:spcAft>
                <a:spcPts val="400"/>
              </a:spcAft>
              <a:defRPr sz="1100">
                <a:solidFill>
                  <a:srgbClr val="CCCCCC"/>
                </a:solidFill>
                <a:latin typeface="Calibri"/>
              </a:defRPr>
            </a:pPr>
            <a:r>
              <a:t>[12] F. Tang et al., "A survey on machine learning for traffic classification," IEEE Trans. on Network and Service Management, 2022.</a:t>
            </a:r>
          </a:p>
        </p:txBody>
      </p:sp>
      <p:sp>
        <p:nvSpPr>
          <p:cNvPr id="7" name="TextBox 6"/>
          <p:cNvSpPr txBox="1"/>
          <p:nvPr/>
        </p:nvSpPr>
        <p:spPr>
          <a:xfrm>
            <a:off x="365760" y="6309360"/>
            <a:ext cx="1371600" cy="365760"/>
          </a:xfrm>
          <a:prstGeom prst="rect">
            <a:avLst/>
          </a:prstGeom>
          <a:noFill/>
        </p:spPr>
        <p:txBody>
          <a:bodyPr wrap="square">
            <a:spAutoFit/>
          </a:bodyPr>
          <a:lstStyle/>
          <a:p>
            <a:pPr algn="l">
              <a:lnSpc>
                <a:spcPts val="1200"/>
              </a:lnSpc>
              <a:spcAft>
                <a:spcPts val="0"/>
              </a:spcAft>
              <a:defRPr sz="1000" b="0">
                <a:solidFill>
                  <a:srgbClr val="999999"/>
                </a:solidFill>
                <a:latin typeface="Calibri"/>
              </a:defRPr>
            </a:pPr>
            <a:r>
              <a:t>20 / 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
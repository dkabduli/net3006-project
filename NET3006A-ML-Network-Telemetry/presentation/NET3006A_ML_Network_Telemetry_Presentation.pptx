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77240"/>
            <a:ext cx="10378440" cy="4983480"/>
          </a:xfrm>
          <a:prstGeom prst="roundRect">
            <a:avLst/>
          </a:prstGeom>
          <a:solidFill>
            <a:srgbClr val="0E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183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Machine Learning for Network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9418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2400" b="0">
                <a:solidFill>
                  <a:srgbClr val="009FFD"/>
                </a:solidFill>
                <a:latin typeface="Calibri"/>
              </a:defRPr>
            </a:pPr>
            <a:r>
              <a:t>A Survey of Methods, Applications, and Emerging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017520"/>
            <a:ext cx="393192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NET3006A — Network Management and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Carleton University  |  Winter 2026  |  Dr. Jie Gao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Abdul Rehman  |  Esam Mukbil  |  Hashim Kshim  |  Mazen Alhassan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49240"/>
            <a:ext cx="9418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Option 1: Survey / Reading Project  —  Topic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5760720"/>
            <a:ext cx="2011680" cy="502920"/>
          </a:xfrm>
          <a:prstGeom prst="roundRect">
            <a:avLst/>
          </a:prstGeom>
          <a:solidFill>
            <a:srgbClr val="141832"/>
          </a:solidFill>
          <a:ln w="1524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5870448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5760720"/>
            <a:ext cx="2011680" cy="502920"/>
          </a:xfrm>
          <a:prstGeom prst="roundRect">
            <a:avLst/>
          </a:prstGeom>
          <a:solidFill>
            <a:srgbClr val="141832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5870448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5760720"/>
            <a:ext cx="2011680" cy="502920"/>
          </a:xfrm>
          <a:prstGeom prst="roundRect">
            <a:avLst/>
          </a:prstGeom>
          <a:solidFill>
            <a:srgbClr val="141832"/>
          </a:solidFill>
          <a:ln w="1524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5870448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845EC2"/>
                </a:solidFill>
                <a:latin typeface="Calibri"/>
              </a:defRPr>
            </a:pPr>
            <a:r>
              <a:t>Optimize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All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9FFD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630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Introduction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009FFD"/>
                </a:solidFill>
                <a:latin typeface="Calibri"/>
              </a:defRPr>
            </a:pPr>
            <a:r>
              <a:t>Abdul Rehman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10512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9FFD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10512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What Network Telemetry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009FFD"/>
                </a:solidFill>
                <a:latin typeface="Calibri"/>
              </a:defRPr>
            </a:pPr>
            <a:r>
              <a:t>Abdul Rehman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57984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57984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Why Machine Learning Helps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57984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00C9A7"/>
                </a:solidFill>
                <a:latin typeface="Calibri"/>
              </a:defRPr>
            </a:pPr>
            <a:r>
              <a:t>Esam Mukbil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505456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505456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Anomaly Detection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05456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00C9A7"/>
                </a:solidFill>
                <a:latin typeface="Calibri"/>
              </a:defRPr>
            </a:pPr>
            <a:r>
              <a:t>Esam Mukbil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52928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F0B429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852928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Main Lessons from Anomaly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5292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F0B429"/>
                </a:solidFill>
                <a:latin typeface="Calibri"/>
              </a:defRPr>
            </a:pPr>
            <a:r>
              <a:t>Mazen Alhassan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0040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F0B429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2004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Performance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0040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F0B429"/>
                </a:solidFill>
                <a:latin typeface="Calibri"/>
              </a:defRPr>
            </a:pPr>
            <a:r>
              <a:t>Mazen Alhassan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547872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845EC2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547872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QoS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47872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845EC2"/>
                </a:solidFill>
                <a:latin typeface="Calibri"/>
              </a:defRPr>
            </a:pPr>
            <a:r>
              <a:t>Hashim Kshim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895344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845EC2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895344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Main Lessons for Performance &amp; QoS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895344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845EC2"/>
                </a:solidFill>
                <a:latin typeface="Calibri"/>
              </a:defRPr>
            </a:pPr>
            <a:r>
              <a:t>Hashim Kshim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242816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F0B429"/>
                </a:solidFill>
                <a:latin typeface="Calibri"/>
              </a:defRPr>
            </a:pPr>
            <a:r>
              <a:t>9.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242816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Telemetry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242816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F0B429"/>
                </a:solidFill>
                <a:latin typeface="Calibri"/>
              </a:defRPr>
            </a:pPr>
            <a:r>
              <a:t>Mazen Alhassan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590288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F0B429"/>
                </a:solidFill>
                <a:latin typeface="Calibri"/>
              </a:defRPr>
            </a:pPr>
            <a:r>
              <a:t>10.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590288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Nokia Example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028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F0B429"/>
                </a:solidFill>
                <a:latin typeface="Calibri"/>
              </a:defRPr>
            </a:pPr>
            <a:r>
              <a:t>Mazen Alhassan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3776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845EC2"/>
                </a:solidFill>
                <a:latin typeface="Calibri"/>
              </a:defRPr>
            </a:pPr>
            <a:r>
              <a:t>11.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493776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Ericsson Example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93776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845EC2"/>
                </a:solidFill>
                <a:latin typeface="Calibri"/>
              </a:defRPr>
            </a:pPr>
            <a:r>
              <a:t>Hashim Kshim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285231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845EC2"/>
                </a:solidFill>
                <a:latin typeface="Calibri"/>
              </a:defRPr>
            </a:pPr>
            <a:r>
              <a:t>12.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5285231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Future Trends: 6G &amp; GenAI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285231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845EC2"/>
                </a:solidFill>
                <a:latin typeface="Calibri"/>
              </a:defRPr>
            </a:pPr>
            <a:r>
              <a:t>Hashim Kshim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632704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845EC2"/>
                </a:solidFill>
                <a:latin typeface="Calibri"/>
              </a:defRPr>
            </a:pPr>
            <a:r>
              <a:t>13.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632704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Open Challenges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632704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845EC2"/>
                </a:solidFill>
                <a:latin typeface="Calibri"/>
              </a:defRPr>
            </a:pPr>
            <a:r>
              <a:t>Hashim Kshim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980176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1">
                <a:solidFill>
                  <a:srgbClr val="845EC2"/>
                </a:solidFill>
                <a:latin typeface="Calibri"/>
              </a:defRPr>
            </a:pPr>
            <a:r>
              <a:t>14.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" y="5980176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980176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845EC2"/>
                </a:solidFill>
                <a:latin typeface="Calibri"/>
              </a:defRPr>
            </a:pPr>
            <a:r>
              <a:t>Hashim Kshim</a:t>
            </a:r>
          </a:p>
        </p:txBody>
      </p:sp>
      <p:sp>
        <p:nvSpPr>
          <p:cNvPr id="48" name="Oval 47"/>
          <p:cNvSpPr/>
          <p:nvPr/>
        </p:nvSpPr>
        <p:spPr>
          <a:xfrm>
            <a:off x="731520" y="6446520"/>
            <a:ext cx="137160" cy="137160"/>
          </a:xfrm>
          <a:prstGeom prst="ellipse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6355080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009FFD"/>
                </a:solidFill>
                <a:latin typeface="Calibri"/>
              </a:defRPr>
            </a:pPr>
            <a:r>
              <a:t>Abdul Rehman</a:t>
            </a:r>
          </a:p>
        </p:txBody>
      </p:sp>
      <p:sp>
        <p:nvSpPr>
          <p:cNvPr id="50" name="Oval 49"/>
          <p:cNvSpPr/>
          <p:nvPr/>
        </p:nvSpPr>
        <p:spPr>
          <a:xfrm>
            <a:off x="3566160" y="6446520"/>
            <a:ext cx="137160" cy="1371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4760" y="6355080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00C9A7"/>
                </a:solidFill>
                <a:latin typeface="Calibri"/>
              </a:defRPr>
            </a:pPr>
            <a:r>
              <a:t>Esam Mukbil</a:t>
            </a:r>
          </a:p>
        </p:txBody>
      </p:sp>
      <p:sp>
        <p:nvSpPr>
          <p:cNvPr id="52" name="Oval 51"/>
          <p:cNvSpPr/>
          <p:nvPr/>
        </p:nvSpPr>
        <p:spPr>
          <a:xfrm>
            <a:off x="6400800" y="6446520"/>
            <a:ext cx="137160" cy="13716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6355080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F0B429"/>
                </a:solidFill>
                <a:latin typeface="Calibri"/>
              </a:defRPr>
            </a:pPr>
            <a:r>
              <a:t>Mazen Alhassan</a:t>
            </a:r>
          </a:p>
        </p:txBody>
      </p:sp>
      <p:sp>
        <p:nvSpPr>
          <p:cNvPr id="54" name="Oval 53"/>
          <p:cNvSpPr/>
          <p:nvPr/>
        </p:nvSpPr>
        <p:spPr>
          <a:xfrm>
            <a:off x="9235440" y="6446520"/>
            <a:ext cx="137160" cy="137160"/>
          </a:xfrm>
          <a:prstGeom prst="ellipse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64040" y="6355080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845EC2"/>
                </a:solidFill>
                <a:latin typeface="Calibri"/>
              </a:defRPr>
            </a:pPr>
            <a:r>
              <a:t>Hashim Kshim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PART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91695" cy="1645920"/>
          </a:xfrm>
          <a:prstGeom prst="rect">
            <a:avLst/>
          </a:prstGeom>
          <a:solidFill>
            <a:srgbClr val="10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4000" b="1">
                <a:solidFill>
                  <a:srgbClr val="009FFD"/>
                </a:solidFill>
                <a:latin typeface="Calibri"/>
              </a:defRPr>
            </a:pPr>
            <a:r>
              <a:t>Introduction &amp; ML for Anomaly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Presenter: Abdul Rehman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Network Telemetry?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 network continuously reports what is happening inside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Abdul Rehman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It is the live data that routers, switches, and links send about their health and traffic.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It tells us things like delay, packet loss, throughput, CPU use, and errors.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Modern systems stream this data automatically instead of waiting for slow manual checks.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That gives operators a clearer and faster view of what the network is doing.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Telemetry is the input that ML uses to spot trouble and predict future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64592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Simple View</a:t>
            </a:r>
          </a:p>
        </p:txBody>
      </p:sp>
      <p:sp>
        <p:nvSpPr>
          <p:cNvPr id="9" name="Oval 8"/>
          <p:cNvSpPr/>
          <p:nvPr/>
        </p:nvSpPr>
        <p:spPr>
          <a:xfrm>
            <a:off x="7086600" y="2240280"/>
            <a:ext cx="960120" cy="960120"/>
          </a:xfrm>
          <a:prstGeom prst="ellipse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267712"/>
            <a:ext cx="960120" cy="9326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086600" y="2542032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Devices</a:t>
            </a:r>
          </a:p>
        </p:txBody>
      </p:sp>
      <p:sp>
        <p:nvSpPr>
          <p:cNvPr id="12" name="Oval 11"/>
          <p:cNvSpPr/>
          <p:nvPr/>
        </p:nvSpPr>
        <p:spPr>
          <a:xfrm>
            <a:off x="8641080" y="2240280"/>
            <a:ext cx="960120" cy="9601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267712"/>
            <a:ext cx="960120" cy="9326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641080" y="2542032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5" name="Oval 14"/>
          <p:cNvSpPr/>
          <p:nvPr/>
        </p:nvSpPr>
        <p:spPr>
          <a:xfrm>
            <a:off x="10195560" y="2240280"/>
            <a:ext cx="960120" cy="960120"/>
          </a:xfrm>
          <a:prstGeom prst="ellipse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2267712"/>
            <a:ext cx="960120" cy="9326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195560" y="2542032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92440" y="2542032"/>
            <a:ext cx="411480" cy="20116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646920" y="2542032"/>
            <a:ext cx="411480" cy="20116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12280" y="3703320"/>
            <a:ext cx="4983480" cy="182880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3840480"/>
            <a:ext cx="46542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Examples of Telemetry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4206240"/>
            <a:ext cx="4654296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Flow data</a:t>
            </a:r>
            <a:br/>
            <a:r>
              <a:t>Packet traces</a:t>
            </a:r>
            <a:br/>
            <a:r>
              <a:t>Device metrics</a:t>
            </a:r>
            <a:br/>
            <a:r>
              <a:t>INT path details</a:t>
            </a:r>
            <a:br/>
            <a:r>
              <a:t>Logs and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Abdul Rehman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Traditional Monitoring to Streaming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Why modern networks moved beyond slow polling and basic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Abdul Rehman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120640" cy="297180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74520"/>
            <a:ext cx="479145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Traditional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0280"/>
            <a:ext cx="4791456" cy="2331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Checks devices every so often</a:t>
            </a:r>
            <a:br/>
            <a:r>
              <a:t>Often slower and less detailed</a:t>
            </a:r>
            <a:br/>
            <a:r>
              <a:t>Problems may be noticed after users are affected</a:t>
            </a:r>
            <a:br/>
            <a:r>
              <a:t>Works poorly at modern network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20640" cy="297180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874520"/>
            <a:ext cx="479145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Streaming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40280"/>
            <a:ext cx="4791456" cy="2331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Data is pushed continuously</a:t>
            </a:r>
            <a:br/>
            <a:r>
              <a:t>More detailed and more real-time</a:t>
            </a:r>
            <a:br/>
            <a:r>
              <a:t>Makes faster detection and response possible</a:t>
            </a:r>
            <a:br/>
            <a:r>
              <a:t>Better fit for ML and automation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40680" y="2788920"/>
            <a:ext cx="50292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4892040"/>
            <a:ext cx="7589520" cy="96012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0592" y="5029200"/>
            <a:ext cx="72603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Main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2" y="5394960"/>
            <a:ext cx="72603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Better telemetry gives ML better input, and better input leads to better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Abdul Rehman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Where Telemetry Data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Different network signals combine to give a full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Abdul Rehman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892040" cy="132588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74520"/>
            <a:ext cx="456285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0280"/>
            <a:ext cx="4562856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Routers, switches, and access points report health and counters.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92040" cy="132588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74520"/>
            <a:ext cx="456285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Traffic 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40280"/>
            <a:ext cx="4562856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Flow records show who is talking, how much, and how often.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66160"/>
            <a:ext cx="4892040" cy="132588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703320"/>
            <a:ext cx="456285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845EC2"/>
                </a:solidFill>
                <a:latin typeface="Calibri"/>
              </a:defRPr>
            </a:pPr>
            <a:r>
              <a:t>Packets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069080"/>
            <a:ext cx="4562856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Packet traces reveal detailed behavior on the wire.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66160"/>
            <a:ext cx="4892040" cy="132588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703320"/>
            <a:ext cx="456285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Logs &amp;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069080"/>
            <a:ext cx="4562856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Logs capture warnings, failures, and configuration changes.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074920"/>
            <a:ext cx="8503920" cy="96012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93392" y="5212080"/>
            <a:ext cx="81747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5577840"/>
            <a:ext cx="81747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ML works best when it can learn from multiple types of telemetry instead of a single signal.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Abdul Rehman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Telemetry Matters in Modern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Telemetry supports visibility, reliability, and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Abdul Rehman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664208"/>
            <a:ext cx="384048" cy="384048"/>
          </a:xfrm>
          <a:prstGeom prst="ellipse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384048" cy="3566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9FFD"/>
                </a:solidFill>
                <a:latin typeface="Calibri"/>
              </a:defRPr>
            </a:pPr>
            <a:r>
              <a:t>See problems earlier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93392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Operators can notice trouble before outages spread.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24328"/>
            <a:ext cx="384048" cy="384048"/>
          </a:xfrm>
          <a:prstGeom prst="ellipse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384048" cy="3566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0604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9FFD"/>
                </a:solidFill>
                <a:latin typeface="Calibri"/>
              </a:defRPr>
            </a:pPr>
            <a:r>
              <a:t>Understand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53512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Teams can measure delay, loss, and congestion more clearly.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584448"/>
            <a:ext cx="384048" cy="384048"/>
          </a:xfrm>
          <a:prstGeom prst="ellipse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11880"/>
            <a:ext cx="384048" cy="3566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661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9FFD"/>
                </a:solidFill>
                <a:latin typeface="Calibri"/>
              </a:defRPr>
            </a:pPr>
            <a:r>
              <a:t>Support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913632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Telemetry gives ML the evidence it needs to recommend actions.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544568"/>
            <a:ext cx="384048" cy="384048"/>
          </a:xfrm>
          <a:prstGeom prst="ellipse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384048" cy="35661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52628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9FFD"/>
                </a:solidFill>
                <a:latin typeface="Calibri"/>
              </a:defRPr>
            </a:pPr>
            <a:r>
              <a:t>Scale to new networks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873752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5G, cloud, and large systems need better visibility than old tools provide.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965960"/>
            <a:ext cx="4206240" cy="246888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2103120"/>
            <a:ext cx="387705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Simple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468880"/>
            <a:ext cx="3877056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Telemetry is the network's evidence.</a:t>
            </a:r>
            <a:br/>
            <a:r>
              <a:t>ML uses that evidence to find patterns, explain behavior, and support faster decisions.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Abdul Rehman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Apply ML to Network Telemetry?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 challenge is not collecting data. It is understanding it fast enough.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Esam Mukbil</a:t>
            </a:r>
          </a:p>
        </p:txBody>
      </p:sp>
      <p:sp>
        <p:nvSpPr>
          <p:cNvPr id="7" name="Oval 6"/>
          <p:cNvSpPr/>
          <p:nvPr/>
        </p:nvSpPr>
        <p:spPr>
          <a:xfrm>
            <a:off x="5074920" y="2148840"/>
            <a:ext cx="1828800" cy="1828800"/>
          </a:xfrm>
          <a:prstGeom prst="ellipse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2697480"/>
            <a:ext cx="1828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16052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Why use ML here?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3566160" cy="141732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874520"/>
            <a:ext cx="323697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Too much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240280"/>
            <a:ext cx="3236976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Large networks create huge telemetry streams every second.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3566160" cy="141732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931920"/>
            <a:ext cx="323697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Problems are hidden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297680"/>
            <a:ext cx="3236976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Small clues across many signals are hard to notice manually.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737360"/>
            <a:ext cx="3566160" cy="141732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874520"/>
            <a:ext cx="323697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845EC2"/>
                </a:solidFill>
                <a:latin typeface="Calibri"/>
              </a:defRPr>
            </a:pPr>
            <a:r>
              <a:t>Speed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2240280"/>
            <a:ext cx="3236976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Teams need answers before users feel the problem.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794760"/>
            <a:ext cx="3566160" cy="141732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3931920"/>
            <a:ext cx="323697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Networks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4297680"/>
            <a:ext cx="3236976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Traffic and paths move, so fixed rules become outdated.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5257800"/>
            <a:ext cx="4709160" cy="96012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22192" y="5394960"/>
            <a:ext cx="437997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What We 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2" y="5760720"/>
            <a:ext cx="437997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Anomalies  |  Prediction  |  QoS  |  Industry  |  Future trends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Presenter: Esam Mukbil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ML Methods for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A visual summary of the main model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Esam Mukbil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645920"/>
            <a:ext cx="2788920" cy="146304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1783080"/>
            <a:ext cx="24597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Autoencoders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148840"/>
            <a:ext cx="24597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Learn what normal traffic looks like. If new data looks very different, it may be an anomaly.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481328"/>
            <a:ext cx="841248" cy="256032"/>
          </a:xfrm>
          <a:prstGeom prst="round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499616"/>
            <a:ext cx="84124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Unsupervised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788920" cy="146304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783080"/>
            <a:ext cx="24597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LSTM / GRU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148840"/>
            <a:ext cx="24597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Look at patterns over time. They help catch spikes, drops, or strange sequences in telemetry.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481328"/>
            <a:ext cx="841248" cy="256032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99616"/>
            <a:ext cx="84124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645920"/>
            <a:ext cx="2788920" cy="146304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783080"/>
            <a:ext cx="24597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148840"/>
            <a:ext cx="24597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Quickly separates unusual points from common ones. Useful when speed is important.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481328"/>
            <a:ext cx="841248" cy="256032"/>
          </a:xfrm>
          <a:prstGeom prst="round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499616"/>
            <a:ext cx="84124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Unsupervised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3657600"/>
            <a:ext cx="2788920" cy="146304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27832" y="3794760"/>
            <a:ext cx="24597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One-Class SVM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27832" y="4160520"/>
            <a:ext cx="24597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Builds a boundary around normal behavior, then flags data outside that boundary.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3493008"/>
            <a:ext cx="841248" cy="256032"/>
          </a:xfrm>
          <a:prstGeom prst="round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511296"/>
            <a:ext cx="84124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Semi-supervised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657600"/>
            <a:ext cx="2788920" cy="146304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3794760"/>
            <a:ext cx="24597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GAN-based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160520"/>
            <a:ext cx="24597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Generate or compare normal-looking samples so unusual behavior stands out more clearly.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493008"/>
            <a:ext cx="841248" cy="256032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511296"/>
            <a:ext cx="84124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Generative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Presenter: Esam Mukbil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Anomaly Detection: Main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Less text, stronger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737360"/>
            <a:ext cx="4572000" cy="150876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1874520"/>
            <a:ext cx="424281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Deep learning is strong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240280"/>
            <a:ext cx="4242816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Deep learning often beats older statistical methods when telemetry has many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4572000" cy="150876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874520"/>
            <a:ext cx="424281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Unsupervised is practical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240280"/>
            <a:ext cx="4242816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Unsupervised learning is popular because real networks rarely have enough labeled anomaly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611880"/>
            <a:ext cx="4572000" cy="150876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3749040"/>
            <a:ext cx="424281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845EC2"/>
                </a:solidFill>
                <a:latin typeface="Calibri"/>
              </a:defRPr>
            </a:pPr>
            <a:r>
              <a:t>Hybrid models help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4114800"/>
            <a:ext cx="4242816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Hybrid models work well because they mix strong feature learning with fast scoring.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11880"/>
            <a:ext cx="4572000" cy="150876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3749040"/>
            <a:ext cx="424281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Speed is still hard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114800"/>
            <a:ext cx="4242816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Real-time use is still hard because accurate models can be expensive to run at scale.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5074920"/>
            <a:ext cx="8138160" cy="987552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76272" y="5212080"/>
            <a:ext cx="780897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5577840"/>
            <a:ext cx="7808976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Best results often come from models that learn normal behavior first because labeled anomaly data is limited.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F0B429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91695" cy="1645920"/>
          </a:xfrm>
          <a:prstGeom prst="rect">
            <a:avLst/>
          </a:prstGeom>
          <a:solidFill>
            <a:srgbClr val="10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4000" b="1">
                <a:solidFill>
                  <a:srgbClr val="00C9A7"/>
                </a:solidFill>
                <a:latin typeface="Calibri"/>
              </a:defRPr>
            </a:pPr>
            <a:r>
              <a:t>Methods, Findings &amp;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Presenters: Esam Mukbil &amp; Mazen Alhassan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ML for Network Performance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Using telemetry to estimate what the network will do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Time-Series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LSTM and GRU models learn how metrics change over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They forecast delay, jitter, loss, and 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Useful when recent behavior helps predict the near future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Graph Neural Networks (GNNs)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Represent the network as devices and links in a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Good for path-based prediction because topology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They capture how one congested link can affect other paths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Ensemble &amp; Hybrid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6596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Combine different models to improve robustness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Often more accurate than relying on one model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060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Can adapt better when traffic patterns shift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Attention Mechanisms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204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Transformer-style models look at longer patterns in the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8404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They help identify which signals matter most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1605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Strong option for large, multi-feature telemetry streams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F0B429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ML for QoS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Using telemetry and predictions to keep service quality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Esam Mukbil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Reinforcement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An agent tries actions and learns which routing or scheduling choices give better QoS.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73152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Deep Q-Networks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9067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Use the current network state to choose actions like rerouting, balancing load, or assigning bandwidth.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73152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Multi-Objective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793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Helps balance trade-offs such as low delay, good throughput, and fairness at the same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73152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206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Federated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6811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Lets different domains train shared models without sending all raw telemetry to one place.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Presenter: Esam Mukbil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Performance &amp; QoS: Main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What stood out most across the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Esam Mukbil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572768"/>
            <a:ext cx="347472" cy="347472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91056"/>
            <a:ext cx="34747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700" b="1">
                <a:solidFill>
                  <a:srgbClr val="00C9A7"/>
                </a:solidFill>
                <a:latin typeface="Calibri"/>
              </a:defRPr>
            </a:pPr>
            <a:r>
              <a:t>Topology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0195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GNNs usually beat plain time-series models when the shape of the network affects performance.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761488"/>
            <a:ext cx="347472" cy="347472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79776"/>
            <a:ext cx="34747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4320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700" b="1">
                <a:solidFill>
                  <a:srgbClr val="00C9A7"/>
                </a:solidFill>
                <a:latin typeface="Calibri"/>
              </a:defRPr>
            </a:pPr>
            <a:r>
              <a:t>RL is powerful but risky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9067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Reinforcement learning looks strong in simulations, but deployment is harder because bad actions can hurt live traffic.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950208"/>
            <a:ext cx="347472" cy="347472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68496"/>
            <a:ext cx="34747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3192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700" b="1">
                <a:solidFill>
                  <a:srgbClr val="00C9A7"/>
                </a:solidFill>
                <a:latin typeface="Calibri"/>
              </a:defRPr>
            </a:pPr>
            <a:r>
              <a:t>Good data matters most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793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Missing or noisy telemetry can hurt prediction quality more than model choice.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5138928"/>
            <a:ext cx="347472" cy="347472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57216"/>
            <a:ext cx="34747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206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700" b="1">
                <a:solidFill>
                  <a:srgbClr val="00C9A7"/>
                </a:solidFill>
                <a:latin typeface="Calibri"/>
              </a:defRPr>
            </a:pPr>
            <a:r>
              <a:t>Proactive beats reactive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46811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Predicting trouble early is better than waiting for thresholds to fail after users are already affected.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Presenter: Esam Mukbil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ML-Enhanced Network Telemetry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A cleaner flow from data 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2468880" cy="105156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709160"/>
            <a:ext cx="21396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9FFD"/>
                </a:solidFill>
                <a:latin typeface="Calibri"/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074920"/>
            <a:ext cx="2139696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Devices export live network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572000"/>
            <a:ext cx="2468880" cy="105156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4709160"/>
            <a:ext cx="21396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5074920"/>
            <a:ext cx="2139696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Platforms organize and retain telemetry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572000"/>
            <a:ext cx="2468880" cy="105156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709160"/>
            <a:ext cx="21396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845EC2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5074920"/>
            <a:ext cx="2139696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ML models detect patterns and predict issues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79" y="4572000"/>
            <a:ext cx="2468880" cy="105156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1" y="4709160"/>
            <a:ext cx="21396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1" y="5074920"/>
            <a:ext cx="2139696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Operators or automation respond faster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The pipeline matters because good telemetry architecture makes reliable ML and faster response possible.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F0B429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0B429"/>
                </a:solidFill>
                <a:latin typeface="Calibri"/>
              </a:defRPr>
            </a:pPr>
            <a:r>
              <a:t>PART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91695" cy="1645920"/>
          </a:xfrm>
          <a:prstGeom prst="rect">
            <a:avLst/>
          </a:prstGeom>
          <a:solidFill>
            <a:srgbClr val="10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4000" b="1">
                <a:solidFill>
                  <a:srgbClr val="F0B429"/>
                </a:solidFill>
                <a:latin typeface="Calibri"/>
              </a:defRPr>
            </a:pPr>
            <a:r>
              <a:t>Pipeline, Industry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Presenters: Mazen Alhassan &amp; Hashim Kshim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Industry Example: Nokia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Showing what ML-driven telemetry looks like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474720" cy="146304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74520"/>
            <a:ext cx="31455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0B429"/>
                </a:solidFill>
                <a:latin typeface="Calibri"/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40280"/>
            <a:ext cx="31455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Gather live broadband telemetry from many devices.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474720" cy="146304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874520"/>
            <a:ext cx="31455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40280"/>
            <a:ext cx="31455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Use ML to detect anomalies and estimate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737360"/>
            <a:ext cx="3474720" cy="146304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874520"/>
            <a:ext cx="314553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2240280"/>
            <a:ext cx="31455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Support faster troubleshooting and predictive maintenance.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40480" y="2304288"/>
            <a:ext cx="320040" cy="20116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406640" y="2304288"/>
            <a:ext cx="320040" cy="20116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25880" y="3794760"/>
            <a:ext cx="9509760" cy="155448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90472" y="3931920"/>
            <a:ext cx="918057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0B429"/>
                </a:solidFill>
                <a:latin typeface="Calibri"/>
              </a:defRPr>
            </a:pPr>
            <a:r>
              <a:t>What Nokia Is Trying To 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0472" y="4297680"/>
            <a:ext cx="9180576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Predict failures early  |  find unusual behavior automatically  |  estimate customer experience  |  forecast capacity needs  |  speed up troubleshooting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F0B429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Case Study: Real-Time Anomaly Detection in Network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9FF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303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Telemetry streams massive time-series data (CPU, traffic, link utilization) from routers/servers in real time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Operators cannot manually monitor everything — ML is needed to automatically flag abnormal patterns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Challenge: detect anomalies in real time with low false positives, without large labeled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The Study: AREP (Pekar et al., 2022)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5303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Uses an LSTM neural network to predict the next telemetry data point, then compares prediction to actual value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If the difference exceeds a threshold, it flags an anomaly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Key innovation: AREP auto-tunes its detection window and ageing coefficient — no manual parameter setup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Offset compensation retrains the model when predictions start to drift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845EC2"/>
                </a:solidFill>
                <a:latin typeface="Calibri"/>
              </a:defRPr>
            </a:pPr>
            <a:r>
              <a:t>How AREP 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1508760" cy="777240"/>
          </a:xfrm>
          <a:prstGeom prst="roundRect">
            <a:avLst/>
          </a:prstGeom>
          <a:solidFill>
            <a:srgbClr val="141832"/>
          </a:solidFill>
          <a:ln w="1905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47088"/>
            <a:ext cx="1508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Telemetry</a:t>
            </a:r>
            <a:br/>
            <a:r>
              <a:t>Stream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9560" y="1993392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1508760" cy="777240"/>
          </a:xfrm>
          <a:prstGeom prst="roundRect">
            <a:avLst/>
          </a:prstGeom>
          <a:solidFill>
            <a:srgbClr val="141832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847088"/>
            <a:ext cx="1508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LSTM</a:t>
            </a:r>
            <a:br/>
            <a:r>
              <a:t>Prediction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01200" y="1993392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84080" y="1737360"/>
            <a:ext cx="1508760" cy="777240"/>
          </a:xfrm>
          <a:prstGeom prst="roundRect">
            <a:avLst/>
          </a:prstGeom>
          <a:solidFill>
            <a:srgbClr val="141832"/>
          </a:solidFill>
          <a:ln w="1905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847088"/>
            <a:ext cx="1508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845EC2"/>
                </a:solidFill>
                <a:latin typeface="Calibri"/>
              </a:defRPr>
            </a:pPr>
            <a:r>
              <a:t>Compare to</a:t>
            </a:r>
            <a:br/>
            <a:r>
              <a:t>Actual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971800"/>
            <a:ext cx="1508760" cy="777240"/>
          </a:xfrm>
          <a:prstGeom prst="roundRect">
            <a:avLst/>
          </a:prstGeom>
          <a:solidFill>
            <a:srgbClr val="141832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081528"/>
            <a:ext cx="1508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FF8C00"/>
                </a:solidFill>
                <a:latin typeface="Calibri"/>
              </a:defRPr>
            </a:pPr>
            <a:r>
              <a:t>Anomaly</a:t>
            </a:r>
            <a:br/>
            <a:r>
              <a:t>Score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09560" y="3227832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2440" y="2971800"/>
            <a:ext cx="1508760" cy="777240"/>
          </a:xfrm>
          <a:prstGeom prst="roundRect">
            <a:avLst/>
          </a:prstGeom>
          <a:solidFill>
            <a:srgbClr val="141832"/>
          </a:solidFill>
          <a:ln w="19050">
            <a:solidFill>
              <a:srgbClr val="E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3081528"/>
            <a:ext cx="1508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E04040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1064240" y="2514600"/>
            <a:ext cx="182880" cy="3657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246120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F8C00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11880"/>
            <a:ext cx="5029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Tested on the Numenta Anomaly Benchmark (NAB) — standard for streaming anomaly detection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AREP outperformed predecessors (ReRe, Alter-Re²) on irregular telemetry patterns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Follow-up study (Pekar et al., 2024): on periodic server farm data, simpler Bayesian Changepoint (F: 0.66) beat AREP (F: 0.20)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Takeaway: LSTM excels on irregular patterns but struggles with highly periodic data — no single ML method wins everywhere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F0B429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Case Study: Predicting Internet Traffic from Telemetry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9FF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303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Operators need to predict future traffic volumes to avoid congestion and plan capacity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Telemetry is collected by sampling SNMP MIB counters on router interfaces (e.g., every 5 min) — giving a time series of bits-per-second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Traditional methods like ARIMA struggle with sudden spikes and complex patterns in real network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00C9A7"/>
                </a:solidFill>
                <a:latin typeface="Calibri"/>
              </a:defRPr>
            </a:pPr>
            <a:r>
              <a:t>The Study: ConvLSTMTransNet (Pekar et al., 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5303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A hybrid deep learning model combining three architectures: CNN (local patterns), LSTM (time dependencies), and Transformer encoder (long-range relationships)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Trained and tested on real ISP telemetry from high-speed 40 Gbps ports on a provider edge router, sampled at 5-min intervals via SNMP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This is real Juniper Networks ISP telemetry — not synthetic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845EC2"/>
                </a:solidFill>
                <a:latin typeface="Calibri"/>
              </a:defRPr>
            </a:pPr>
            <a:r>
              <a:t>Model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1508760" cy="777240"/>
          </a:xfrm>
          <a:prstGeom prst="roundRect">
            <a:avLst/>
          </a:prstGeom>
          <a:solidFill>
            <a:srgbClr val="141832"/>
          </a:solidFill>
          <a:ln w="19050">
            <a:solidFill>
              <a:srgbClr val="009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47088"/>
            <a:ext cx="1508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Telemetry</a:t>
            </a:r>
            <a:br/>
            <a:r>
              <a:t>Time Series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09560" y="1993392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1508760" cy="777240"/>
          </a:xfrm>
          <a:prstGeom prst="roundRect">
            <a:avLst/>
          </a:prstGeom>
          <a:solidFill>
            <a:srgbClr val="141832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847088"/>
            <a:ext cx="1508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CNN</a:t>
            </a:r>
            <a:br/>
            <a:r>
              <a:t>Local Patterns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01200" y="1993392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84080" y="1737360"/>
            <a:ext cx="1508760" cy="777240"/>
          </a:xfrm>
          <a:prstGeom prst="roundRect">
            <a:avLst/>
          </a:prstGeom>
          <a:solidFill>
            <a:srgbClr val="141832"/>
          </a:solidFill>
          <a:ln w="1905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847088"/>
            <a:ext cx="1508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845EC2"/>
                </a:solidFill>
                <a:latin typeface="Calibri"/>
              </a:defRPr>
            </a:pPr>
            <a:r>
              <a:t>LSTM</a:t>
            </a:r>
            <a:br/>
            <a:r>
              <a:t>Time Deps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971800"/>
            <a:ext cx="1508760" cy="777240"/>
          </a:xfrm>
          <a:prstGeom prst="roundRect">
            <a:avLst/>
          </a:prstGeom>
          <a:solidFill>
            <a:srgbClr val="141832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081528"/>
            <a:ext cx="1508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FF8C00"/>
                </a:solidFill>
                <a:latin typeface="Calibri"/>
              </a:defRPr>
            </a:pPr>
            <a:r>
              <a:t>Transformer</a:t>
            </a:r>
            <a:br/>
            <a:r>
              <a:t>Long-Range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09560" y="3227832"/>
            <a:ext cx="18288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2440" y="2971800"/>
            <a:ext cx="1508760" cy="777240"/>
          </a:xfrm>
          <a:prstGeom prst="roundRect">
            <a:avLst/>
          </a:prstGeom>
          <a:solidFill>
            <a:srgbClr val="141832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3081528"/>
            <a:ext cx="15087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F0B429"/>
                </a:solidFill>
                <a:latin typeface="Calibri"/>
              </a:defRPr>
            </a:pPr>
            <a:r>
              <a:t>Traffic</a:t>
            </a:r>
            <a:br/>
            <a:r>
              <a:t>Prediction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1064240" y="2514600"/>
            <a:ext cx="182880" cy="3657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246120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F8C00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11880"/>
            <a:ext cx="5029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Compared against three baselines: plain RNN, LSTM, and GRU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ConvLSTMTransNet outperformed all three by ~10% better accuracy (MAE, RMSE, WAPE)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Combining CNN + LSTM + Transformer captures both short-term spikes and long-term trends better than any single model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Trade-off noted: more complex models need more compute and training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F0B429"/>
                </a:solidFill>
                <a:latin typeface="Calibri"/>
              </a:defRPr>
            </a:pPr>
            <a:r>
              <a:t>Presenter: Mazen Alhassan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Industry Example: Ericsson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Combining better data organization with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Hashim Kshim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120640" cy="251460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37360"/>
            <a:ext cx="479145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845EC2"/>
                </a:solidFill>
                <a:latin typeface="Calibri"/>
              </a:defRPr>
            </a:pPr>
            <a:r>
              <a:t>AI-Ready Data Mesh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03120"/>
            <a:ext cx="4791456" cy="1874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Ericsson treats telemetry as a shared data product, not just raw logs.</a:t>
            </a:r>
            <a:br/>
            <a:br/>
            <a:r>
              <a:t>Teams manage domain pipelines with common standards, which improves data quality and makes telemetry easier for ML teams to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20640" cy="251460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737360"/>
            <a:ext cx="479145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845EC2"/>
                </a:solidFill>
                <a:latin typeface="Calibri"/>
              </a:defRPr>
            </a:pPr>
            <a:r>
              <a:t>Transport Automation Controller (TAC)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103120"/>
            <a:ext cx="4791456" cy="1874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Uses AI/ML to monitor transport performance, detect KPI anomalies, and support proactive capacity planning.</a:t>
            </a:r>
            <a:br/>
            <a:br/>
            <a:r>
              <a:t>Direction: closed-loop automation through detect, diagnose, and act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4526280"/>
            <a:ext cx="9509760" cy="132588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0472" y="4663440"/>
            <a:ext cx="918057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845EC2"/>
                </a:solidFill>
                <a:latin typeface="Calibri"/>
              </a:defRPr>
            </a:pPr>
            <a:r>
              <a:t>Key Industry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5029200"/>
            <a:ext cx="9180576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Ericsson shows that good AI outcomes depend on strong telemetry and data foundations. Better data pipelines make network automation and prediction more realistic at scale.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845EC2"/>
                </a:solidFill>
                <a:latin typeface="Calibri"/>
              </a:defRPr>
            </a:pPr>
            <a:r>
              <a:t>Presenter: Hashim Kshim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Emerging Trends: 6G &amp; GenAI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Two trend groups that shape the future of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Hashim Kshim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00600"/>
            <a:ext cx="5166360" cy="118872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37760"/>
            <a:ext cx="483717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00C9A7"/>
                </a:solidFill>
                <a:latin typeface="Calibri"/>
              </a:defRPr>
            </a:pPr>
            <a:r>
              <a:t>6G &amp; Next-Gen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303520"/>
            <a:ext cx="4837176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Edge intelligence, digital twins, semantic telemetry, and AI-native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800600"/>
            <a:ext cx="5166360" cy="1188720"/>
          </a:xfrm>
          <a:prstGeom prst="roundRect">
            <a:avLst/>
          </a:prstGeom>
          <a:solidFill>
            <a:srgbClr val="141832"/>
          </a:solidFill>
          <a:ln w="1778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4937760"/>
            <a:ext cx="483717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Generative AI &amp; LLMs for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5303520"/>
            <a:ext cx="4837176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Natural-language analytics, synthetic data, incident summaries, and foundation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845EC2"/>
                </a:solidFill>
                <a:latin typeface="Calibri"/>
              </a:defRPr>
            </a:pPr>
            <a:r>
              <a:t>Presenter: Hashim Kshim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Open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Important problems that still need better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Hashim Kshim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303520" cy="1325880"/>
          </a:xfrm>
          <a:prstGeom prst="roundRect">
            <a:avLst/>
          </a:prstGeom>
          <a:solidFill>
            <a:srgbClr val="141832"/>
          </a:solidFill>
          <a:ln w="1524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937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845EC2"/>
                </a:solidFill>
                <a:latin typeface="Calibri"/>
              </a:defRPr>
            </a:pPr>
            <a:r>
              <a:t>Not enough labeled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Real networks rarely provide clean examples of every failure or attack.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303520" cy="1325880"/>
          </a:xfrm>
          <a:prstGeom prst="roundRect">
            <a:avLst/>
          </a:prstGeom>
          <a:solidFill>
            <a:srgbClr val="141832"/>
          </a:solidFill>
          <a:ln w="1524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937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845EC2"/>
                </a:solidFill>
                <a:latin typeface="Calibri"/>
              </a:defRPr>
            </a:pPr>
            <a:r>
              <a:t>Scale and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Models must handle massive telemetry streams quickly enough to matter.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303520" cy="1325880"/>
          </a:xfrm>
          <a:prstGeom prst="roundRect">
            <a:avLst/>
          </a:prstGeom>
          <a:solidFill>
            <a:srgbClr val="141832"/>
          </a:solidFill>
          <a:ln w="1524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4937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845EC2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Operators need to know why a model raised an alert before they trust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554480"/>
            <a:ext cx="5303520" cy="1325880"/>
          </a:xfrm>
          <a:prstGeom prst="roundRect">
            <a:avLst/>
          </a:prstGeom>
          <a:solidFill>
            <a:srgbClr val="141832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91640"/>
            <a:ext cx="4937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Concept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05740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Normal traffic changes over time, so models can become outdated.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108960"/>
            <a:ext cx="5303520" cy="1325880"/>
          </a:xfrm>
          <a:prstGeom prst="roundRect">
            <a:avLst/>
          </a:prstGeom>
          <a:solidFill>
            <a:srgbClr val="141832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246120"/>
            <a:ext cx="4937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Generalization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61188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 model that works well in one network may fail in another.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663440"/>
            <a:ext cx="5303520" cy="1325880"/>
          </a:xfrm>
          <a:prstGeom prst="roundRect">
            <a:avLst/>
          </a:prstGeom>
          <a:solidFill>
            <a:srgbClr val="141832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800600"/>
            <a:ext cx="4937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Privacy and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166360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Telemetry can contain sensitive information that must be protected.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845EC2"/>
                </a:solidFill>
                <a:latin typeface="Calibri"/>
              </a:defRPr>
            </a:pPr>
            <a:r>
              <a:t>Presenter: Hashim Kshim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105156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A cleaner final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Hashim Kshim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344168"/>
            <a:ext cx="384048" cy="384048"/>
          </a:xfrm>
          <a:prstGeom prst="ellipse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384048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2588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700" b="1">
                <a:solidFill>
                  <a:srgbClr val="009FFD"/>
                </a:solidFill>
                <a:latin typeface="Calibri"/>
              </a:defRPr>
            </a:pPr>
            <a:r>
              <a:t>Telemetry gives the raw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73352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It tells us what the network is doing right now through streams of measurements and events.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331720"/>
            <a:ext cx="384048" cy="384048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384048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13432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700" b="1">
                <a:solidFill>
                  <a:srgbClr val="00C9A7"/>
                </a:solidFill>
                <a:latin typeface="Calibri"/>
              </a:defRPr>
            </a:pPr>
            <a:r>
              <a:t>ML helps turn data into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60904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It can find anomalies, predict future performance, and help improve QoS.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319272"/>
            <a:ext cx="384048" cy="384048"/>
          </a:xfrm>
          <a:prstGeom prst="ellipse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46704"/>
            <a:ext cx="384048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00984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700" b="1">
                <a:solidFill>
                  <a:srgbClr val="845EC2"/>
                </a:solidFill>
                <a:latin typeface="Calibri"/>
              </a:defRPr>
            </a:pPr>
            <a:r>
              <a:t>Industry is already using these ideas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48456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Companies such as Nokia and Ericsson are building more automated, ML-driven telemetry systems.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306824"/>
            <a:ext cx="384048" cy="384048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34256"/>
            <a:ext cx="384048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88536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700" b="1">
                <a:solidFill>
                  <a:srgbClr val="FF8C00"/>
                </a:solidFill>
                <a:latin typeface="Calibri"/>
              </a:defRPr>
            </a:pPr>
            <a:r>
              <a:t>The field is still growing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36008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6G, digital twins, and generative AI may make telemetry smarter and easier to use.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294376"/>
            <a:ext cx="384048" cy="384048"/>
          </a:xfrm>
          <a:prstGeom prst="ellipse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21808"/>
            <a:ext cx="384048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76088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700" b="1">
                <a:solidFill>
                  <a:srgbClr val="E04040"/>
                </a:solidFill>
                <a:latin typeface="Calibri"/>
              </a:defRPr>
            </a:pPr>
            <a:r>
              <a:t>The hardest part is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235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Real-world success still depends on trustworthy models, good data, and systems that scale.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845EC2"/>
                </a:solidFill>
                <a:latin typeface="Calibri"/>
              </a:defRPr>
            </a:pPr>
            <a:r>
              <a:t>Presenter: Hashim Kshim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3000" b="0">
                <a:solidFill>
                  <a:srgbClr val="00C9A7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749039"/>
            <a:ext cx="3931920" cy="36576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Abdul Rehman  |  Esam Mukbil  |  Hashim Kshim  |  Mazen Alhassan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NET3006A — Machine Learning for Network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263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009FFD"/>
                </a:solidFill>
                <a:latin typeface="Calibri"/>
              </a:defRPr>
            </a:pPr>
            <a:r>
              <a:t>Presenter: All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[1]  Nokia, "Modern Broadband Network Telemetry," Nokia White Paper, 2024.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[2]  Ericsson, "From data mess to AI-ready data mesh," Ericsson Blog, 2024.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[3]  Ericsson, "Visualizing network performance: Transport Automation Controller with AI/ML at the helm," Ericsson, 2024.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[4]  Z. Yuan et al., "iTeleScope: Softwarized Network Middle-Box for Real-Time Video Telemetry and Classification," IEEE/ACM Trans. Netw., 2023.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[5]  A. Dogra et al., "6G Network Architecture: QoS Paradigms and Data Lifecycle Management for Next-Generation Networks," IEEE Commun. Surveys Tuts., 2024.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[6]  S. Falkner et al., "Mobile Network Data Synthesis with Generative AI: Challenges and Solutions," IEEE Network, 2024.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[7]  M. Boban et al., "Autonomous network operations: from reactive management to intent-driven optimization," Ericsson Technology Review, 2024.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[8]  Ericsson, "Four ways generative AI is set to transform the telecom industry," Ericsson Blog, 2024.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[9]  ATIS, "Advancing Generative AI Implementation in Telecommunications Networks," ATIS White Paper, 2024.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[10] R. Boutaba et al., "A comprehensive survey on machine learning for networking," ACM Comput. Surv., vol. 51, no. 5, 2018.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[11] P. Mishra et al., "A detailed investigation and analysis of using ML techniques for intrusion detection," IEEE Commun. Surveys Tuts., 2019.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[12] F. Tang et al., "A survey on machine learning for traffic classification," IEEE Trans. on Network and Service Management, 2022.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
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777240"/>
            <a:ext cx="10378440" cy="4983480"/>
          </a:xfrm>
          <a:prstGeom prst="roundRect">
            <a:avLst/>
          </a:prstGeom>
          <a:solidFill>
            <a:srgbClr val="0E1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097280"/>
            <a:ext cx="94183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4400" b="1">
                <a:solidFill>
                  <a:srgbClr val="FFFFFF"/>
                </a:solidFill>
                <a:latin typeface="Calibri"/>
              </a:defRPr>
            </a:pPr>
            <a:r>
              <a:t>Machine Learning for Network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14600"/>
            <a:ext cx="94183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400" b="0">
                <a:solidFill>
                  <a:srgbClr val="009FFD"/>
                </a:solidFill>
                <a:latin typeface="Calibri"/>
              </a:defRPr>
            </a:pPr>
            <a:r>
              <a:t>A Survey of Methods, Applications, and Emerging Trends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017520"/>
            <a:ext cx="393192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NET3006A — Network Management and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Carleton University  |  Winter 2026  |  Dr. Jie Gao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Abdul Rehman  |  Esam Mukbil  |  Hashim Kshim  |  Mazen Alhassan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49240"/>
            <a:ext cx="9418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  <a:r>
              <a:t>Option 1: Survey / Reading Project  —  Topic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5870448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Detect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5870448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Predict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5760720"/>
            <a:ext cx="2011680" cy="50292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5870448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Optimize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All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4630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Introduction &amp; 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10512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009FFD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810512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What Network Telemetry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10512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57984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157984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Why Machine Learning Helps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57984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505456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00C9A7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505456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Anomaly Detection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05456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852928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0B42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2852928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Main Lessons from Anomaly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5292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0B42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20040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Performance 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0040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547872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3547872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QoS Optimization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47872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895344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8.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895344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Main Lessons for Performance &amp; QoS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95344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242816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0B429"/>
                </a:solidFill>
                <a:latin typeface="Calibri"/>
              </a:defRPr>
            </a:pPr>
            <a:r>
              <a:t>9.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242816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Telemetry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242816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590288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F0B429"/>
                </a:solidFill>
                <a:latin typeface="Calibri"/>
              </a:defRPr>
            </a:pPr>
            <a:r>
              <a:t>10.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4590288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Nokia Example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59028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4937760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11.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49377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Ericsson Example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937760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285231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12.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5285231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Future Trends: 6G &amp; GenAI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5285231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5632704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5632704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Open Challenges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5632704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980176"/>
            <a:ext cx="5486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1">
                <a:solidFill>
                  <a:srgbClr val="845EC2"/>
                </a:solidFill>
                <a:latin typeface="Calibri"/>
              </a:defRPr>
            </a:pPr>
            <a:r>
              <a:t>14.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45920" y="5980176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980176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48" name="Oval 47"/>
          <p:cNvSpPr/>
          <p:nvPr/>
        </p:nvSpPr>
        <p:spPr>
          <a:xfrm>
            <a:off x="731520" y="6446520"/>
            <a:ext cx="137160" cy="13716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0120" y="635508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009FFD"/>
                </a:solidFill>
                <a:latin typeface="Calibri"/>
              </a:defRPr>
            </a:pPr>
            <a:r>
              <a:t>Abdul Rehman</a:t>
            </a:r>
          </a:p>
        </p:txBody>
      </p:sp>
      <p:sp>
        <p:nvSpPr>
          <p:cNvPr id="50" name="Oval 49"/>
          <p:cNvSpPr/>
          <p:nvPr/>
        </p:nvSpPr>
        <p:spPr>
          <a:xfrm>
            <a:off x="3566160" y="6446520"/>
            <a:ext cx="137160" cy="13716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4760" y="635508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00C9A7"/>
                </a:solidFill>
                <a:latin typeface="Calibri"/>
              </a:defRPr>
            </a:pPr>
            <a:r>
              <a:t>Esam Mukbil</a:t>
            </a:r>
          </a:p>
        </p:txBody>
      </p:sp>
      <p:sp>
        <p:nvSpPr>
          <p:cNvPr id="52" name="Oval 51"/>
          <p:cNvSpPr/>
          <p:nvPr/>
        </p:nvSpPr>
        <p:spPr>
          <a:xfrm>
            <a:off x="6400800" y="6446520"/>
            <a:ext cx="137160" cy="137160"/>
          </a:xfrm>
          <a:prstGeom prst="ellipse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635508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F0B429"/>
                </a:solidFill>
                <a:latin typeface="Calibri"/>
              </a:defRPr>
            </a:pPr>
            <a:r>
              <a:t>Mazen Alhassan</a:t>
            </a:r>
          </a:p>
        </p:txBody>
      </p:sp>
      <p:sp>
        <p:nvSpPr>
          <p:cNvPr id="54" name="Oval 53"/>
          <p:cNvSpPr/>
          <p:nvPr/>
        </p:nvSpPr>
        <p:spPr>
          <a:xfrm>
            <a:off x="9235440" y="6446520"/>
            <a:ext cx="137160" cy="137160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64040" y="6355080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845EC2"/>
                </a:solidFill>
                <a:latin typeface="Calibri"/>
              </a:defRPr>
            </a:pPr>
            <a:r>
              <a:t>Hashim Kshim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PART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4000" b="1">
                <a:solidFill>
                  <a:srgbClr val="009FFD"/>
                </a:solidFill>
                <a:latin typeface="Calibri"/>
              </a:defRPr>
            </a:pPr>
            <a:r>
              <a:t>Introduction &amp; ML for Anomaly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Network Telemetry?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The network continuously reports what is happening inside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It is the live data that routers, switches, and links send about their health and traffic.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It tells us things like delay, packet loss, throughput, CPU use, and errors.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Modern systems stream this data automatically instead of waiting for slow manual checks.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That gives operators a clearer and faster view of what the network is doing.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10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Telemetry is the input that ML uses to spot trouble and predict future problems.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1645920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Simple View</a:t>
            </a:r>
          </a:p>
        </p:txBody>
      </p:sp>
      <p:sp>
        <p:nvSpPr>
          <p:cNvPr id="9" name="Oval 8"/>
          <p:cNvSpPr/>
          <p:nvPr/>
        </p:nvSpPr>
        <p:spPr>
          <a:xfrm>
            <a:off x="7086600" y="2240280"/>
            <a:ext cx="960120" cy="96012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86600" y="2267712"/>
            <a:ext cx="960120" cy="93268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086600" y="2542032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Devices</a:t>
            </a:r>
          </a:p>
        </p:txBody>
      </p:sp>
      <p:sp>
        <p:nvSpPr>
          <p:cNvPr id="12" name="Oval 11"/>
          <p:cNvSpPr/>
          <p:nvPr/>
        </p:nvSpPr>
        <p:spPr>
          <a:xfrm>
            <a:off x="8641080" y="2240280"/>
            <a:ext cx="960120" cy="960120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1080" y="2267712"/>
            <a:ext cx="960120" cy="93268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641080" y="2542032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5" name="Oval 14"/>
          <p:cNvSpPr/>
          <p:nvPr/>
        </p:nvSpPr>
        <p:spPr>
          <a:xfrm>
            <a:off x="10195560" y="2240280"/>
            <a:ext cx="960120" cy="960120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2267712"/>
            <a:ext cx="960120" cy="93268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195560" y="2542032"/>
            <a:ext cx="9601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092440" y="2542032"/>
            <a:ext cx="41148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9646920" y="2542032"/>
            <a:ext cx="41148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12280" y="3703320"/>
            <a:ext cx="4983480" cy="18288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3840480"/>
            <a:ext cx="46542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Examples of Telemetry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6872" y="4206240"/>
            <a:ext cx="4654296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Flow data</a:t>
            </a:r>
            <a:br/>
            <a:r>
              <a:t>Packet traces</a:t>
            </a:r>
            <a:br/>
            <a:r>
              <a:t>Device metrics</a:t>
            </a:r>
            <a:br/>
            <a:r>
              <a:t>INT path details</a:t>
            </a:r>
            <a:br/>
            <a:r>
              <a:t>Logs and events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From Traditional Monitoring to Streaming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Why modern networks moved beyond slow polling and basic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5120640" cy="29718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74520"/>
            <a:ext cx="47914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Traditional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40280"/>
            <a:ext cx="4791456" cy="2331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Checks devices every so often</a:t>
            </a:r>
            <a:br/>
            <a:r>
              <a:t>Often slower and less detailed</a:t>
            </a:r>
            <a:br/>
            <a:r>
              <a:t>Problems may be noticed after users are affected</a:t>
            </a:r>
            <a:br/>
            <a:r>
              <a:t>Works poorly at modern network scale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37360"/>
            <a:ext cx="5120640" cy="29718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74520"/>
            <a:ext cx="47914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Streaming Telemetry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240280"/>
            <a:ext cx="4791456" cy="2331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Data is pushed continuously</a:t>
            </a:r>
            <a:br/>
            <a:r>
              <a:t>More detailed and more real-time</a:t>
            </a:r>
            <a:br/>
            <a:r>
              <a:t>Makes faster detection and response possible</a:t>
            </a:r>
            <a:br/>
            <a:r>
              <a:t>Better fit for ML and automation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788920"/>
            <a:ext cx="502920" cy="27432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4892040"/>
            <a:ext cx="7589520" cy="9601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2" y="5029200"/>
            <a:ext cx="72603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Main 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0592" y="5394960"/>
            <a:ext cx="72603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Better telemetry gives ML better input, and better input leads to better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Where Telemetry Data Comes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Different network signals combine to give a full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489204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74520"/>
            <a:ext cx="45628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40280"/>
            <a:ext cx="456285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Routers, switches, and access points report health and counters.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489204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74520"/>
            <a:ext cx="45628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Traffic 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40280"/>
            <a:ext cx="456285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Flow records show who is talking, how much, and how often.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489204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703320"/>
            <a:ext cx="45628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Packets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069080"/>
            <a:ext cx="456285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Packet traces reveal detailed behavior on the wire.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566160"/>
            <a:ext cx="489204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703320"/>
            <a:ext cx="45628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Logs &amp; Events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069080"/>
            <a:ext cx="456285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Logs capture warnings, failures, and configuration changes.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5074920"/>
            <a:ext cx="8503920" cy="9601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93392" y="5212080"/>
            <a:ext cx="8174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93392" y="5577840"/>
            <a:ext cx="8174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ML works best when it can learn from multiple types of telemetry instead of a single signal.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Telemetry Matters in Modern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Telemetry supports visibility, reliability, and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66420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384048" cy="35661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64592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See problems earlier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993392"/>
            <a:ext cx="98755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Operators can notice trouble before outages spread.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62432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51760"/>
            <a:ext cx="384048" cy="35661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0604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Understand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953512"/>
            <a:ext cx="98755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Teams can measure delay, loss, and congestion more clearly.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8444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11880"/>
            <a:ext cx="384048" cy="35661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56616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Support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913632"/>
            <a:ext cx="98755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Telemetry gives ML the evidence it needs to recommend actions.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4456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72000"/>
            <a:ext cx="384048" cy="35661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526280"/>
            <a:ext cx="38404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Scale to new networks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873752"/>
            <a:ext cx="987552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5G, cloud, and large systems need better visibility than old tools provide.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1965960"/>
            <a:ext cx="4206240" cy="2468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2103120"/>
            <a:ext cx="38770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Simple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6912" y="2468880"/>
            <a:ext cx="3877056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500" b="0">
                <a:solidFill>
                  <a:srgbClr val="CCCCCC"/>
                </a:solidFill>
                <a:latin typeface="Calibri"/>
              </a:defRPr>
            </a:pPr>
            <a:r>
              <a:t>Telemetry is the network's evidence.</a:t>
            </a:r>
            <a:br/>
            <a:r>
              <a:t>ML uses that evidence to find patterns, explain behavior, and support faster decisions.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Abdul Rehman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Apply ML to Network Telemetry?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The challenge is not collecting data. It is understanding it fast enough.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Oval 6"/>
          <p:cNvSpPr/>
          <p:nvPr/>
        </p:nvSpPr>
        <p:spPr>
          <a:xfrm>
            <a:off x="5074920" y="2148840"/>
            <a:ext cx="1828800" cy="1828800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2697480"/>
            <a:ext cx="1828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4160520"/>
            <a:ext cx="29260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Why use ML here?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7373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874520"/>
            <a:ext cx="3236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Too much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240280"/>
            <a:ext cx="3236976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Large networks create huge telemetry streams every second.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947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931920"/>
            <a:ext cx="3236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Problems are hidden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297680"/>
            <a:ext cx="3236976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Small clues across many signals are hard to notice manually.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373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08392" y="1874520"/>
            <a:ext cx="3236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Speed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2240280"/>
            <a:ext cx="3236976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Teams need answers before users feel the problem.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3794760"/>
            <a:ext cx="3566160" cy="14173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8392" y="3931920"/>
            <a:ext cx="3236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Networks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8392" y="4297680"/>
            <a:ext cx="3236976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Traffic and paths move, so fixed rules become outdated.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5257800"/>
            <a:ext cx="4709160" cy="9601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22192" y="5394960"/>
            <a:ext cx="4379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What We Cover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2192" y="5760720"/>
            <a:ext cx="4379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Anomalies  |  Prediction  |  QoS  |  Industry  |  Future trends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Methods for Anomaly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visual summary of the main 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1912" y="178308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Autoencoders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214884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Learn what normal traffic looks like. If new data looks very different, it may be an anomaly.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481328"/>
            <a:ext cx="841248" cy="256032"/>
          </a:xfrm>
          <a:prstGeom prst="round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49961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Unsupervised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178308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LSTM / GRU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214884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Look at patterns over time. They help catch spikes, drops, or strange sequences in telemetry.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481328"/>
            <a:ext cx="841248" cy="256032"/>
          </a:xfrm>
          <a:prstGeom prst="round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49961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Deep Learning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64592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65592" y="178308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Isolation Forest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214884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Quickly separates unusual points from common ones. Useful when speed is important.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1481328"/>
            <a:ext cx="841248" cy="256032"/>
          </a:xfrm>
          <a:prstGeom prst="round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0" y="149961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Unsupervised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365760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27832" y="379476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One-Class SVM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27832" y="416052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Builds a boundary around normal behavior, then flags data outside that boundary.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3493008"/>
            <a:ext cx="841248" cy="256032"/>
          </a:xfrm>
          <a:prstGeom prst="round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351129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Semi-supervised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657600"/>
            <a:ext cx="27889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3794760"/>
            <a:ext cx="24597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GAN-based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160520"/>
            <a:ext cx="24597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Generate or compare normal-looking samples so unusual behavior stands out more clearly.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3493008"/>
            <a:ext cx="841248" cy="256032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511296"/>
            <a:ext cx="841248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800" b="1">
                <a:solidFill>
                  <a:srgbClr val="FFFFFF"/>
                </a:solidFill>
                <a:latin typeface="Calibri"/>
              </a:defRPr>
            </a:pPr>
            <a:r>
              <a:t>Generative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Anomaly Detection: Main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Less text, stronger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73736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1874520"/>
            <a:ext cx="424281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Deep learning is strong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240280"/>
            <a:ext cx="4242816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Deep learning often beats older statistical methods when telemetry has many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73736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1874520"/>
            <a:ext cx="424281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Unsupervised is practical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240280"/>
            <a:ext cx="4242816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Unsupervised learning is popular because real networks rarely have enough labeled anomaly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61188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749040"/>
            <a:ext cx="424281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Hybrid models help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4114800"/>
            <a:ext cx="4242816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Hybrid models work well because they mix strong feature learning with fast scoring.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611880"/>
            <a:ext cx="4572000" cy="15087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3749040"/>
            <a:ext cx="424281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Speed is still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4114800"/>
            <a:ext cx="4242816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Real-time use is still hard because accurate models can be expensive to run at scale.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0" y="5074920"/>
            <a:ext cx="8138160" cy="987552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76272" y="5212080"/>
            <a:ext cx="78089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Key Takeaway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5577840"/>
            <a:ext cx="7808976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Best results often come from models that learn normal behavior first because labeled anomaly data is limited.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PART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4000" b="1">
                <a:solidFill>
                  <a:srgbClr val="00C9A7"/>
                </a:solidFill>
                <a:latin typeface="Calibri"/>
              </a:defRPr>
            </a:pPr>
            <a:r>
              <a:t>Methods, Findings &amp;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Presenters: Esam Mukbil &amp; Mazen Alhassan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for Network Performance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Using telemetry to estimate what the network will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Time-Series Forecasting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659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LSTM and GRU models learn how metrics change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forecast delay, jitter, loss, and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Useful when recent behavior helps predict the near future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Graph Neural Networks (GNNs)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Represent the network as devices and links in a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Good for path-based prediction because topology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605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capture how one congested link can affect other paths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Ensemble &amp; Hybrid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96596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Combine different models to improve robustness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860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Often more accurate than relying on one model alone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6060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Can adapt better when traffic patterns shift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089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Attention Mechanisms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5204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Transformer-style models look at longer patterns in the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4048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They help identify which signals matter most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605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• Strong option for large, multi-feature telemetry streams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 for QoS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Using telemetry and predictions to keep service quality 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Reinforcement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An agent tries actions and learns which routing or scheduling choices give better QoS.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4320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Deep Q-Networks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9067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Use the current network state to choose actions like rerouting, balancing load, or assigning bandwidth.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93192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93192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Multi-Objective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7939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Helps balance trade-offs such as low delay, good throughput, and fairness at the same time.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120640"/>
            <a:ext cx="73152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12064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Federated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6811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Lets different domains train shared models without sending all raw telemetry to one place.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Performance &amp; QoS: Main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What stood out most across the literature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57276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91056"/>
            <a:ext cx="34747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5448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Topology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0195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GNNs usually beat plain time-series models when the shape of the network affects performance.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76148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6"/>
            <a:ext cx="34747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74320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RL is powerful but risky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9067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Reinforcement learning looks strong in simulations, but deployment is harder because bad actions can hurt live traffic.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95020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34747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93192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Good data matters most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939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Missing or noisy telemetry can hurt prediction quality more than model choice.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138928"/>
            <a:ext cx="347472" cy="347472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157216"/>
            <a:ext cx="347472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2064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Proactive beats reactive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68112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Predicting trouble early is better than waiting for thresholds to fail after users are already affected.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Presenter: Esam Mukbil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ML-Enhanced Network Telemetry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cleaner flow from data to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2468880" cy="10515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709160"/>
            <a:ext cx="21396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9FFD"/>
                </a:solidFill>
                <a:latin typeface="Calibri"/>
              </a:defRPr>
            </a:pPr>
            <a: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074920"/>
            <a:ext cx="2139696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Devices export live network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572000"/>
            <a:ext cx="2468880" cy="10515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2" y="4709160"/>
            <a:ext cx="21396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5074920"/>
            <a:ext cx="2139696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Platforms organize and retain telemetry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572000"/>
            <a:ext cx="2468880" cy="10515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709160"/>
            <a:ext cx="21396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5074920"/>
            <a:ext cx="2139696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ML models detect patterns and predict issues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79" y="4572000"/>
            <a:ext cx="2468880" cy="105156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1" y="4709160"/>
            <a:ext cx="213969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1" y="5074920"/>
            <a:ext cx="2139696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100" b="0">
                <a:solidFill>
                  <a:srgbClr val="CCCCCC"/>
                </a:solidFill>
                <a:latin typeface="Calibri"/>
              </a:defRPr>
            </a:pPr>
            <a:r>
              <a:t>Operators or automation respond faster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4241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The pipeline matters because good telemetry architecture makes reliable ML and faster response possible.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0B429"/>
                </a:solidFill>
                <a:latin typeface="Calibri"/>
              </a:defRPr>
            </a:pPr>
            <a:r>
              <a:t>PART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560320"/>
            <a:ext cx="12191695" cy="1645920"/>
          </a:xfrm>
          <a:prstGeom prst="rect">
            <a:avLst/>
          </a:prstGeom>
          <a:solidFill>
            <a:srgbClr val="10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4000" b="1">
                <a:solidFill>
                  <a:srgbClr val="F0B429"/>
                </a:solidFill>
                <a:latin typeface="Calibri"/>
              </a:defRPr>
            </a:pPr>
            <a:r>
              <a:t>Pipeline, Industry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Presenters: Mazen Alhassan &amp; Hashim Kshim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Industry Example: Nokia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Showing what ML-driven telemetry looks like 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74520"/>
            <a:ext cx="31455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0B429"/>
                </a:solidFill>
                <a:latin typeface="Calibri"/>
              </a:defRPr>
            </a:pPr>
            <a: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0280"/>
            <a:ext cx="31455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Gather live broadband telemetry from many devices.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874520"/>
            <a:ext cx="31455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Analyze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240280"/>
            <a:ext cx="31455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Use ML to detect anomalies and estimate risk.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737360"/>
            <a:ext cx="3474720" cy="146304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1874520"/>
            <a:ext cx="314553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240280"/>
            <a:ext cx="3145536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Support faster troubleshooting and predictive maintenance.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40480" y="2304288"/>
            <a:ext cx="32004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406640" y="2304288"/>
            <a:ext cx="320040" cy="201168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25880" y="3794760"/>
            <a:ext cx="9509760" cy="15544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0472" y="3931920"/>
            <a:ext cx="91805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0B429"/>
                </a:solidFill>
                <a:latin typeface="Calibri"/>
              </a:defRPr>
            </a:pPr>
            <a:r>
              <a:t>What Nokia Is Trying To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0472" y="4297680"/>
            <a:ext cx="9180576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Predict failures early  |  find unusual behavior automatically  |  estimate customer experience  |  forecast capacity needs  |  speed up troubleshooting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Case Study: Real-Time Anomaly Detection in Network Telemetry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53035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Telemetry streams massive time-series data (CPU, traffic, link utilization) from routers/servers in real time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Operators cannot manually monitor everything — ML is needed to automatically flag abnormal patterns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Challenge: detect anomalies in real time with low false positives, without large labeled datasets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The Study: AREP (Pekar et al., 2022)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5303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Uses an LSTM neural network to predict the next telemetry data point, then compares prediction to actual value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If the difference exceeds a threshold, it flags an anomaly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Key innovation: AREP auto-tunes its detection window and ageing coefficient — no manual parameter setup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Offset compensation retrains the model when predictions start to drift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2344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845EC2"/>
                </a:solidFill>
                <a:latin typeface="Calibri"/>
              </a:defRPr>
            </a:pPr>
            <a:r>
              <a:t>How AREP 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Telemetry</a:t>
            </a:r>
            <a:br/>
            <a:r>
              <a:t>Stream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956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LSTM</a:t>
            </a:r>
            <a:br/>
            <a:r>
              <a:t>Prediction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0120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78408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Compare to</a:t>
            </a:r>
            <a:br/>
            <a:r>
              <a:t>Actual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97180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08152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F8C00"/>
                </a:solidFill>
                <a:latin typeface="Calibri"/>
              </a:defRPr>
            </a:pPr>
            <a:r>
              <a:t>Anomaly</a:t>
            </a:r>
            <a:br/>
            <a:r>
              <a:t>Score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9560" y="322783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92440" y="297180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E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308152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E04040"/>
                </a:solidFill>
                <a:latin typeface="Calibri"/>
              </a:defRPr>
            </a:pPr>
            <a:r>
              <a:t>Alert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1064240" y="2514600"/>
            <a:ext cx="182880" cy="3657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24612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8C00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11880"/>
            <a:ext cx="50292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Tested on the Numenta Anomaly Benchmark (NAB) — standard for streaming anomaly detection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AREP outperformed predecessors (ReRe, Alter-Re²) on irregular telemetry patterns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Follow-up study (Pekar et al., 2024): on periodic server farm data, simpler Bayesian Changepoint (F: 0.66) beat AREP (F: 0.20)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Takeaway: LSTM excels on irregular patterns but struggles with highly periodic data — no single ML method wins everywhere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Case Study: Predicting Internet Traffic from Telemetry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5303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Operators need to predict future traffic volumes to avoid congestion and plan capacity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Telemetry is collected by sampling SNMP MIB counters on router interfaces (e.g., every 5 min) — giving a time series of bits-per-second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Traditional methods like ARIMA struggle with sudden spikes and complex patterns in real network traffic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C9A7"/>
                </a:solidFill>
                <a:latin typeface="Calibri"/>
              </a:defRPr>
            </a:pPr>
            <a:r>
              <a:t>The Study: ConvLSTMTransNet (Pekar et al.,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53035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A hybrid deep learning model combining three architectures: CNN (local patterns), LSTM (time dependencies), and Transformer encoder (long-range relationships)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Trained and tested on real ISP telemetry from high-speed 40 Gbps ports on a provider edge router, sampled at 5-min intervals via SNMP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This is real Juniper Networks ISP telemetry — not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2344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845EC2"/>
                </a:solidFill>
                <a:latin typeface="Calibri"/>
              </a:defRPr>
            </a:pPr>
            <a:r>
              <a:t>Model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Telemetry</a:t>
            </a:r>
            <a:br/>
            <a:r>
              <a:t>Time Series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0956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CNN</a:t>
            </a:r>
            <a:br/>
            <a:r>
              <a:t>Local Patterns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60120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784080" y="173736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184708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LSTM</a:t>
            </a:r>
            <a:br/>
            <a:r>
              <a:t>Time Deps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97180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08152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F8C00"/>
                </a:solidFill>
                <a:latin typeface="Calibri"/>
              </a:defRPr>
            </a:pPr>
            <a:r>
              <a:t>Transformer</a:t>
            </a:r>
            <a:br/>
            <a:r>
              <a:t>Long-Range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9560" y="322783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92440" y="2971800"/>
            <a:ext cx="15087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3081528"/>
            <a:ext cx="1508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Traffic</a:t>
            </a:r>
            <a:br/>
            <a:r>
              <a:t>Prediction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1064240" y="2514600"/>
            <a:ext cx="182880" cy="3657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24612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8C00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11880"/>
            <a:ext cx="5029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Compared against three baselines: plain RNN, LSTM, and GRU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ConvLSTMTransNet outperformed all three by ~10% better accuracy (MAE, RMSE, WAPE)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Combining CNN + LSTM + Transformer captures both short-term spikes and long-term trends better than any single model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Trade-off noted: more complex models need more compute and training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Case Study: Predicting QoS with Graph Neural 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009FF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53035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Operators need to know QoS metrics (delay, jitter, packet loss) for every flow path in their network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Traditionally requires expensive packet-level simulators (OMNeT++) that take a long time, or constant active probing that wastes bandwidth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What if ML could instantly predict QoS metrics just by looking at topology, routing, and traffic load?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The Study: RouteNet-Fermi (Ferriol-Galmés et al.,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Uses a Graph Neural Network (GNN) — designed for graph-structured data (perfect for networks)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Three-stage message-passing algorithm between flows, queues, and links — learns how they interact to affect performance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Input: topology + routing + traffic parameters. Output: per-flow delay, jitter, packet loss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Key strength: generalizes to unseen networks — train on small networks (14-50 nodes), predict accurately on networks up to 300 nodes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23444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845EC2"/>
                </a:solidFill>
                <a:latin typeface="Calibri"/>
              </a:defRPr>
            </a:pPr>
            <a:r>
              <a:t>How RouteNet-Fermi Works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737360"/>
            <a:ext cx="21945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9F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Network</a:t>
            </a:r>
            <a:br/>
            <a:r>
              <a:t>Graph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78240" y="199339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61120" y="1737360"/>
            <a:ext cx="21945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1847088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C9A7"/>
                </a:solidFill>
                <a:latin typeface="Calibri"/>
              </a:defRPr>
            </a:pPr>
            <a:r>
              <a:t>GNN Message</a:t>
            </a:r>
            <a:br/>
            <a:r>
              <a:t>Passing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971800"/>
            <a:ext cx="21945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081528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Flows ↔</a:t>
            </a:r>
            <a:br/>
            <a:r>
              <a:t>Queues ↔ Links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78240" y="3227832"/>
            <a:ext cx="182880" cy="18288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20" y="2971800"/>
            <a:ext cx="2194560" cy="777240"/>
          </a:xfrm>
          <a:prstGeom prst="roundRect">
            <a:avLst/>
          </a:prstGeom>
          <a:solidFill>
            <a:srgbClr val="141832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081528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QoS</a:t>
            </a:r>
            <a:br/>
            <a:r>
              <a:t>Predictions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7680960" y="2514600"/>
            <a:ext cx="182880" cy="3657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24612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8C00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611880"/>
            <a:ext cx="5029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Mean relative error of only 6.24% for delay prediction on test networks 10x larger than training networks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Worst-case accuracy on completely unseen topologies and routing: MRE of 15.4%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Matched accuracy of packet-level simulators but runs orders of magnitude faster</a:t>
            </a:r>
          </a:p>
          <a:p>
            <a:pPr>
              <a:lnSpc>
                <a:spcPct val="120000"/>
              </a:lnSpc>
              <a:spcBef>
                <a:spcPts val="100"/>
              </a:spcBef>
              <a:spcAft>
                <a:spcPts val="60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• Supports real-world features like multi-queue QoS scheduling — not just toy scenarios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F0B429"/>
                </a:solidFill>
                <a:latin typeface="Calibri"/>
              </a:defRPr>
            </a:pPr>
            <a:r>
              <a:t>Presenter: Mazen Alhassan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Industry Example: Ericsson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Combining better data organization with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120640" cy="25146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37360"/>
            <a:ext cx="47914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AI-Ready Data Mesh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103120"/>
            <a:ext cx="4791456" cy="1874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Ericsson treats telemetry as a shared data product, not just raw logs.</a:t>
            </a:r>
            <a:br/>
            <a:br/>
            <a:r>
              <a:t>Teams manage domain pipelines with common standards, which improves data quality and makes telemetry easier for ML teams to 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00200"/>
            <a:ext cx="5120640" cy="251460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737360"/>
            <a:ext cx="479145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Transport Automation Controller (TAC)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103120"/>
            <a:ext cx="4791456" cy="1874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Uses AI/ML to monitor transport performance, detect KPI anomalies, and support proactive capacity planning.</a:t>
            </a:r>
            <a:br/>
            <a:br/>
            <a:r>
              <a:t>Direction: closed-loop automation through detect, diagnose, and act workflows.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4526280"/>
            <a:ext cx="9509760" cy="132588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90472" y="4663440"/>
            <a:ext cx="91805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Key Industry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0472" y="5029200"/>
            <a:ext cx="918057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300" b="0">
                <a:solidFill>
                  <a:srgbClr val="CCCCCC"/>
                </a:solidFill>
                <a:latin typeface="Calibri"/>
              </a:defRPr>
            </a:pPr>
            <a:r>
              <a:t>Ericsson shows that good AI outcomes depend on strong telemetry and data foundations. Better data pipelines make network automation and prediction more realistic at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Emerging Trends: 6G &amp; GenAI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Two trend groups that shape the future of telemetry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800600"/>
            <a:ext cx="5166360" cy="11887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4937760"/>
            <a:ext cx="48371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00C9A7"/>
                </a:solidFill>
                <a:latin typeface="Calibri"/>
              </a:defRPr>
            </a:pPr>
            <a:r>
              <a:t>6G &amp; Next-Gen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303520"/>
            <a:ext cx="4837176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Edge intelligence, digital twins, semantic telemetry, and AI-native design.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800600"/>
            <a:ext cx="5166360" cy="1188720"/>
          </a:xfrm>
          <a:prstGeom prst="roundRect">
            <a:avLst/>
          </a:prstGeom>
          <a:solidFill>
            <a:srgbClr val="141832"/>
          </a:solidFill>
          <a:ln w="1778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4937760"/>
            <a:ext cx="4837176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Generative AI &amp; LLMs for Telemetry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5303520"/>
            <a:ext cx="4837176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Natural-language analytics, synthetic data, incident summaries, and foundation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Open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Important problems that still need better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Not enough labeled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Real networks rarely provide clean examples of every failure or attack.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Scale and 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Models must handle massive telemetry streams quickly enough to matter.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845E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845EC2"/>
                </a:solidFill>
                <a:latin typeface="Calibri"/>
              </a:defRPr>
            </a:pPr>
            <a:r>
              <a:t>Explainability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6636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Operators need to know why a model raised an alert before they trust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55448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69164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Concept drift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05740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Normal traffic changes over time, so models can become outdated.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10896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24612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Generalization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8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A model that works well in one network may fail in another.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663440"/>
            <a:ext cx="5303520" cy="1325880"/>
          </a:xfrm>
          <a:prstGeom prst="roundRect">
            <a:avLst/>
          </a:prstGeom>
          <a:solidFill>
            <a:srgbClr val="141832"/>
          </a:solidFill>
          <a:ln w="1524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4800600"/>
            <a:ext cx="49377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600" b="1">
                <a:solidFill>
                  <a:srgbClr val="FF8C00"/>
                </a:solidFill>
                <a:latin typeface="Calibri"/>
              </a:defRPr>
            </a:pPr>
            <a:r>
              <a:t>Privacy and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166360"/>
            <a:ext cx="493776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Telemetry can contain sensitive information that must be protected.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24128"/>
            <a:ext cx="10515600" cy="43891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800" b="0">
                <a:solidFill>
                  <a:srgbClr val="CCCCCC"/>
                </a:solidFill>
                <a:latin typeface="Calibri"/>
              </a:defRPr>
            </a:pPr>
            <a:r>
              <a:t>A cleaner final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344168"/>
            <a:ext cx="384048" cy="384048"/>
          </a:xfrm>
          <a:prstGeom prst="ellipse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25880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9FFD"/>
                </a:solidFill>
                <a:latin typeface="Calibri"/>
              </a:defRPr>
            </a:pPr>
            <a:r>
              <a:t>Telemetry gives the raw picture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673352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It tells us what the network is doing right now through streams of measurements and events.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331720"/>
            <a:ext cx="384048" cy="384048"/>
          </a:xfrm>
          <a:prstGeom prst="ellipse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59152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313432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00C9A7"/>
                </a:solidFill>
                <a:latin typeface="Calibri"/>
              </a:defRPr>
            </a:pPr>
            <a:r>
              <a:t>ML helps turn data into decisions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660904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It can find anomalies, predict future performance, and help improve QoS.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319272"/>
            <a:ext cx="384048" cy="384048"/>
          </a:xfrm>
          <a:prstGeom prst="ellipse">
            <a:avLst/>
          </a:prstGeom>
          <a:solidFill>
            <a:srgbClr val="845E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46704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300984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845EC2"/>
                </a:solidFill>
                <a:latin typeface="Calibri"/>
              </a:defRPr>
            </a:pPr>
            <a:r>
              <a:t>Industry is already using these ideas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48456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Companies such as Nokia and Ericsson are building more automated, ML-driven telemetry systems.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4306824"/>
            <a:ext cx="384048" cy="384048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34256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88536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FF8C00"/>
                </a:solidFill>
                <a:latin typeface="Calibri"/>
              </a:defRPr>
            </a:pPr>
            <a:r>
              <a:t>The field is still growing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36008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6G, digital twins, and generative AI may make telemetry smarter and easier to use.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294376"/>
            <a:ext cx="384048" cy="384048"/>
          </a:xfrm>
          <a:prstGeom prst="ellipse">
            <a:avLst/>
          </a:prstGeom>
          <a:solidFill>
            <a:srgbClr val="E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321808"/>
            <a:ext cx="384048" cy="34747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76088"/>
            <a:ext cx="10515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700" b="1">
                <a:solidFill>
                  <a:srgbClr val="E04040"/>
                </a:solidFill>
                <a:latin typeface="Calibri"/>
              </a:defRPr>
            </a:pPr>
            <a:r>
              <a:t>The hardest part is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6235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400" b="0">
                <a:solidFill>
                  <a:srgbClr val="CCCCCC"/>
                </a:solidFill>
                <a:latin typeface="Calibri"/>
              </a:defRPr>
            </a:pPr>
            <a:r>
              <a:t>Real-world success still depends on trustworthy models, good data, and systems that scale.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845EC2"/>
                </a:solidFill>
                <a:latin typeface="Calibri"/>
              </a:defRPr>
            </a:pPr>
            <a:r>
              <a:t>Presenter: Hashim Kshim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52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4183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3000" b="0">
                <a:solidFill>
                  <a:srgbClr val="00C9A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3749039"/>
            <a:ext cx="3931920" cy="3657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11480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Abdul Rehman  |  Esam Mukbil  |  Hashim Kshim  |  Mazen Alhassan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NET3006A — Machine Learning for Network Telemetry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6263640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  <a:defRPr sz="1200" b="1">
                <a:solidFill>
                  <a:srgbClr val="009FFD"/>
                </a:solidFill>
                <a:latin typeface="Calibri"/>
              </a:defRPr>
            </a:pPr>
            <a:r>
              <a:t>Presenter: All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[1]  Nokia, "Modern Broadband Network Telemetry," Nokia White Paper,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[2]  Ericsson, "From data mess to AI-ready data mesh," Ericsson Blog,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[3]  Ericsson, "Visualizing network performance: Transport Automation Controller with AI/ML at the helm," Ericsson,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[4]  Z. Yuan et al., "iTeleScope: Softwarized Network Middle-Box for Real-Time Video Telemetry and Classification," IEEE/ACM Trans. Netw., 2023.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[5]  A. Dogra et al., "6G Network Architecture: QoS Paradigms and Data Lifecycle Management for Next-Generation Networks," IEEE Commun. Surveys Tuts.,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[6]  S. Falkner et al., "Mobile Network Data Synthesis with Generative AI: Challenges and Solutions," IEEE Network,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[7]  M. Boban et al., "Autonomous network operations: from reactive management to intent-driven optimization," Ericsson Technology Review,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[8]  Ericsson, "Four ways generative AI is set to transform the telecom industry," Ericsson Blog,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[9]  ATIS, "Advancing Generative AI Implementation in Telecommunications Networks," ATIS White Paper, 2024.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[10] R. Boutaba et al., "A comprehensive survey on machine learning for networking," ACM Comput. Surv., vol. 51, no. 5, 2018.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[11] P. Mishra et al., "A detailed investigation and analysis of using ML techniques for intrusion detection," IEEE Commun. Surveys Tuts., 2019.</a:t>
            </a:r>
          </a:p>
          <a:p>
            <a:pPr>
              <a:spcBef>
                <a:spcPts val="100"/>
              </a:spcBef>
              <a:spcAft>
                <a:spcPts val="4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[12] F. Tang et al., "A survey on machine learning for traffic classification," IEEE Trans. on Network and Service Management, 2022.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  <a: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
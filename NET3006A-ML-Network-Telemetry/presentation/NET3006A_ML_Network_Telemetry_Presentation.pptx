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80"/>
              </a:lnSpc>
              <a:spcAft>
                <a:spcPts val="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Machine Learning for Network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009FFD"/>
                </a:solidFill>
                <a:latin typeface="Calibri"/>
              </a:defRPr>
            </a:pPr>
            <a:r>
              <a:t>A Survey of Methods, Applications, and Emerging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017520"/>
            <a:ext cx="393192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NET3006A — Network Management and 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Carleton University  |  Winter 2026  |  Dr. Jie Gao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Abdul Rehman    |    Esam Mukbil    |    Hashim Kshim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Option 1: Survey / Reading Project  —  Topic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5760720"/>
            <a:ext cx="2011680" cy="5029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5870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Detect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5760720"/>
            <a:ext cx="2011680" cy="5029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870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Predict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5760720"/>
            <a:ext cx="2011680" cy="5029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870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Optimize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Presentation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9FFD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463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Introduction &amp; 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1051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9FFD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1051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What Network Telemetry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105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57984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9FFD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15798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Why Machine Learning Helps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5798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505456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9FFD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50545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Anomaly Detection 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0545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85292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9FFD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85292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Main Lessons from Anomaly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5292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200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Performance Prediction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54787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35478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QoS Optimization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478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895344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8.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389534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Main Lessons for Performance &amp; QoS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953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242816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9.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2428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Telemetry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2428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5902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10.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45902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Nokia Example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5902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49377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11.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4937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Ericsson Example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937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285231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12.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0" y="5285231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Future Trends: 6G &amp; GenAI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528523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5632704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13.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563270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Open Challenges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563270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5980176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14.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45920" y="598017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9801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48" name="Oval 47"/>
          <p:cNvSpPr/>
          <p:nvPr/>
        </p:nvSpPr>
        <p:spPr>
          <a:xfrm>
            <a:off x="1097280" y="6446520"/>
            <a:ext cx="137160" cy="137160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6355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50" name="Oval 49"/>
          <p:cNvSpPr/>
          <p:nvPr/>
        </p:nvSpPr>
        <p:spPr>
          <a:xfrm>
            <a:off x="4297680" y="6446520"/>
            <a:ext cx="137160" cy="13716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26280" y="6355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0" y="6446520"/>
            <a:ext cx="137160" cy="137160"/>
          </a:xfrm>
          <a:prstGeom prst="ellipse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6355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PART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91695" cy="1645920"/>
          </a:xfrm>
          <a:prstGeom prst="rect">
            <a:avLst/>
          </a:prstGeom>
          <a:solidFill>
            <a:srgbClr val="10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009FFD"/>
                </a:solidFill>
                <a:latin typeface="Calibri"/>
              </a:defRPr>
            </a:pPr>
            <a:r>
              <a:t>Introduction &amp; ML for Anomaly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Network Telemetry?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The network continuously reports what is happening inside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It is the live data that routers, switches, and links send about their health and traffic.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It tells us things like delay, packet loss, throughput, CPU use, and errors.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Modern systems stream this data automatically instead of waiting for slow manual checks.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That gives operators a clearer and faster view of what the network is doing.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Telemetry is the input that ML uses to spot trouble and predict future problems.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16459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Simple View</a:t>
            </a:r>
          </a:p>
        </p:txBody>
      </p:sp>
      <p:sp>
        <p:nvSpPr>
          <p:cNvPr id="9" name="Oval 8"/>
          <p:cNvSpPr/>
          <p:nvPr/>
        </p:nvSpPr>
        <p:spPr>
          <a:xfrm>
            <a:off x="7086600" y="2240280"/>
            <a:ext cx="960120" cy="960120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267712"/>
            <a:ext cx="960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086600" y="2542032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Devices</a:t>
            </a:r>
          </a:p>
        </p:txBody>
      </p:sp>
      <p:sp>
        <p:nvSpPr>
          <p:cNvPr id="12" name="Oval 11"/>
          <p:cNvSpPr/>
          <p:nvPr/>
        </p:nvSpPr>
        <p:spPr>
          <a:xfrm>
            <a:off x="8641080" y="2240280"/>
            <a:ext cx="960120" cy="96012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2267712"/>
            <a:ext cx="960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641080" y="2542032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5" name="Oval 14"/>
          <p:cNvSpPr/>
          <p:nvPr/>
        </p:nvSpPr>
        <p:spPr>
          <a:xfrm>
            <a:off x="10195560" y="2240280"/>
            <a:ext cx="960120" cy="960120"/>
          </a:xfrm>
          <a:prstGeom prst="ellipse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2267712"/>
            <a:ext cx="960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195560" y="2542032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092440" y="2542032"/>
            <a:ext cx="41148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9646920" y="2542032"/>
            <a:ext cx="41148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12280" y="3703320"/>
            <a:ext cx="4983480" cy="18288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3840480"/>
            <a:ext cx="4654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Examples of Telemetry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6872" y="4206240"/>
            <a:ext cx="465429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Flow data</a:t>
            </a:r>
            <a:br/>
            <a:r>
              <a:t>Packet traces</a:t>
            </a:r>
            <a:br/>
            <a:r>
              <a:t>Device metrics</a:t>
            </a:r>
            <a:br/>
            <a:r>
              <a:t>INT path details</a:t>
            </a:r>
            <a:br/>
            <a:r>
              <a:t>Logs and 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Apply ML to Network Telemetry?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The challenge is not collecting data. It is understanding it fast enough.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Oval 6"/>
          <p:cNvSpPr/>
          <p:nvPr/>
        </p:nvSpPr>
        <p:spPr>
          <a:xfrm>
            <a:off x="5074920" y="2148840"/>
            <a:ext cx="1828800" cy="1828800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2176272"/>
            <a:ext cx="1828800" cy="1801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Why use ML here?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373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874520"/>
            <a:ext cx="3236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Too much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240280"/>
            <a:ext cx="32369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Large networks create huge telemetry streams every second.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947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931920"/>
            <a:ext cx="3236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Problems are hidden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297680"/>
            <a:ext cx="32369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Small clues across many signals are hard to notice manually.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373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08392" y="1874520"/>
            <a:ext cx="3236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Speed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2240280"/>
            <a:ext cx="32369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Teams need answers before users feel the problem.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37947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3931920"/>
            <a:ext cx="3236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Networks 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8392" y="4297680"/>
            <a:ext cx="32369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Traffic and paths move, so fixed rules become outdated.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5074920"/>
            <a:ext cx="4389120" cy="8229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9352" y="5212080"/>
            <a:ext cx="4059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What We Cover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5577840"/>
            <a:ext cx="405993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Anomalies  |  prediction  |  QoS  |  industry  |  future trends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Methods for Anomaly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A visual summary of the main 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4592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83080"/>
            <a:ext cx="2459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Autoencoders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148840"/>
            <a:ext cx="24597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Learn what normal traffic looks like. If new data looks very different, it may be an anomaly.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481328"/>
            <a:ext cx="841248" cy="256032"/>
          </a:xfrm>
          <a:prstGeom prst="round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499616"/>
            <a:ext cx="841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Unsupervised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164592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33672" y="1783080"/>
            <a:ext cx="2459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LSTM / GRU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148840"/>
            <a:ext cx="24597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Look at patterns over time. They help catch spikes, drops, or strange sequences in telemetry.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481328"/>
            <a:ext cx="841248" cy="25603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1499616"/>
            <a:ext cx="841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Deep Learning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164592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5512" y="1783080"/>
            <a:ext cx="2459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5512" y="2148840"/>
            <a:ext cx="24597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Quickly separates unusual points from common ones. Useful when speed is important.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1481328"/>
            <a:ext cx="841248" cy="256032"/>
          </a:xfrm>
          <a:prstGeom prst="round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499616"/>
            <a:ext cx="841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Unsupervised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23160" y="365760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87752" y="3794760"/>
            <a:ext cx="2459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One-Class SVM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7752" y="4160520"/>
            <a:ext cx="24597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Builds a boundary around normal behavior, then flags data outside that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493008"/>
            <a:ext cx="841248" cy="256032"/>
          </a:xfrm>
          <a:prstGeom prst="round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3511296"/>
            <a:ext cx="841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Semi-supervised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0" y="365760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9592" y="3794760"/>
            <a:ext cx="2459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GAN-based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9592" y="4160520"/>
            <a:ext cx="24597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Generate or compare normal-looking samples so unusual behavior stands out more clearly.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0" y="3493008"/>
            <a:ext cx="841248" cy="25603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0" y="3511296"/>
            <a:ext cx="8412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6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Generative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Anomaly Detection: Main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Less text, stronger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74520"/>
            <a:ext cx="42428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Deep learning is strong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40280"/>
            <a:ext cx="42428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Deep learning often beats older statistical methods when telemetry has many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73736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3912" y="1874520"/>
            <a:ext cx="42428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Unsupervised is practical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2240280"/>
            <a:ext cx="42428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Unsupervised learning is popular because real networks rarely have enough labeled anomaly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61188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49040"/>
            <a:ext cx="42428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Hybrid models help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4114800"/>
            <a:ext cx="42428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Hybrid models work well because they mix strong feature learning with fast scoring.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361188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2" y="3749040"/>
            <a:ext cx="42428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Speed is still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4114800"/>
            <a:ext cx="42428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Real-time use is still hard because accurate models can be expensive to run at scale.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5960" y="5394960"/>
            <a:ext cx="8138160" cy="713232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30552" y="5532120"/>
            <a:ext cx="7808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Key Takeaway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30552" y="5897880"/>
            <a:ext cx="780897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Best results often come from models that learn normal behavior first because labeled anomaly data is limited.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PART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91695" cy="1645920"/>
          </a:xfrm>
          <a:prstGeom prst="rect">
            <a:avLst/>
          </a:prstGeom>
          <a:solidFill>
            <a:srgbClr val="10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00C9A7"/>
                </a:solidFill>
                <a:latin typeface="Calibri"/>
              </a:defRPr>
            </a:pPr>
            <a:r>
              <a:t>ML for Performance Prediction &amp; QoS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for Network Performance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Using telemetry to estimate what the network will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Time-Series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LSTM and GRU models learn how metrics change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They forecast delay, jitter, loss, and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Useful when recent behavior helps predict the near future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Graph Neural Networks (GNNs)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Represent the network as devices and links in a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Good for path-based prediction because topology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They capture how one congested link can affect other paths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Ensemble &amp; Hybrid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Combine different models to improve robustness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86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Often more accurate than relying on one model alone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606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Can adapt better when traffic patterns shift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08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Attention Mechanisms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520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Transformer-style models look at longer patterns in the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They help identify which signals matter most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Strong option for large, multi-feature telemetry streams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for QoS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Using telemetry and predictions to keep service quality 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Reinforcement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An agent tries actions and learns which routing or scheduling choices give better QoS.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4320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Deep Q-Networks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9067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Use the current network state to choose actions like rerouting, balancing load, or assigning bandwidth.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31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Multi-Objective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793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Helps balance trade-offs such as low delay, good throughput, and fairness at the same time.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12064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Federated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681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Lets different domains train shared models without sending all raw telemetry to one place.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Performance &amp; QoS: Main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What stood out most across the literature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57276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91056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54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Topology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0195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GNNs usually beat plain time-series models when the shape of the network affects performance.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76148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9776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743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RL is powerful but risky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9067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Reinforcement learning looks strong in simulations, but deployment is harder because bad actions can hurt live traffic.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95020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68496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931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Good data matters most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93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Missing or noisy telemetry can hurt prediction quality more than model choice.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13892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157216"/>
            <a:ext cx="347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206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Proactive beats reactive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681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Predicting trouble early is better than waiting for thresholds to fail after users are already affected.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ML-Enhanced Network Telemetry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A cleaner flow from data to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965960" cy="1828800"/>
          </a:xfrm>
          <a:prstGeom prst="roundRect">
            <a:avLst/>
          </a:prstGeom>
          <a:solidFill>
            <a:srgbClr val="141832"/>
          </a:solidFill>
          <a:ln w="2540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89888" y="2267712"/>
            <a:ext cx="640080" cy="640080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2295144"/>
            <a:ext cx="6400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1746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9FFD"/>
                </a:solidFill>
                <a:latin typeface="Calibri"/>
              </a:defRPr>
            </a:pPr>
            <a:r>
              <a:t>1. Collect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255264"/>
            <a:ext cx="17465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gNMI, gRPC,</a:t>
            </a:r>
            <a:br/>
            <a:r>
              <a:t>INT, NetFlow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97480" y="2880360"/>
            <a:ext cx="164592" cy="27432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2072" y="2103120"/>
            <a:ext cx="1965960" cy="1828800"/>
          </a:xfrm>
          <a:prstGeom prst="roundRect">
            <a:avLst/>
          </a:prstGeom>
          <a:solidFill>
            <a:srgbClr val="141832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40" y="2267712"/>
            <a:ext cx="640080" cy="64008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295144"/>
            <a:ext cx="6400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971800"/>
            <a:ext cx="1746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B4D8"/>
                </a:solidFill>
                <a:latin typeface="Calibri"/>
              </a:defRPr>
            </a:pPr>
            <a:r>
              <a:t>2.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3255264"/>
            <a:ext cx="17465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Streaming tools</a:t>
            </a:r>
            <a:br/>
            <a:r>
              <a:t>Kafka, Flink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28032" y="2880360"/>
            <a:ext cx="164592" cy="27432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92624" y="2103120"/>
            <a:ext cx="1965960" cy="1828800"/>
          </a:xfrm>
          <a:prstGeom prst="roundRect">
            <a:avLst/>
          </a:prstGeom>
          <a:solidFill>
            <a:srgbClr val="141832"/>
          </a:solidFill>
          <a:ln w="254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50992" y="2267712"/>
            <a:ext cx="640080" cy="64008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50992" y="2295144"/>
            <a:ext cx="6400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2352" y="2971800"/>
            <a:ext cx="1746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3.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2352" y="3255264"/>
            <a:ext cx="17465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Time-series DB</a:t>
            </a:r>
            <a:br/>
            <a:r>
              <a:t>Data lakes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58584" y="2880360"/>
            <a:ext cx="164592" cy="27432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23176" y="2103120"/>
            <a:ext cx="1965960" cy="1828800"/>
          </a:xfrm>
          <a:prstGeom prst="roundRect">
            <a:avLst/>
          </a:prstGeom>
          <a:solidFill>
            <a:srgbClr val="141832"/>
          </a:solidFill>
          <a:ln w="2540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81544" y="2267712"/>
            <a:ext cx="640080" cy="640080"/>
          </a:xfrm>
          <a:prstGeom prst="ellipse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81544" y="2295144"/>
            <a:ext cx="6400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2904" y="2971800"/>
            <a:ext cx="1746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4. Analyze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2904" y="3255264"/>
            <a:ext cx="17465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Detection,</a:t>
            </a:r>
            <a:br/>
            <a:r>
              <a:t>prediction, RL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089136" y="2880360"/>
            <a:ext cx="164592" cy="27432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253728" y="2103120"/>
            <a:ext cx="1965960" cy="1828800"/>
          </a:xfrm>
          <a:prstGeom prst="roundRect">
            <a:avLst/>
          </a:prstGeom>
          <a:solidFill>
            <a:srgbClr val="141832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12096" y="2267712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12096" y="2295144"/>
            <a:ext cx="6400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6" y="2971800"/>
            <a:ext cx="1746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F8C00"/>
                </a:solidFill>
                <a:latin typeface="Calibri"/>
              </a:defRPr>
            </a:pPr>
            <a:r>
              <a:t>5. 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6" y="3255264"/>
            <a:ext cx="17465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Alerts,</a:t>
            </a:r>
            <a:br/>
            <a:r>
              <a:t>policy changes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389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The big idea is simple: collect data, analyze it with ML, then use the result to help the network respond faster. That is what turns monitoring into intelligent network management.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PART 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91695" cy="1645920"/>
          </a:xfrm>
          <a:prstGeom prst="rect">
            <a:avLst/>
          </a:prstGeom>
          <a:solidFill>
            <a:srgbClr val="10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845EC2"/>
                </a:solidFill>
                <a:latin typeface="Calibri"/>
              </a:defRPr>
            </a:pPr>
            <a:r>
              <a:t>Industry, Emerging Trends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Industry Example: Nokia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Showing what ML-driven telemetry looks like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747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74520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40280"/>
            <a:ext cx="31455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Gather live broadband telemetry from many devices.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4747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874520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240280"/>
            <a:ext cx="31455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Use ML to detect anomalies and estimate risk.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1737360"/>
            <a:ext cx="34747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1874520"/>
            <a:ext cx="31455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2240280"/>
            <a:ext cx="314553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Support faster troubleshooting and predictive maintenance.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40480" y="2304288"/>
            <a:ext cx="32004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406640" y="2304288"/>
            <a:ext cx="32004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25880" y="3794760"/>
            <a:ext cx="9509760" cy="15544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0472" y="3931920"/>
            <a:ext cx="91805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What Nokia Is Trying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0472" y="4297680"/>
            <a:ext cx="918057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Predict failures early  |  find unusual behavior automatically  |  estimate customer experience  |  forecast capacity needs  |  speed up troubleshooting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Industry Example: Ericsson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Combining better data organization with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845EC2"/>
                </a:solidFill>
                <a:latin typeface="Calibri"/>
              </a:defRPr>
            </a:pPr>
            <a:r>
              <a:t>AI-Ready Data Mesh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Ericsson treats telemetry as a shared data product, not just raw logs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Different teams manage their own data pipelines with common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This makes telemetry easier for ML teams to access and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718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The goal is cleaner, faster, and more usable network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845EC2"/>
                </a:solidFill>
                <a:latin typeface="Calibri"/>
              </a:defRPr>
            </a:pPr>
            <a:r>
              <a:t>Transport Automation Controller (TAC)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0116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Uses AI/ML to watch transport network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317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Detects KPI anomalies automatically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6517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Supports prediction for proactive capacity planning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9718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Moves toward closed-loop automation: detect, diagnose, 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14800"/>
            <a:ext cx="10698480" cy="164592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519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845EC2"/>
                </a:solidFill>
                <a:latin typeface="Calibri"/>
              </a:defRPr>
            </a:pPr>
            <a:r>
              <a:t>Key Industry 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Ericsson's message is that good AI needs good data foundations. Better telemetry pipelines make automation and prediction much more realistic.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Emerging Trends: 6G &amp; GenAI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Two trend groups that shape the future of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5166360" cy="3703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20240"/>
            <a:ext cx="4837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6G &amp; Next-Gen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286000"/>
            <a:ext cx="4837176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6G will need even faster decisions and smarter automation</a:t>
            </a:r>
            <a:br/>
            <a:r>
              <a:t>Digital twins can simulate a network before changes are made</a:t>
            </a:r>
            <a:br/>
            <a:r>
              <a:t>Semantic telemetry tries to send only the most useful information</a:t>
            </a:r>
            <a:br/>
            <a:r>
              <a:t>AI may become a built-in network function instead of an extra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166360" cy="3703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920240"/>
            <a:ext cx="4837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Generative AI &amp; LLMs for Telemetry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286000"/>
            <a:ext cx="4837176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LLMs may let engineers ask telemetry questions in plain language</a:t>
            </a:r>
            <a:br/>
            <a:r>
              <a:t>GenAI can create synthetic data to help train models</a:t>
            </a:r>
            <a:br/>
            <a:r>
              <a:t>It can also help summarize incidents and reports</a:t>
            </a:r>
            <a:br/>
            <a:r>
              <a:t>Large foundation models may be adapted for different network tasks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Open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Important problems that still need better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Not enough labeled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Real networks rarely provide clean examples of every failure or attack.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Scale and speed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Models must handle massive telemetry streams quickly enough to matter.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00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Explainability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6636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Operators need to know why a model raised an alert before they trust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55448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Concept drift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05740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Normal traffic changes over time, so models can become outdated.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10896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246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Generalization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8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A model that works well in one network may fail in another.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466344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4800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Privacy and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16636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Telemetry can contain sensitive information that must be protected.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A cleaner final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34416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25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009FFD"/>
                </a:solidFill>
                <a:latin typeface="Calibri"/>
              </a:defRPr>
            </a:pPr>
            <a:r>
              <a:t>Telemetry gives the raw picture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67335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It tells us what the network is doing right now through streams of measurements and events.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331720"/>
            <a:ext cx="384048" cy="384048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5915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3134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ML helps turn data into decisions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6090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It can find anomalies, predict future performance, and help improve QoS.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319272"/>
            <a:ext cx="384048" cy="384048"/>
          </a:xfrm>
          <a:prstGeom prst="ellipse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346704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300984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845EC2"/>
                </a:solidFill>
                <a:latin typeface="Calibri"/>
              </a:defRPr>
            </a:pPr>
            <a:r>
              <a:t>Industry is already using these ideas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4845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Companies such as Nokia and Ericsson are building more automated, ML-driven telemetry systems.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4306824"/>
            <a:ext cx="384048" cy="384048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34256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8853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FF8C00"/>
                </a:solidFill>
                <a:latin typeface="Calibri"/>
              </a:defRPr>
            </a:pPr>
            <a:r>
              <a:t>The field is still growing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360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6G, digital twins, and generative AI may make telemetry smarter and easier to use.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294376"/>
            <a:ext cx="384048" cy="384048"/>
          </a:xfrm>
          <a:prstGeom prst="ellipse">
            <a:avLst/>
          </a:prstGeom>
          <a:solidFill>
            <a:srgbClr val="E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321808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7608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Aft>
                <a:spcPts val="0"/>
              </a:spcAft>
              <a:defRPr sz="1700" b="1">
                <a:solidFill>
                  <a:srgbClr val="E04040"/>
                </a:solidFill>
                <a:latin typeface="Calibri"/>
              </a:defRPr>
            </a:pPr>
            <a:r>
              <a:t>The hardest part is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623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Real-world success still depends on trustworthy models, good data, and systems that 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Aft>
                <a:spcPts val="0"/>
              </a:spcAft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3000" b="0">
                <a:solidFill>
                  <a:srgbClr val="00C9A7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749039"/>
            <a:ext cx="3931920" cy="3657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Abdul Rehman    |    Esam Mukbil    |    Hashim Kshim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NET3006A — Machine Learning for Network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All Members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[1]  Nokia, "Modern Broadband Network Telemetry," Nokia White Paper,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[2]  Ericsson, "From data mess to AI-ready data mesh," Ericsson Blog,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[3]  Ericsson, "Visualizing network performance: Transport Automation Controller with AI/ML at the helm," Ericsson,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[4]  Z. Yuan et al., "iTeleScope: Softwarized Network Middle-Box for Real-Time Video Telemetry and Classification," IEEE/ACM Trans. Netw., 2023.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[5]  A. Dogra et al., "6G Network Architecture: QoS Paradigms and Data Lifecycle Management for Next-Generation Networks," IEEE Commun. Surveys Tuts.,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[6]  S. Falkner et al., "Mobile Network Data Synthesis with Generative AI: Challenges and Solutions," IEEE Network,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[7]  M. Boban et al., "Autonomous network operations: from reactive management to intent-driven optimization," Ericsson Technology Review,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[8]  Ericsson, "Four ways generative AI is set to transform the telecom industry," Ericsson Blog,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[9]  ATIS, "Advancing Generative AI Implementation in Telecommunications Networks," ATIS White Paper,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[10] R. Boutaba et al., "A comprehensive survey on machine learning for networking," ACM Comput. Surv., vol. 51, no. 5, 2018.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[11] P. Mishra et al., "A detailed investigation and analysis of using ML techniques for intrusion detection," IEEE Commun. Surveys Tuts., 2019.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[12] F. Tang et al., "A survey on machine learning for traffic classification," IEEE Trans. on Network and Service Management, 2022.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
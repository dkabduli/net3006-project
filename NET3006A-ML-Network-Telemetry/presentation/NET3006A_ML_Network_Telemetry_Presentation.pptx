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Rounded Rectangle 3"/>
          <p:cNvSpPr/>
          <p:nvPr/>
        </p:nvSpPr>
        <p:spPr>
          <a:xfrm>
            <a:off x="914400" y="777240"/>
            <a:ext cx="10378441" cy="4983480"/>
          </a:xfrm>
          <a:prstGeom prst="roundRect">
            <a:avLst>
              <a:gd name="adj" fmla="val 16667"/>
            </a:avLst>
          </a:prstGeom>
          <a:solidFill>
            <a:srgbClr val="0E132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TextBox 4"/>
          <p:cNvSpPr txBox="1"/>
          <p:nvPr/>
        </p:nvSpPr>
        <p:spPr>
          <a:xfrm>
            <a:off x="1399032" y="1097280"/>
            <a:ext cx="9363456" cy="1397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4400">
                <a:solidFill>
                  <a:srgbClr val="FFFFFF"/>
                </a:solidFill>
              </a:defRPr>
            </a:lvl1pPr>
          </a:lstStyle>
          <a:p>
            <a:pPr/>
            <a:r>
              <a:t>Machine Learning for Network Telemetry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1399032" y="2514599"/>
            <a:ext cx="9363456" cy="337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2400">
                <a:solidFill>
                  <a:srgbClr val="009FFD"/>
                </a:solidFill>
              </a:defRPr>
            </a:lvl1pPr>
          </a:lstStyle>
          <a:p>
            <a:pPr/>
            <a:r>
              <a:t>A Survey of Methods, Applications, and Emerging Trends</a:t>
            </a:r>
          </a:p>
        </p:txBody>
      </p:sp>
      <p:sp>
        <p:nvSpPr>
          <p:cNvPr id="99" name="Rectangle 6"/>
          <p:cNvSpPr/>
          <p:nvPr/>
        </p:nvSpPr>
        <p:spPr>
          <a:xfrm>
            <a:off x="4114799" y="3017520"/>
            <a:ext cx="3931922" cy="36577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0" name="TextBox 7"/>
          <p:cNvSpPr txBox="1"/>
          <p:nvPr/>
        </p:nvSpPr>
        <p:spPr>
          <a:xfrm>
            <a:off x="1399032" y="3474720"/>
            <a:ext cx="9363456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NET3006A — Network Management and Machine Learning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1399032" y="3931920"/>
            <a:ext cx="9363456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1600">
                <a:solidFill>
                  <a:srgbClr val="999999"/>
                </a:solidFill>
              </a:defRPr>
            </a:lvl1pPr>
          </a:lstStyle>
          <a:p>
            <a:pPr/>
            <a:r>
              <a:t>Carleton University  |  Winter 2026  |  Dr. Jie Gao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1399032" y="4846320"/>
            <a:ext cx="9363456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Abdul Rehman  |  Esam Mukbil  |  Hashim Kshim  |  Mazen Alhassan</a:t>
            </a:r>
          </a:p>
        </p:txBody>
      </p:sp>
      <p:sp>
        <p:nvSpPr>
          <p:cNvPr id="103" name="TextBox 10"/>
          <p:cNvSpPr txBox="1"/>
          <p:nvPr/>
        </p:nvSpPr>
        <p:spPr>
          <a:xfrm>
            <a:off x="1399032" y="5349240"/>
            <a:ext cx="9363456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1400">
                <a:solidFill>
                  <a:srgbClr val="999999"/>
                </a:solidFill>
              </a:defRPr>
            </a:lvl1pPr>
          </a:lstStyle>
          <a:p>
            <a:pPr/>
            <a:r>
              <a:t>Option 1: Survey / Reading Project  —  Topic 2</a:t>
            </a:r>
          </a:p>
        </p:txBody>
      </p:sp>
      <p:sp>
        <p:nvSpPr>
          <p:cNvPr id="104" name="Rounded Rectangle 11"/>
          <p:cNvSpPr/>
          <p:nvPr/>
        </p:nvSpPr>
        <p:spPr>
          <a:xfrm>
            <a:off x="2148839" y="5760720"/>
            <a:ext cx="2011681" cy="5029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5" name="TextBox 12"/>
          <p:cNvSpPr txBox="1"/>
          <p:nvPr/>
        </p:nvSpPr>
        <p:spPr>
          <a:xfrm>
            <a:off x="2176271" y="5870447"/>
            <a:ext cx="1956816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Detect</a:t>
            </a:r>
          </a:p>
        </p:txBody>
      </p:sp>
      <p:sp>
        <p:nvSpPr>
          <p:cNvPr id="106" name="Rounded Rectangle 13"/>
          <p:cNvSpPr/>
          <p:nvPr/>
        </p:nvSpPr>
        <p:spPr>
          <a:xfrm>
            <a:off x="4892040" y="5760720"/>
            <a:ext cx="2011681" cy="5029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" name="TextBox 14"/>
          <p:cNvSpPr txBox="1"/>
          <p:nvPr/>
        </p:nvSpPr>
        <p:spPr>
          <a:xfrm>
            <a:off x="4919472" y="5870447"/>
            <a:ext cx="1956816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lvl1pPr>
          </a:lstStyle>
          <a:p>
            <a:pPr/>
            <a:r>
              <a:t>Predict</a:t>
            </a:r>
          </a:p>
        </p:txBody>
      </p:sp>
      <p:sp>
        <p:nvSpPr>
          <p:cNvPr id="108" name="Rounded Rectangle 15"/>
          <p:cNvSpPr/>
          <p:nvPr/>
        </p:nvSpPr>
        <p:spPr>
          <a:xfrm>
            <a:off x="7635240" y="5760720"/>
            <a:ext cx="2011681" cy="5029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TextBox 16"/>
          <p:cNvSpPr txBox="1"/>
          <p:nvPr/>
        </p:nvSpPr>
        <p:spPr>
          <a:xfrm>
            <a:off x="7662672" y="5870447"/>
            <a:ext cx="1956816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lvl1pPr>
          </a:lstStyle>
          <a:p>
            <a:pPr/>
            <a:r>
              <a:t>Optimize</a:t>
            </a:r>
          </a:p>
        </p:txBody>
      </p:sp>
      <p:sp>
        <p:nvSpPr>
          <p:cNvPr id="110" name="TextBox 17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Presentation Outline</a:t>
            </a:r>
          </a:p>
        </p:txBody>
      </p:sp>
      <p:sp>
        <p:nvSpPr>
          <p:cNvPr id="115" name="TextBox 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All Members</a:t>
            </a:r>
          </a:p>
        </p:txBody>
      </p:sp>
      <p:sp>
        <p:nvSpPr>
          <p:cNvPr id="116" name="TextBox 5"/>
          <p:cNvSpPr txBox="1"/>
          <p:nvPr/>
        </p:nvSpPr>
        <p:spPr>
          <a:xfrm>
            <a:off x="1124712" y="1463039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009FFD"/>
                </a:solidFill>
              </a:defRPr>
            </a:lvl1pPr>
          </a:lstStyle>
          <a:p>
            <a:pPr/>
            <a:r>
              <a:t>1.</a:t>
            </a:r>
          </a:p>
        </p:txBody>
      </p:sp>
      <p:sp>
        <p:nvSpPr>
          <p:cNvPr id="117" name="TextBox 6"/>
          <p:cNvSpPr txBox="1"/>
          <p:nvPr/>
        </p:nvSpPr>
        <p:spPr>
          <a:xfrm>
            <a:off x="1673352" y="1463039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Introduction &amp; Motivation</a:t>
            </a:r>
          </a:p>
        </p:txBody>
      </p:sp>
      <p:sp>
        <p:nvSpPr>
          <p:cNvPr id="118" name="TextBox 7"/>
          <p:cNvSpPr txBox="1"/>
          <p:nvPr/>
        </p:nvSpPr>
        <p:spPr>
          <a:xfrm>
            <a:off x="8257031" y="1463039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009FFD"/>
                </a:solidFill>
              </a:defRPr>
            </a:lvl1pPr>
          </a:lstStyle>
          <a:p>
            <a:pPr/>
            <a:r>
              <a:t>Abdul Rehman</a:t>
            </a:r>
          </a:p>
        </p:txBody>
      </p:sp>
      <p:sp>
        <p:nvSpPr>
          <p:cNvPr id="119" name="TextBox 8"/>
          <p:cNvSpPr txBox="1"/>
          <p:nvPr/>
        </p:nvSpPr>
        <p:spPr>
          <a:xfrm>
            <a:off x="1124712" y="1810511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009FFD"/>
                </a:solidFill>
              </a:defRPr>
            </a:lvl1pPr>
          </a:lstStyle>
          <a:p>
            <a:pPr/>
            <a:r>
              <a:t>2.</a:t>
            </a:r>
          </a:p>
        </p:txBody>
      </p:sp>
      <p:sp>
        <p:nvSpPr>
          <p:cNvPr id="120" name="TextBox 9"/>
          <p:cNvSpPr txBox="1"/>
          <p:nvPr/>
        </p:nvSpPr>
        <p:spPr>
          <a:xfrm>
            <a:off x="1673352" y="1810511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What Network Telemetry Means</a:t>
            </a:r>
          </a:p>
        </p:txBody>
      </p:sp>
      <p:sp>
        <p:nvSpPr>
          <p:cNvPr id="121" name="TextBox 10"/>
          <p:cNvSpPr txBox="1"/>
          <p:nvPr/>
        </p:nvSpPr>
        <p:spPr>
          <a:xfrm>
            <a:off x="8257031" y="1810511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009FFD"/>
                </a:solidFill>
              </a:defRPr>
            </a:lvl1pPr>
          </a:lstStyle>
          <a:p>
            <a:pPr/>
            <a:r>
              <a:t>Abdul Rehman</a:t>
            </a:r>
          </a:p>
        </p:txBody>
      </p:sp>
      <p:sp>
        <p:nvSpPr>
          <p:cNvPr id="122" name="TextBox 11"/>
          <p:cNvSpPr txBox="1"/>
          <p:nvPr/>
        </p:nvSpPr>
        <p:spPr>
          <a:xfrm>
            <a:off x="1124712" y="2157983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00C9A7"/>
                </a:solidFill>
              </a:defRPr>
            </a:lvl1pPr>
          </a:lstStyle>
          <a:p>
            <a:pPr/>
            <a:r>
              <a:t>3.</a:t>
            </a:r>
          </a:p>
        </p:txBody>
      </p:sp>
      <p:sp>
        <p:nvSpPr>
          <p:cNvPr id="123" name="TextBox 12"/>
          <p:cNvSpPr txBox="1"/>
          <p:nvPr/>
        </p:nvSpPr>
        <p:spPr>
          <a:xfrm>
            <a:off x="1673352" y="2157983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Why Machine Learning Helps</a:t>
            </a:r>
          </a:p>
        </p:txBody>
      </p:sp>
      <p:sp>
        <p:nvSpPr>
          <p:cNvPr id="124" name="TextBox 13"/>
          <p:cNvSpPr txBox="1"/>
          <p:nvPr/>
        </p:nvSpPr>
        <p:spPr>
          <a:xfrm>
            <a:off x="8257031" y="2157983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00C9A7"/>
                </a:solidFill>
              </a:defRPr>
            </a:lvl1pPr>
          </a:lstStyle>
          <a:p>
            <a:pPr/>
            <a:r>
              <a:t>Esam Mukbil</a:t>
            </a:r>
          </a:p>
        </p:txBody>
      </p:sp>
      <p:sp>
        <p:nvSpPr>
          <p:cNvPr id="125" name="TextBox 14"/>
          <p:cNvSpPr txBox="1"/>
          <p:nvPr/>
        </p:nvSpPr>
        <p:spPr>
          <a:xfrm>
            <a:off x="1124712" y="2505455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00C9A7"/>
                </a:solidFill>
              </a:defRPr>
            </a:lvl1pPr>
          </a:lstStyle>
          <a:p>
            <a:pPr/>
            <a:r>
              <a:t>4.</a:t>
            </a:r>
          </a:p>
        </p:txBody>
      </p:sp>
      <p:sp>
        <p:nvSpPr>
          <p:cNvPr id="126" name="TextBox 15"/>
          <p:cNvSpPr txBox="1"/>
          <p:nvPr/>
        </p:nvSpPr>
        <p:spPr>
          <a:xfrm>
            <a:off x="1673352" y="2505455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Anomaly Detection Methods</a:t>
            </a:r>
          </a:p>
        </p:txBody>
      </p:sp>
      <p:sp>
        <p:nvSpPr>
          <p:cNvPr id="127" name="TextBox 16"/>
          <p:cNvSpPr txBox="1"/>
          <p:nvPr/>
        </p:nvSpPr>
        <p:spPr>
          <a:xfrm>
            <a:off x="8257031" y="2505455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00C9A7"/>
                </a:solidFill>
              </a:defRPr>
            </a:lvl1pPr>
          </a:lstStyle>
          <a:p>
            <a:pPr/>
            <a:r>
              <a:t>Esam Mukbil</a:t>
            </a:r>
          </a:p>
        </p:txBody>
      </p:sp>
      <p:sp>
        <p:nvSpPr>
          <p:cNvPr id="128" name="TextBox 17"/>
          <p:cNvSpPr txBox="1"/>
          <p:nvPr/>
        </p:nvSpPr>
        <p:spPr>
          <a:xfrm>
            <a:off x="1124712" y="2852927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F0B429"/>
                </a:solidFill>
              </a:defRPr>
            </a:lvl1pPr>
          </a:lstStyle>
          <a:p>
            <a:pPr/>
            <a:r>
              <a:t>5.</a:t>
            </a:r>
          </a:p>
        </p:txBody>
      </p:sp>
      <p:sp>
        <p:nvSpPr>
          <p:cNvPr id="129" name="TextBox 18"/>
          <p:cNvSpPr txBox="1"/>
          <p:nvPr/>
        </p:nvSpPr>
        <p:spPr>
          <a:xfrm>
            <a:off x="1673352" y="2852927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Main Lessons from Anomaly Detection</a:t>
            </a:r>
          </a:p>
        </p:txBody>
      </p:sp>
      <p:sp>
        <p:nvSpPr>
          <p:cNvPr id="130" name="TextBox 19"/>
          <p:cNvSpPr txBox="1"/>
          <p:nvPr/>
        </p:nvSpPr>
        <p:spPr>
          <a:xfrm>
            <a:off x="8257031" y="2852927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F0B429"/>
                </a:solidFill>
              </a:defRPr>
            </a:lvl1pPr>
          </a:lstStyle>
          <a:p>
            <a:pPr/>
            <a:r>
              <a:t>Mazen Alhassan</a:t>
            </a:r>
          </a:p>
        </p:txBody>
      </p:sp>
      <p:sp>
        <p:nvSpPr>
          <p:cNvPr id="131" name="TextBox 20"/>
          <p:cNvSpPr txBox="1"/>
          <p:nvPr/>
        </p:nvSpPr>
        <p:spPr>
          <a:xfrm>
            <a:off x="1124712" y="3200399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F0B429"/>
                </a:solidFill>
              </a:defRPr>
            </a:lvl1pPr>
          </a:lstStyle>
          <a:p>
            <a:pPr/>
            <a:r>
              <a:t>6.</a:t>
            </a:r>
          </a:p>
        </p:txBody>
      </p:sp>
      <p:sp>
        <p:nvSpPr>
          <p:cNvPr id="132" name="TextBox 21"/>
          <p:cNvSpPr txBox="1"/>
          <p:nvPr/>
        </p:nvSpPr>
        <p:spPr>
          <a:xfrm>
            <a:off x="1673352" y="3200399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Performance Prediction</a:t>
            </a:r>
          </a:p>
        </p:txBody>
      </p:sp>
      <p:sp>
        <p:nvSpPr>
          <p:cNvPr id="133" name="TextBox 22"/>
          <p:cNvSpPr txBox="1"/>
          <p:nvPr/>
        </p:nvSpPr>
        <p:spPr>
          <a:xfrm>
            <a:off x="8257031" y="3200399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F0B429"/>
                </a:solidFill>
              </a:defRPr>
            </a:lvl1pPr>
          </a:lstStyle>
          <a:p>
            <a:pPr/>
            <a:r>
              <a:t>Mazen Alhassan</a:t>
            </a:r>
          </a:p>
        </p:txBody>
      </p:sp>
      <p:sp>
        <p:nvSpPr>
          <p:cNvPr id="134" name="TextBox 23"/>
          <p:cNvSpPr txBox="1"/>
          <p:nvPr/>
        </p:nvSpPr>
        <p:spPr>
          <a:xfrm>
            <a:off x="1124712" y="3547871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845EC2"/>
                </a:solidFill>
              </a:defRPr>
            </a:lvl1pPr>
          </a:lstStyle>
          <a:p>
            <a:pPr/>
            <a:r>
              <a:t>7.</a:t>
            </a:r>
          </a:p>
        </p:txBody>
      </p:sp>
      <p:sp>
        <p:nvSpPr>
          <p:cNvPr id="135" name="TextBox 24"/>
          <p:cNvSpPr txBox="1"/>
          <p:nvPr/>
        </p:nvSpPr>
        <p:spPr>
          <a:xfrm>
            <a:off x="1673352" y="3547871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QoS Optimization</a:t>
            </a:r>
          </a:p>
        </p:txBody>
      </p:sp>
      <p:sp>
        <p:nvSpPr>
          <p:cNvPr id="136" name="TextBox 25"/>
          <p:cNvSpPr txBox="1"/>
          <p:nvPr/>
        </p:nvSpPr>
        <p:spPr>
          <a:xfrm>
            <a:off x="8257031" y="3547871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845EC2"/>
                </a:solidFill>
              </a:defRPr>
            </a:lvl1pPr>
          </a:lstStyle>
          <a:p>
            <a:pPr/>
            <a:r>
              <a:t>Hashim Kshim</a:t>
            </a:r>
          </a:p>
        </p:txBody>
      </p:sp>
      <p:sp>
        <p:nvSpPr>
          <p:cNvPr id="137" name="TextBox 26"/>
          <p:cNvSpPr txBox="1"/>
          <p:nvPr/>
        </p:nvSpPr>
        <p:spPr>
          <a:xfrm>
            <a:off x="1124712" y="3895344"/>
            <a:ext cx="493777" cy="225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845EC2"/>
                </a:solidFill>
              </a:defRPr>
            </a:lvl1pPr>
          </a:lstStyle>
          <a:p>
            <a:pPr/>
            <a:r>
              <a:t>8.</a:t>
            </a:r>
          </a:p>
        </p:txBody>
      </p:sp>
      <p:sp>
        <p:nvSpPr>
          <p:cNvPr id="138" name="TextBox 27"/>
          <p:cNvSpPr txBox="1"/>
          <p:nvPr/>
        </p:nvSpPr>
        <p:spPr>
          <a:xfrm>
            <a:off x="1673352" y="3895344"/>
            <a:ext cx="5431537" cy="225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Main Lessons for Performance &amp; QoS</a:t>
            </a:r>
          </a:p>
        </p:txBody>
      </p:sp>
      <p:sp>
        <p:nvSpPr>
          <p:cNvPr id="139" name="TextBox 28"/>
          <p:cNvSpPr txBox="1"/>
          <p:nvPr/>
        </p:nvSpPr>
        <p:spPr>
          <a:xfrm>
            <a:off x="8257031" y="3895344"/>
            <a:ext cx="3145538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845EC2"/>
                </a:solidFill>
              </a:defRPr>
            </a:lvl1pPr>
          </a:lstStyle>
          <a:p>
            <a:pPr/>
            <a:r>
              <a:t>Hashim Kshim</a:t>
            </a:r>
          </a:p>
        </p:txBody>
      </p:sp>
      <p:sp>
        <p:nvSpPr>
          <p:cNvPr id="140" name="TextBox 29"/>
          <p:cNvSpPr txBox="1"/>
          <p:nvPr/>
        </p:nvSpPr>
        <p:spPr>
          <a:xfrm>
            <a:off x="1124712" y="4242815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F0B429"/>
                </a:solidFill>
              </a:defRPr>
            </a:lvl1pPr>
          </a:lstStyle>
          <a:p>
            <a:pPr/>
            <a:r>
              <a:t>9.</a:t>
            </a:r>
          </a:p>
        </p:txBody>
      </p:sp>
      <p:sp>
        <p:nvSpPr>
          <p:cNvPr id="141" name="TextBox 30"/>
          <p:cNvSpPr txBox="1"/>
          <p:nvPr/>
        </p:nvSpPr>
        <p:spPr>
          <a:xfrm>
            <a:off x="1673352" y="4242815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Telemetry Pipeline</a:t>
            </a:r>
          </a:p>
        </p:txBody>
      </p:sp>
      <p:sp>
        <p:nvSpPr>
          <p:cNvPr id="142" name="TextBox 31"/>
          <p:cNvSpPr txBox="1"/>
          <p:nvPr/>
        </p:nvSpPr>
        <p:spPr>
          <a:xfrm>
            <a:off x="8257031" y="4242815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F0B429"/>
                </a:solidFill>
              </a:defRPr>
            </a:lvl1pPr>
          </a:lstStyle>
          <a:p>
            <a:pPr/>
            <a:r>
              <a:t>Mazen Alhassan</a:t>
            </a:r>
          </a:p>
        </p:txBody>
      </p:sp>
      <p:sp>
        <p:nvSpPr>
          <p:cNvPr id="143" name="TextBox 32"/>
          <p:cNvSpPr txBox="1"/>
          <p:nvPr/>
        </p:nvSpPr>
        <p:spPr>
          <a:xfrm>
            <a:off x="1124712" y="4590288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F0B429"/>
                </a:solidFill>
              </a:defRPr>
            </a:lvl1pPr>
          </a:lstStyle>
          <a:p>
            <a:pPr/>
            <a:r>
              <a:t>10.</a:t>
            </a:r>
          </a:p>
        </p:txBody>
      </p:sp>
      <p:sp>
        <p:nvSpPr>
          <p:cNvPr id="144" name="TextBox 33"/>
          <p:cNvSpPr txBox="1"/>
          <p:nvPr/>
        </p:nvSpPr>
        <p:spPr>
          <a:xfrm>
            <a:off x="1673352" y="4590288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Nokia Example</a:t>
            </a:r>
          </a:p>
        </p:txBody>
      </p:sp>
      <p:sp>
        <p:nvSpPr>
          <p:cNvPr id="145" name="TextBox 34"/>
          <p:cNvSpPr txBox="1"/>
          <p:nvPr/>
        </p:nvSpPr>
        <p:spPr>
          <a:xfrm>
            <a:off x="8257031" y="4590288"/>
            <a:ext cx="3145538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F0B429"/>
                </a:solidFill>
              </a:defRPr>
            </a:lvl1pPr>
          </a:lstStyle>
          <a:p>
            <a:pPr/>
            <a:r>
              <a:t>Mazen Alhassan</a:t>
            </a:r>
          </a:p>
        </p:txBody>
      </p:sp>
      <p:sp>
        <p:nvSpPr>
          <p:cNvPr id="146" name="TextBox 35"/>
          <p:cNvSpPr txBox="1"/>
          <p:nvPr/>
        </p:nvSpPr>
        <p:spPr>
          <a:xfrm>
            <a:off x="1124712" y="4937759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845EC2"/>
                </a:solidFill>
              </a:defRPr>
            </a:lvl1pPr>
          </a:lstStyle>
          <a:p>
            <a:pPr/>
            <a:r>
              <a:t>11.</a:t>
            </a:r>
          </a:p>
        </p:txBody>
      </p:sp>
      <p:sp>
        <p:nvSpPr>
          <p:cNvPr id="147" name="TextBox 36"/>
          <p:cNvSpPr txBox="1"/>
          <p:nvPr/>
        </p:nvSpPr>
        <p:spPr>
          <a:xfrm>
            <a:off x="1673352" y="4937759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Ericsson Example</a:t>
            </a:r>
          </a:p>
        </p:txBody>
      </p:sp>
      <p:sp>
        <p:nvSpPr>
          <p:cNvPr id="148" name="TextBox 37"/>
          <p:cNvSpPr txBox="1"/>
          <p:nvPr/>
        </p:nvSpPr>
        <p:spPr>
          <a:xfrm>
            <a:off x="8257031" y="4937759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845EC2"/>
                </a:solidFill>
              </a:defRPr>
            </a:lvl1pPr>
          </a:lstStyle>
          <a:p>
            <a:pPr/>
            <a:r>
              <a:t>Hashim Kshim</a:t>
            </a:r>
          </a:p>
        </p:txBody>
      </p:sp>
      <p:sp>
        <p:nvSpPr>
          <p:cNvPr id="149" name="TextBox 38"/>
          <p:cNvSpPr txBox="1"/>
          <p:nvPr/>
        </p:nvSpPr>
        <p:spPr>
          <a:xfrm>
            <a:off x="1124712" y="5285230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845EC2"/>
                </a:solidFill>
              </a:defRPr>
            </a:lvl1pPr>
          </a:lstStyle>
          <a:p>
            <a:pPr/>
            <a:r>
              <a:t>12.</a:t>
            </a:r>
          </a:p>
        </p:txBody>
      </p:sp>
      <p:sp>
        <p:nvSpPr>
          <p:cNvPr id="150" name="TextBox 39"/>
          <p:cNvSpPr txBox="1"/>
          <p:nvPr/>
        </p:nvSpPr>
        <p:spPr>
          <a:xfrm>
            <a:off x="1673352" y="5285230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Future Trends: 6G &amp; GenAI</a:t>
            </a:r>
          </a:p>
        </p:txBody>
      </p:sp>
      <p:sp>
        <p:nvSpPr>
          <p:cNvPr id="151" name="TextBox 40"/>
          <p:cNvSpPr txBox="1"/>
          <p:nvPr/>
        </p:nvSpPr>
        <p:spPr>
          <a:xfrm>
            <a:off x="8257031" y="5285230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845EC2"/>
                </a:solidFill>
              </a:defRPr>
            </a:lvl1pPr>
          </a:lstStyle>
          <a:p>
            <a:pPr/>
            <a:r>
              <a:t>Hashim Kshim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1124712" y="5632703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845EC2"/>
                </a:solidFill>
              </a:defRPr>
            </a:lvl1pPr>
          </a:lstStyle>
          <a:p>
            <a:pPr/>
            <a:r>
              <a:t>13.</a:t>
            </a:r>
          </a:p>
        </p:txBody>
      </p:sp>
      <p:sp>
        <p:nvSpPr>
          <p:cNvPr id="153" name="TextBox 42"/>
          <p:cNvSpPr txBox="1"/>
          <p:nvPr/>
        </p:nvSpPr>
        <p:spPr>
          <a:xfrm>
            <a:off x="1673352" y="5632703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Open Challenges</a:t>
            </a:r>
          </a:p>
        </p:txBody>
      </p:sp>
      <p:sp>
        <p:nvSpPr>
          <p:cNvPr id="154" name="TextBox 43"/>
          <p:cNvSpPr txBox="1"/>
          <p:nvPr/>
        </p:nvSpPr>
        <p:spPr>
          <a:xfrm>
            <a:off x="8257031" y="5632703"/>
            <a:ext cx="314553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845EC2"/>
                </a:solidFill>
              </a:defRPr>
            </a:lvl1pPr>
          </a:lstStyle>
          <a:p>
            <a:pPr/>
            <a:r>
              <a:t>Hashim Kshim</a:t>
            </a:r>
          </a:p>
        </p:txBody>
      </p:sp>
      <p:sp>
        <p:nvSpPr>
          <p:cNvPr id="155" name="TextBox 44"/>
          <p:cNvSpPr txBox="1"/>
          <p:nvPr/>
        </p:nvSpPr>
        <p:spPr>
          <a:xfrm>
            <a:off x="1124712" y="5980176"/>
            <a:ext cx="49377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400">
                <a:solidFill>
                  <a:srgbClr val="845EC2"/>
                </a:solidFill>
              </a:defRPr>
            </a:lvl1pPr>
          </a:lstStyle>
          <a:p>
            <a:pPr/>
            <a:r>
              <a:t>14.</a:t>
            </a:r>
          </a:p>
        </p:txBody>
      </p:sp>
      <p:sp>
        <p:nvSpPr>
          <p:cNvPr id="156" name="TextBox 45"/>
          <p:cNvSpPr txBox="1"/>
          <p:nvPr/>
        </p:nvSpPr>
        <p:spPr>
          <a:xfrm>
            <a:off x="1673352" y="5980176"/>
            <a:ext cx="54315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FFFFFF"/>
                </a:solidFill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57" name="TextBox 46"/>
          <p:cNvSpPr txBox="1"/>
          <p:nvPr/>
        </p:nvSpPr>
        <p:spPr>
          <a:xfrm>
            <a:off x="8257031" y="5980176"/>
            <a:ext cx="3145538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sz="1200">
                <a:solidFill>
                  <a:srgbClr val="845EC2"/>
                </a:solidFill>
              </a:defRPr>
            </a:lvl1pPr>
          </a:lstStyle>
          <a:p>
            <a:pPr/>
            <a:r>
              <a:t>Hashim Kshim</a:t>
            </a:r>
          </a:p>
        </p:txBody>
      </p:sp>
      <p:sp>
        <p:nvSpPr>
          <p:cNvPr id="158" name="Oval 47"/>
          <p:cNvSpPr/>
          <p:nvPr/>
        </p:nvSpPr>
        <p:spPr>
          <a:xfrm>
            <a:off x="731519" y="6446520"/>
            <a:ext cx="137161" cy="137161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48"/>
          <p:cNvSpPr txBox="1"/>
          <p:nvPr/>
        </p:nvSpPr>
        <p:spPr>
          <a:xfrm>
            <a:off x="987551" y="6355079"/>
            <a:ext cx="2048258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009FFD"/>
                </a:solidFill>
              </a:defRPr>
            </a:lvl1pPr>
          </a:lstStyle>
          <a:p>
            <a:pPr/>
            <a:r>
              <a:t>Abdul Rehman</a:t>
            </a:r>
          </a:p>
        </p:txBody>
      </p:sp>
      <p:sp>
        <p:nvSpPr>
          <p:cNvPr id="160" name="Oval 49"/>
          <p:cNvSpPr/>
          <p:nvPr/>
        </p:nvSpPr>
        <p:spPr>
          <a:xfrm>
            <a:off x="3566159" y="6446520"/>
            <a:ext cx="137161" cy="137161"/>
          </a:xfrm>
          <a:prstGeom prst="ellipse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1" name="TextBox 50"/>
          <p:cNvSpPr txBox="1"/>
          <p:nvPr/>
        </p:nvSpPr>
        <p:spPr>
          <a:xfrm>
            <a:off x="3822191" y="6355079"/>
            <a:ext cx="204825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00C9A7"/>
                </a:solidFill>
              </a:defRPr>
            </a:lvl1pPr>
          </a:lstStyle>
          <a:p>
            <a:pPr/>
            <a:r>
              <a:t>Esam Mukbil</a:t>
            </a:r>
          </a:p>
        </p:txBody>
      </p:sp>
      <p:sp>
        <p:nvSpPr>
          <p:cNvPr id="162" name="Oval 51"/>
          <p:cNvSpPr/>
          <p:nvPr/>
        </p:nvSpPr>
        <p:spPr>
          <a:xfrm>
            <a:off x="6400799" y="6446520"/>
            <a:ext cx="137162" cy="137161"/>
          </a:xfrm>
          <a:prstGeom prst="ellipse">
            <a:avLst/>
          </a:prstGeom>
          <a:solidFill>
            <a:srgbClr val="F0B42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3" name="TextBox 52"/>
          <p:cNvSpPr txBox="1"/>
          <p:nvPr/>
        </p:nvSpPr>
        <p:spPr>
          <a:xfrm>
            <a:off x="6656831" y="6355079"/>
            <a:ext cx="2048258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F0B429"/>
                </a:solidFill>
              </a:defRPr>
            </a:lvl1pPr>
          </a:lstStyle>
          <a:p>
            <a:pPr/>
            <a:r>
              <a:t>Mazen Alhassan</a:t>
            </a:r>
          </a:p>
        </p:txBody>
      </p:sp>
      <p:sp>
        <p:nvSpPr>
          <p:cNvPr id="164" name="Oval 53"/>
          <p:cNvSpPr/>
          <p:nvPr/>
        </p:nvSpPr>
        <p:spPr>
          <a:xfrm>
            <a:off x="9235440" y="6446520"/>
            <a:ext cx="137161" cy="137161"/>
          </a:xfrm>
          <a:prstGeom prst="ellipse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54"/>
          <p:cNvSpPr txBox="1"/>
          <p:nvPr/>
        </p:nvSpPr>
        <p:spPr>
          <a:xfrm>
            <a:off x="9491472" y="6355079"/>
            <a:ext cx="204825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845EC2"/>
                </a:solidFill>
              </a:defRPr>
            </a:lvl1pPr>
          </a:lstStyle>
          <a:p>
            <a:pPr/>
            <a:r>
              <a:t>Hashim Kshim</a:t>
            </a:r>
          </a:p>
        </p:txBody>
      </p:sp>
      <p:sp>
        <p:nvSpPr>
          <p:cNvPr id="166" name="TextBox 55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F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TextBox 2"/>
          <p:cNvSpPr txBox="1"/>
          <p:nvPr/>
        </p:nvSpPr>
        <p:spPr>
          <a:xfrm>
            <a:off x="941831" y="1371600"/>
            <a:ext cx="10003538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PART 1</a:t>
            </a:r>
          </a:p>
        </p:txBody>
      </p:sp>
      <p:sp>
        <p:nvSpPr>
          <p:cNvPr id="170" name="Rectangle 3"/>
          <p:cNvSpPr/>
          <p:nvPr/>
        </p:nvSpPr>
        <p:spPr>
          <a:xfrm>
            <a:off x="-1" y="2560320"/>
            <a:ext cx="12191697" cy="1645921"/>
          </a:xfrm>
          <a:prstGeom prst="rect">
            <a:avLst/>
          </a:prstGeom>
          <a:solidFill>
            <a:srgbClr val="101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4"/>
          <p:cNvSpPr txBox="1"/>
          <p:nvPr/>
        </p:nvSpPr>
        <p:spPr>
          <a:xfrm>
            <a:off x="941831" y="2743199"/>
            <a:ext cx="10003538" cy="546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4000">
                <a:solidFill>
                  <a:srgbClr val="009FFD"/>
                </a:solidFill>
              </a:defRPr>
            </a:lvl1pPr>
          </a:lstStyle>
          <a:p>
            <a:pPr/>
            <a:r>
              <a:t>Introduction &amp; ML for Anomaly Detection</a:t>
            </a:r>
          </a:p>
        </p:txBody>
      </p:sp>
      <p:sp>
        <p:nvSpPr>
          <p:cNvPr id="172" name="TextBox 5"/>
          <p:cNvSpPr txBox="1"/>
          <p:nvPr/>
        </p:nvSpPr>
        <p:spPr>
          <a:xfrm>
            <a:off x="941831" y="4572000"/>
            <a:ext cx="10003538" cy="285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173" name="TextBox 6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3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What is Network Telemetry?</a:t>
            </a:r>
          </a:p>
        </p:txBody>
      </p:sp>
      <p:sp>
        <p:nvSpPr>
          <p:cNvPr id="178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The network continuously reports what is happening inside it</a:t>
            </a:r>
          </a:p>
        </p:txBody>
      </p:sp>
      <p:sp>
        <p:nvSpPr>
          <p:cNvPr id="179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180" name="TextBox 6"/>
          <p:cNvSpPr txBox="1"/>
          <p:nvPr/>
        </p:nvSpPr>
        <p:spPr>
          <a:xfrm>
            <a:off x="777239" y="1554479"/>
            <a:ext cx="5394961" cy="3613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700">
                <a:solidFill>
                  <a:srgbClr val="FFFFFF"/>
                </a:solidFill>
              </a:defRPr>
            </a:pPr>
            <a:r>
              <a:t>It is the live data that routers, switches, and links send about their health and traffic.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700">
                <a:solidFill>
                  <a:srgbClr val="FFFFFF"/>
                </a:solidFill>
              </a:defRPr>
            </a:pPr>
            <a:r>
              <a:t>It tells us things like delay, packet loss, throughput, CPU use, and errors.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700">
                <a:solidFill>
                  <a:srgbClr val="FFFFFF"/>
                </a:solidFill>
              </a:defRPr>
            </a:pPr>
            <a:r>
              <a:t>Modern systems stream this data automatically instead of waiting for slow manual checks.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700">
                <a:solidFill>
                  <a:srgbClr val="FFFFFF"/>
                </a:solidFill>
              </a:defRPr>
            </a:pPr>
            <a:r>
              <a:t>That gives operators a clearer and faster view of what the network is doing.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700">
                <a:solidFill>
                  <a:srgbClr val="FFFFFF"/>
                </a:solidFill>
              </a:defRPr>
            </a:pPr>
            <a:r>
              <a:t>Telemetry is the input that ML uses to spot trouble and predict future problems.</a:t>
            </a:r>
          </a:p>
        </p:txBody>
      </p:sp>
      <p:sp>
        <p:nvSpPr>
          <p:cNvPr id="181" name="TextBox 7"/>
          <p:cNvSpPr txBox="1"/>
          <p:nvPr/>
        </p:nvSpPr>
        <p:spPr>
          <a:xfrm>
            <a:off x="6931151" y="1645920"/>
            <a:ext cx="4334257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Simple View</a:t>
            </a:r>
          </a:p>
        </p:txBody>
      </p:sp>
      <p:sp>
        <p:nvSpPr>
          <p:cNvPr id="182" name="Oval 8"/>
          <p:cNvSpPr/>
          <p:nvPr/>
        </p:nvSpPr>
        <p:spPr>
          <a:xfrm>
            <a:off x="7086600" y="2240279"/>
            <a:ext cx="960120" cy="960121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10"/>
          <p:cNvSpPr txBox="1"/>
          <p:nvPr/>
        </p:nvSpPr>
        <p:spPr>
          <a:xfrm>
            <a:off x="7114032" y="2542032"/>
            <a:ext cx="905256" cy="203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Devices</a:t>
            </a:r>
          </a:p>
        </p:txBody>
      </p:sp>
      <p:sp>
        <p:nvSpPr>
          <p:cNvPr id="184" name="Oval 11"/>
          <p:cNvSpPr/>
          <p:nvPr/>
        </p:nvSpPr>
        <p:spPr>
          <a:xfrm>
            <a:off x="8641080" y="2240279"/>
            <a:ext cx="960121" cy="960121"/>
          </a:xfrm>
          <a:prstGeom prst="ellipse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TextBox 13"/>
          <p:cNvSpPr txBox="1"/>
          <p:nvPr/>
        </p:nvSpPr>
        <p:spPr>
          <a:xfrm>
            <a:off x="8668512" y="2542032"/>
            <a:ext cx="905257" cy="203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Data</a:t>
            </a:r>
          </a:p>
        </p:txBody>
      </p:sp>
      <p:sp>
        <p:nvSpPr>
          <p:cNvPr id="186" name="Oval 14"/>
          <p:cNvSpPr/>
          <p:nvPr/>
        </p:nvSpPr>
        <p:spPr>
          <a:xfrm>
            <a:off x="10195559" y="2240279"/>
            <a:ext cx="960121" cy="960121"/>
          </a:xfrm>
          <a:prstGeom prst="ellipse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7" name="TextBox 16"/>
          <p:cNvSpPr txBox="1"/>
          <p:nvPr/>
        </p:nvSpPr>
        <p:spPr>
          <a:xfrm>
            <a:off x="10222991" y="2542032"/>
            <a:ext cx="905257" cy="203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ML</a:t>
            </a:r>
          </a:p>
        </p:txBody>
      </p:sp>
      <p:sp>
        <p:nvSpPr>
          <p:cNvPr id="188" name="Right Arrow 17"/>
          <p:cNvSpPr/>
          <p:nvPr/>
        </p:nvSpPr>
        <p:spPr>
          <a:xfrm>
            <a:off x="8092440" y="2542032"/>
            <a:ext cx="411481" cy="2011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Right Arrow 18"/>
          <p:cNvSpPr/>
          <p:nvPr/>
        </p:nvSpPr>
        <p:spPr>
          <a:xfrm>
            <a:off x="9646919" y="2542032"/>
            <a:ext cx="411481" cy="2011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Rounded Rectangle 19"/>
          <p:cNvSpPr/>
          <p:nvPr/>
        </p:nvSpPr>
        <p:spPr>
          <a:xfrm>
            <a:off x="6812280" y="3703320"/>
            <a:ext cx="4983481" cy="182880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1" name="TextBox 20"/>
          <p:cNvSpPr txBox="1"/>
          <p:nvPr/>
        </p:nvSpPr>
        <p:spPr>
          <a:xfrm>
            <a:off x="7004303" y="3840479"/>
            <a:ext cx="4599433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Examples of Telemetry Data</a:t>
            </a:r>
          </a:p>
        </p:txBody>
      </p:sp>
      <p:sp>
        <p:nvSpPr>
          <p:cNvPr id="192" name="TextBox 21"/>
          <p:cNvSpPr txBox="1"/>
          <p:nvPr/>
        </p:nvSpPr>
        <p:spPr>
          <a:xfrm>
            <a:off x="7004303" y="4206240"/>
            <a:ext cx="4599433" cy="1367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lnSpc>
                <a:spcPct val="130000"/>
              </a:lnSpc>
              <a:defRPr sz="1400">
                <a:solidFill>
                  <a:srgbClr val="CCCCCC"/>
                </a:solidFill>
              </a:defRPr>
            </a:pPr>
            <a:r>
              <a:t>Flow data</a:t>
            </a:r>
            <a:br/>
            <a:r>
              <a:t>Packet traces</a:t>
            </a:r>
            <a:br/>
            <a:r>
              <a:t>Device metrics</a:t>
            </a:r>
            <a:br/>
            <a:r>
              <a:t>INT path details</a:t>
            </a:r>
            <a:br/>
            <a:r>
              <a:t>Logs and events</a:t>
            </a:r>
          </a:p>
        </p:txBody>
      </p:sp>
      <p:sp>
        <p:nvSpPr>
          <p:cNvPr id="193" name="TextBox 22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194" name="TextBox 23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4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8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From Traditional Monitoring to Streaming Telemetry</a:t>
            </a:r>
          </a:p>
        </p:txBody>
      </p:sp>
      <p:sp>
        <p:nvSpPr>
          <p:cNvPr id="199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Why modern networks moved beyond slow polling and basic dashboards</a:t>
            </a:r>
          </a:p>
        </p:txBody>
      </p:sp>
      <p:sp>
        <p:nvSpPr>
          <p:cNvPr id="200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201" name="Rounded Rectangle 6"/>
          <p:cNvSpPr/>
          <p:nvPr/>
        </p:nvSpPr>
        <p:spPr>
          <a:xfrm>
            <a:off x="822960" y="1737360"/>
            <a:ext cx="5120641" cy="297180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2" name="TextBox 7"/>
          <p:cNvSpPr txBox="1"/>
          <p:nvPr/>
        </p:nvSpPr>
        <p:spPr>
          <a:xfrm>
            <a:off x="1014984" y="1874520"/>
            <a:ext cx="47365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Traditional Monitoring</a:t>
            </a:r>
          </a:p>
        </p:txBody>
      </p:sp>
      <p:sp>
        <p:nvSpPr>
          <p:cNvPr id="203" name="TextBox 8"/>
          <p:cNvSpPr txBox="1"/>
          <p:nvPr/>
        </p:nvSpPr>
        <p:spPr>
          <a:xfrm>
            <a:off x="1014984" y="2240279"/>
            <a:ext cx="4736593" cy="10768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lnSpc>
                <a:spcPct val="130000"/>
              </a:lnSpc>
              <a:defRPr sz="1500">
                <a:solidFill>
                  <a:srgbClr val="CCCCCC"/>
                </a:solidFill>
              </a:defRPr>
            </a:pPr>
            <a:r>
              <a:t>Checks devices every so often</a:t>
            </a:r>
            <a:br/>
            <a:r>
              <a:t>Often slower and less detailed</a:t>
            </a:r>
            <a:br/>
            <a:r>
              <a:t>Problems may be noticed after users are affected</a:t>
            </a:r>
            <a:br/>
            <a:r>
              <a:t>Works poorly at modern network scale</a:t>
            </a:r>
          </a:p>
        </p:txBody>
      </p:sp>
      <p:sp>
        <p:nvSpPr>
          <p:cNvPr id="204" name="Rounded Rectangle 9"/>
          <p:cNvSpPr/>
          <p:nvPr/>
        </p:nvSpPr>
        <p:spPr>
          <a:xfrm>
            <a:off x="6263640" y="1737360"/>
            <a:ext cx="5120641" cy="297180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5" name="TextBox 10"/>
          <p:cNvSpPr txBox="1"/>
          <p:nvPr/>
        </p:nvSpPr>
        <p:spPr>
          <a:xfrm>
            <a:off x="6455664" y="1874520"/>
            <a:ext cx="47365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Streaming Telemetry</a:t>
            </a:r>
          </a:p>
        </p:txBody>
      </p:sp>
      <p:sp>
        <p:nvSpPr>
          <p:cNvPr id="206" name="TextBox 11"/>
          <p:cNvSpPr txBox="1"/>
          <p:nvPr/>
        </p:nvSpPr>
        <p:spPr>
          <a:xfrm>
            <a:off x="6455664" y="2240279"/>
            <a:ext cx="4736593" cy="10768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lnSpc>
                <a:spcPct val="130000"/>
              </a:lnSpc>
              <a:defRPr sz="1500">
                <a:solidFill>
                  <a:srgbClr val="CCCCCC"/>
                </a:solidFill>
              </a:defRPr>
            </a:pPr>
            <a:r>
              <a:t>Data is pushed continuously</a:t>
            </a:r>
            <a:br/>
            <a:r>
              <a:t>More detailed and more real-time</a:t>
            </a:r>
            <a:br/>
            <a:r>
              <a:t>Makes faster detection and response possible</a:t>
            </a:r>
            <a:br/>
            <a:r>
              <a:t>Better fit for ML and automation</a:t>
            </a:r>
          </a:p>
        </p:txBody>
      </p:sp>
      <p:sp>
        <p:nvSpPr>
          <p:cNvPr id="207" name="Right Arrow 12"/>
          <p:cNvSpPr/>
          <p:nvPr/>
        </p:nvSpPr>
        <p:spPr>
          <a:xfrm>
            <a:off x="5440679" y="2788920"/>
            <a:ext cx="502921" cy="27432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8" name="Rounded Rectangle 13"/>
          <p:cNvSpPr/>
          <p:nvPr/>
        </p:nvSpPr>
        <p:spPr>
          <a:xfrm>
            <a:off x="2286000" y="4892040"/>
            <a:ext cx="7589520" cy="9601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9" name="TextBox 14"/>
          <p:cNvSpPr txBox="1"/>
          <p:nvPr/>
        </p:nvSpPr>
        <p:spPr>
          <a:xfrm>
            <a:off x="2478024" y="5029199"/>
            <a:ext cx="7205473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Main Point</a:t>
            </a:r>
          </a:p>
        </p:txBody>
      </p:sp>
      <p:sp>
        <p:nvSpPr>
          <p:cNvPr id="210" name="TextBox 15"/>
          <p:cNvSpPr txBox="1"/>
          <p:nvPr/>
        </p:nvSpPr>
        <p:spPr>
          <a:xfrm>
            <a:off x="2478024" y="5394959"/>
            <a:ext cx="7205473" cy="203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Better telemetry gives ML better input, and better input leads to better decisions.</a:t>
            </a:r>
          </a:p>
        </p:txBody>
      </p:sp>
      <p:sp>
        <p:nvSpPr>
          <p:cNvPr id="211" name="TextBox 16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212" name="TextBox 17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5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5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6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Where Telemetry Data Comes From</a:t>
            </a:r>
          </a:p>
        </p:txBody>
      </p:sp>
      <p:sp>
        <p:nvSpPr>
          <p:cNvPr id="217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Different network signals combine to give a full picture</a:t>
            </a:r>
          </a:p>
        </p:txBody>
      </p:sp>
      <p:sp>
        <p:nvSpPr>
          <p:cNvPr id="218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219" name="Rounded Rectangle 6"/>
          <p:cNvSpPr/>
          <p:nvPr/>
        </p:nvSpPr>
        <p:spPr>
          <a:xfrm>
            <a:off x="822960" y="1737360"/>
            <a:ext cx="4892041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TextBox 7"/>
          <p:cNvSpPr txBox="1"/>
          <p:nvPr/>
        </p:nvSpPr>
        <p:spPr>
          <a:xfrm>
            <a:off x="1014984" y="1874520"/>
            <a:ext cx="45079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Devices</a:t>
            </a:r>
          </a:p>
        </p:txBody>
      </p:sp>
      <p:sp>
        <p:nvSpPr>
          <p:cNvPr id="221" name="TextBox 8"/>
          <p:cNvSpPr txBox="1"/>
          <p:nvPr/>
        </p:nvSpPr>
        <p:spPr>
          <a:xfrm>
            <a:off x="1014984" y="2240279"/>
            <a:ext cx="4507993" cy="203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Routers, switches, and access points report health and counters.</a:t>
            </a:r>
          </a:p>
        </p:txBody>
      </p:sp>
      <p:sp>
        <p:nvSpPr>
          <p:cNvPr id="222" name="Rounded Rectangle 9"/>
          <p:cNvSpPr/>
          <p:nvPr/>
        </p:nvSpPr>
        <p:spPr>
          <a:xfrm>
            <a:off x="6309359" y="1737360"/>
            <a:ext cx="4892041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3" name="TextBox 10"/>
          <p:cNvSpPr txBox="1"/>
          <p:nvPr/>
        </p:nvSpPr>
        <p:spPr>
          <a:xfrm>
            <a:off x="6501384" y="1874520"/>
            <a:ext cx="45079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Traffic Flows</a:t>
            </a:r>
          </a:p>
        </p:txBody>
      </p:sp>
      <p:sp>
        <p:nvSpPr>
          <p:cNvPr id="224" name="TextBox 11"/>
          <p:cNvSpPr txBox="1"/>
          <p:nvPr/>
        </p:nvSpPr>
        <p:spPr>
          <a:xfrm>
            <a:off x="6501384" y="2240279"/>
            <a:ext cx="4507993" cy="203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Flow records show who is talking, how much, and how often.</a:t>
            </a:r>
          </a:p>
        </p:txBody>
      </p:sp>
      <p:sp>
        <p:nvSpPr>
          <p:cNvPr id="225" name="Rounded Rectangle 12"/>
          <p:cNvSpPr/>
          <p:nvPr/>
        </p:nvSpPr>
        <p:spPr>
          <a:xfrm>
            <a:off x="822960" y="3566159"/>
            <a:ext cx="4892041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13"/>
          <p:cNvSpPr txBox="1"/>
          <p:nvPr/>
        </p:nvSpPr>
        <p:spPr>
          <a:xfrm>
            <a:off x="1014984" y="3703320"/>
            <a:ext cx="45079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Packets</a:t>
            </a:r>
          </a:p>
        </p:txBody>
      </p:sp>
      <p:sp>
        <p:nvSpPr>
          <p:cNvPr id="227" name="TextBox 14"/>
          <p:cNvSpPr txBox="1"/>
          <p:nvPr/>
        </p:nvSpPr>
        <p:spPr>
          <a:xfrm>
            <a:off x="1014984" y="4069079"/>
            <a:ext cx="4507993" cy="203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Packet traces reveal detailed behavior on the wire.</a:t>
            </a:r>
          </a:p>
        </p:txBody>
      </p:sp>
      <p:sp>
        <p:nvSpPr>
          <p:cNvPr id="228" name="Rounded Rectangle 15"/>
          <p:cNvSpPr/>
          <p:nvPr/>
        </p:nvSpPr>
        <p:spPr>
          <a:xfrm>
            <a:off x="6309359" y="3566159"/>
            <a:ext cx="4892041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16"/>
          <p:cNvSpPr txBox="1"/>
          <p:nvPr/>
        </p:nvSpPr>
        <p:spPr>
          <a:xfrm>
            <a:off x="6501384" y="3703320"/>
            <a:ext cx="45079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Logs &amp; Events</a:t>
            </a:r>
          </a:p>
        </p:txBody>
      </p:sp>
      <p:sp>
        <p:nvSpPr>
          <p:cNvPr id="230" name="TextBox 17"/>
          <p:cNvSpPr txBox="1"/>
          <p:nvPr/>
        </p:nvSpPr>
        <p:spPr>
          <a:xfrm>
            <a:off x="6501384" y="4069079"/>
            <a:ext cx="4507993" cy="203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Logs capture warnings, failures, and configuration changes.</a:t>
            </a:r>
          </a:p>
        </p:txBody>
      </p:sp>
      <p:sp>
        <p:nvSpPr>
          <p:cNvPr id="231" name="Rounded Rectangle 18"/>
          <p:cNvSpPr/>
          <p:nvPr/>
        </p:nvSpPr>
        <p:spPr>
          <a:xfrm>
            <a:off x="1828800" y="5074920"/>
            <a:ext cx="8503920" cy="9601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" name="TextBox 19"/>
          <p:cNvSpPr txBox="1"/>
          <p:nvPr/>
        </p:nvSpPr>
        <p:spPr>
          <a:xfrm>
            <a:off x="2020824" y="5212079"/>
            <a:ext cx="8119873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Why this matters</a:t>
            </a:r>
          </a:p>
        </p:txBody>
      </p:sp>
      <p:sp>
        <p:nvSpPr>
          <p:cNvPr id="233" name="TextBox 20"/>
          <p:cNvSpPr txBox="1"/>
          <p:nvPr/>
        </p:nvSpPr>
        <p:spPr>
          <a:xfrm>
            <a:off x="2020824" y="5577840"/>
            <a:ext cx="8119873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ML works best when it can learn from multiple types of telemetry instead of a single signal.</a:t>
            </a:r>
          </a:p>
        </p:txBody>
      </p:sp>
      <p:sp>
        <p:nvSpPr>
          <p:cNvPr id="234" name="TextBox 21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235" name="TextBox 22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6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Why Telemetry Matters in Modern Networks</a:t>
            </a:r>
          </a:p>
        </p:txBody>
      </p:sp>
      <p:sp>
        <p:nvSpPr>
          <p:cNvPr id="240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Telemetry supports visibility, reliability, and automation</a:t>
            </a:r>
          </a:p>
        </p:txBody>
      </p:sp>
      <p:sp>
        <p:nvSpPr>
          <p:cNvPr id="241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242" name="Oval 6"/>
          <p:cNvSpPr/>
          <p:nvPr/>
        </p:nvSpPr>
        <p:spPr>
          <a:xfrm>
            <a:off x="868680" y="1664207"/>
            <a:ext cx="384049" cy="384049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" name="TextBox 7"/>
          <p:cNvSpPr txBox="1"/>
          <p:nvPr/>
        </p:nvSpPr>
        <p:spPr>
          <a:xfrm>
            <a:off x="896112" y="1691639"/>
            <a:ext cx="329185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44" name="TextBox 8"/>
          <p:cNvSpPr txBox="1"/>
          <p:nvPr/>
        </p:nvSpPr>
        <p:spPr>
          <a:xfrm>
            <a:off x="1444752" y="1645920"/>
            <a:ext cx="3785616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9FFD"/>
                </a:solidFill>
              </a:defRPr>
            </a:lvl1pPr>
          </a:lstStyle>
          <a:p>
            <a:pPr/>
            <a:r>
              <a:t>See problems earlier</a:t>
            </a:r>
          </a:p>
        </p:txBody>
      </p:sp>
      <p:sp>
        <p:nvSpPr>
          <p:cNvPr id="245" name="TextBox 9"/>
          <p:cNvSpPr txBox="1"/>
          <p:nvPr/>
        </p:nvSpPr>
        <p:spPr>
          <a:xfrm>
            <a:off x="1444751" y="1993392"/>
            <a:ext cx="9820658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Operators can notice trouble before outages spread.</a:t>
            </a:r>
          </a:p>
        </p:txBody>
      </p:sp>
      <p:sp>
        <p:nvSpPr>
          <p:cNvPr id="246" name="Oval 10"/>
          <p:cNvSpPr/>
          <p:nvPr/>
        </p:nvSpPr>
        <p:spPr>
          <a:xfrm>
            <a:off x="868680" y="2624327"/>
            <a:ext cx="384049" cy="384049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" name="TextBox 11"/>
          <p:cNvSpPr txBox="1"/>
          <p:nvPr/>
        </p:nvSpPr>
        <p:spPr>
          <a:xfrm>
            <a:off x="896112" y="2651760"/>
            <a:ext cx="329185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48" name="TextBox 12"/>
          <p:cNvSpPr txBox="1"/>
          <p:nvPr/>
        </p:nvSpPr>
        <p:spPr>
          <a:xfrm>
            <a:off x="1444752" y="2606039"/>
            <a:ext cx="3785616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9FFD"/>
                </a:solidFill>
              </a:defRPr>
            </a:lvl1pPr>
          </a:lstStyle>
          <a:p>
            <a:pPr/>
            <a:r>
              <a:t>Understand performance</a:t>
            </a:r>
          </a:p>
        </p:txBody>
      </p:sp>
      <p:sp>
        <p:nvSpPr>
          <p:cNvPr id="249" name="TextBox 13"/>
          <p:cNvSpPr txBox="1"/>
          <p:nvPr/>
        </p:nvSpPr>
        <p:spPr>
          <a:xfrm>
            <a:off x="1444751" y="2953511"/>
            <a:ext cx="9820658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Teams can measure delay, loss, and congestion more clearly.</a:t>
            </a:r>
          </a:p>
        </p:txBody>
      </p:sp>
      <p:sp>
        <p:nvSpPr>
          <p:cNvPr id="250" name="Oval 14"/>
          <p:cNvSpPr/>
          <p:nvPr/>
        </p:nvSpPr>
        <p:spPr>
          <a:xfrm>
            <a:off x="868680" y="3584447"/>
            <a:ext cx="384049" cy="384049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TextBox 15"/>
          <p:cNvSpPr txBox="1"/>
          <p:nvPr/>
        </p:nvSpPr>
        <p:spPr>
          <a:xfrm>
            <a:off x="896112" y="3611879"/>
            <a:ext cx="329185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52" name="TextBox 16"/>
          <p:cNvSpPr txBox="1"/>
          <p:nvPr/>
        </p:nvSpPr>
        <p:spPr>
          <a:xfrm>
            <a:off x="1444752" y="3566159"/>
            <a:ext cx="3785616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9FFD"/>
                </a:solidFill>
              </a:defRPr>
            </a:lvl1pPr>
          </a:lstStyle>
          <a:p>
            <a:pPr/>
            <a:r>
              <a:t>Support automation</a:t>
            </a:r>
          </a:p>
        </p:txBody>
      </p:sp>
      <p:sp>
        <p:nvSpPr>
          <p:cNvPr id="253" name="TextBox 17"/>
          <p:cNvSpPr txBox="1"/>
          <p:nvPr/>
        </p:nvSpPr>
        <p:spPr>
          <a:xfrm>
            <a:off x="1444751" y="3913632"/>
            <a:ext cx="9820658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Telemetry gives ML the evidence it needs to recommend actions.</a:t>
            </a:r>
          </a:p>
        </p:txBody>
      </p:sp>
      <p:sp>
        <p:nvSpPr>
          <p:cNvPr id="254" name="Oval 18"/>
          <p:cNvSpPr/>
          <p:nvPr/>
        </p:nvSpPr>
        <p:spPr>
          <a:xfrm>
            <a:off x="868680" y="4544567"/>
            <a:ext cx="384049" cy="384049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5" name="TextBox 19"/>
          <p:cNvSpPr txBox="1"/>
          <p:nvPr/>
        </p:nvSpPr>
        <p:spPr>
          <a:xfrm>
            <a:off x="896112" y="4572000"/>
            <a:ext cx="329185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56" name="TextBox 20"/>
          <p:cNvSpPr txBox="1"/>
          <p:nvPr/>
        </p:nvSpPr>
        <p:spPr>
          <a:xfrm>
            <a:off x="1444752" y="4526279"/>
            <a:ext cx="3785616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9FFD"/>
                </a:solidFill>
              </a:defRPr>
            </a:lvl1pPr>
          </a:lstStyle>
          <a:p>
            <a:pPr/>
            <a:r>
              <a:t>Scale to new networks</a:t>
            </a:r>
          </a:p>
        </p:txBody>
      </p:sp>
      <p:sp>
        <p:nvSpPr>
          <p:cNvPr id="257" name="TextBox 21"/>
          <p:cNvSpPr txBox="1"/>
          <p:nvPr/>
        </p:nvSpPr>
        <p:spPr>
          <a:xfrm>
            <a:off x="1444751" y="4873752"/>
            <a:ext cx="9820658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5G, cloud, and large systems need better visibility than old tools provide.</a:t>
            </a:r>
          </a:p>
        </p:txBody>
      </p:sp>
      <p:sp>
        <p:nvSpPr>
          <p:cNvPr id="258" name="Rounded Rectangle 22"/>
          <p:cNvSpPr/>
          <p:nvPr/>
        </p:nvSpPr>
        <p:spPr>
          <a:xfrm>
            <a:off x="7132319" y="1965960"/>
            <a:ext cx="4206241" cy="246888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9" name="TextBox 23"/>
          <p:cNvSpPr txBox="1"/>
          <p:nvPr/>
        </p:nvSpPr>
        <p:spPr>
          <a:xfrm>
            <a:off x="7324343" y="2103120"/>
            <a:ext cx="38221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Simple Summary</a:t>
            </a:r>
          </a:p>
        </p:txBody>
      </p:sp>
      <p:sp>
        <p:nvSpPr>
          <p:cNvPr id="260" name="TextBox 24"/>
          <p:cNvSpPr txBox="1"/>
          <p:nvPr/>
        </p:nvSpPr>
        <p:spPr>
          <a:xfrm>
            <a:off x="7324343" y="2468879"/>
            <a:ext cx="3822193" cy="792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lnSpc>
                <a:spcPct val="130000"/>
              </a:lnSpc>
              <a:defRPr sz="1500">
                <a:solidFill>
                  <a:srgbClr val="CCCCCC"/>
                </a:solidFill>
              </a:defRPr>
            </a:pPr>
            <a:r>
              <a:t>Telemetry is the network's evidence.</a:t>
            </a:r>
            <a:br/>
            <a:r>
              <a:t>ML uses that evidence to find patterns, explain behavior, and support faster decisions.</a:t>
            </a:r>
          </a:p>
        </p:txBody>
      </p:sp>
      <p:sp>
        <p:nvSpPr>
          <p:cNvPr id="261" name="TextBox 2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Abdul Rehman</a:t>
            </a:r>
          </a:p>
        </p:txBody>
      </p:sp>
      <p:sp>
        <p:nvSpPr>
          <p:cNvPr id="262" name="TextBox 26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7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5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6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Why Apply ML to Network Telemetry?</a:t>
            </a:r>
          </a:p>
        </p:txBody>
      </p:sp>
      <p:sp>
        <p:nvSpPr>
          <p:cNvPr id="267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The challenge is not collecting data. It is understanding it fast enough.</a:t>
            </a:r>
          </a:p>
        </p:txBody>
      </p:sp>
      <p:sp>
        <p:nvSpPr>
          <p:cNvPr id="268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269" name="Oval 6"/>
          <p:cNvSpPr/>
          <p:nvPr/>
        </p:nvSpPr>
        <p:spPr>
          <a:xfrm>
            <a:off x="5074920" y="2148839"/>
            <a:ext cx="1828801" cy="1828801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0" name="TextBox 7"/>
          <p:cNvSpPr txBox="1"/>
          <p:nvPr/>
        </p:nvSpPr>
        <p:spPr>
          <a:xfrm>
            <a:off x="5102352" y="2697479"/>
            <a:ext cx="1773937" cy="4350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ML</a:t>
            </a:r>
          </a:p>
        </p:txBody>
      </p:sp>
      <p:sp>
        <p:nvSpPr>
          <p:cNvPr id="271" name="TextBox 8"/>
          <p:cNvSpPr txBox="1"/>
          <p:nvPr/>
        </p:nvSpPr>
        <p:spPr>
          <a:xfrm>
            <a:off x="4553711" y="4160520"/>
            <a:ext cx="2871217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Why use ML here?</a:t>
            </a:r>
          </a:p>
        </p:txBody>
      </p:sp>
      <p:sp>
        <p:nvSpPr>
          <p:cNvPr id="272" name="Rounded Rectangle 9"/>
          <p:cNvSpPr/>
          <p:nvPr/>
        </p:nvSpPr>
        <p:spPr>
          <a:xfrm>
            <a:off x="822960" y="1737360"/>
            <a:ext cx="3566160" cy="14173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10"/>
          <p:cNvSpPr txBox="1"/>
          <p:nvPr/>
        </p:nvSpPr>
        <p:spPr>
          <a:xfrm>
            <a:off x="1014983" y="1874520"/>
            <a:ext cx="3182114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Too much data</a:t>
            </a:r>
          </a:p>
        </p:txBody>
      </p:sp>
      <p:sp>
        <p:nvSpPr>
          <p:cNvPr id="274" name="TextBox 11"/>
          <p:cNvSpPr txBox="1"/>
          <p:nvPr/>
        </p:nvSpPr>
        <p:spPr>
          <a:xfrm>
            <a:off x="1014983" y="2240279"/>
            <a:ext cx="3182114" cy="45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Large networks create huge telemetry streams every second.</a:t>
            </a:r>
          </a:p>
        </p:txBody>
      </p:sp>
      <p:sp>
        <p:nvSpPr>
          <p:cNvPr id="275" name="Rounded Rectangle 12"/>
          <p:cNvSpPr/>
          <p:nvPr/>
        </p:nvSpPr>
        <p:spPr>
          <a:xfrm>
            <a:off x="822960" y="3794759"/>
            <a:ext cx="3566160" cy="14173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6" name="TextBox 13"/>
          <p:cNvSpPr txBox="1"/>
          <p:nvPr/>
        </p:nvSpPr>
        <p:spPr>
          <a:xfrm>
            <a:off x="1014983" y="3931920"/>
            <a:ext cx="3182114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Problems are hidden</a:t>
            </a:r>
          </a:p>
        </p:txBody>
      </p:sp>
      <p:sp>
        <p:nvSpPr>
          <p:cNvPr id="277" name="TextBox 14"/>
          <p:cNvSpPr txBox="1"/>
          <p:nvPr/>
        </p:nvSpPr>
        <p:spPr>
          <a:xfrm>
            <a:off x="1014983" y="4297679"/>
            <a:ext cx="3182114" cy="45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Small clues across many signals are hard to notice manually.</a:t>
            </a:r>
          </a:p>
        </p:txBody>
      </p:sp>
      <p:sp>
        <p:nvSpPr>
          <p:cNvPr id="278" name="Rounded Rectangle 15"/>
          <p:cNvSpPr/>
          <p:nvPr/>
        </p:nvSpPr>
        <p:spPr>
          <a:xfrm>
            <a:off x="7543800" y="1737360"/>
            <a:ext cx="3566160" cy="14173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9" name="TextBox 16"/>
          <p:cNvSpPr txBox="1"/>
          <p:nvPr/>
        </p:nvSpPr>
        <p:spPr>
          <a:xfrm>
            <a:off x="7735824" y="1874520"/>
            <a:ext cx="318211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Speed matters</a:t>
            </a:r>
          </a:p>
        </p:txBody>
      </p:sp>
      <p:sp>
        <p:nvSpPr>
          <p:cNvPr id="280" name="TextBox 17"/>
          <p:cNvSpPr txBox="1"/>
          <p:nvPr/>
        </p:nvSpPr>
        <p:spPr>
          <a:xfrm>
            <a:off x="7735824" y="2240279"/>
            <a:ext cx="3182113" cy="45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Teams need answers before users feel the problem.</a:t>
            </a:r>
          </a:p>
        </p:txBody>
      </p:sp>
      <p:sp>
        <p:nvSpPr>
          <p:cNvPr id="281" name="Rounded Rectangle 18"/>
          <p:cNvSpPr/>
          <p:nvPr/>
        </p:nvSpPr>
        <p:spPr>
          <a:xfrm>
            <a:off x="7543800" y="3794759"/>
            <a:ext cx="3566160" cy="141732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2" name="TextBox 19"/>
          <p:cNvSpPr txBox="1"/>
          <p:nvPr/>
        </p:nvSpPr>
        <p:spPr>
          <a:xfrm>
            <a:off x="7735824" y="3931920"/>
            <a:ext cx="318211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Networks change</a:t>
            </a:r>
          </a:p>
        </p:txBody>
      </p:sp>
      <p:sp>
        <p:nvSpPr>
          <p:cNvPr id="283" name="TextBox 20"/>
          <p:cNvSpPr txBox="1"/>
          <p:nvPr/>
        </p:nvSpPr>
        <p:spPr>
          <a:xfrm>
            <a:off x="7735824" y="4297679"/>
            <a:ext cx="3182113" cy="45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Traffic and paths move, so fixed rules become outdated.</a:t>
            </a:r>
          </a:p>
        </p:txBody>
      </p:sp>
      <p:sp>
        <p:nvSpPr>
          <p:cNvPr id="284" name="Rounded Rectangle 21"/>
          <p:cNvSpPr/>
          <p:nvPr/>
        </p:nvSpPr>
        <p:spPr>
          <a:xfrm>
            <a:off x="3657600" y="5257800"/>
            <a:ext cx="4709160" cy="96012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5" name="TextBox 22"/>
          <p:cNvSpPr txBox="1"/>
          <p:nvPr/>
        </p:nvSpPr>
        <p:spPr>
          <a:xfrm>
            <a:off x="3849623" y="5394959"/>
            <a:ext cx="432511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What We Cover</a:t>
            </a:r>
          </a:p>
        </p:txBody>
      </p:sp>
      <p:sp>
        <p:nvSpPr>
          <p:cNvPr id="286" name="TextBox 23"/>
          <p:cNvSpPr txBox="1"/>
          <p:nvPr/>
        </p:nvSpPr>
        <p:spPr>
          <a:xfrm>
            <a:off x="3849623" y="5760720"/>
            <a:ext cx="4325113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Anomalies  |  Prediction  |  QoS  |  Industry  |  Future trends</a:t>
            </a:r>
          </a:p>
        </p:txBody>
      </p:sp>
      <p:sp>
        <p:nvSpPr>
          <p:cNvPr id="287" name="TextBox 2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288" name="TextBox 25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8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1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2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ML Methods for Anomaly Detection</a:t>
            </a:r>
          </a:p>
        </p:txBody>
      </p:sp>
      <p:sp>
        <p:nvSpPr>
          <p:cNvPr id="293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A visual summary of the main model families</a:t>
            </a:r>
          </a:p>
        </p:txBody>
      </p:sp>
      <p:sp>
        <p:nvSpPr>
          <p:cNvPr id="294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295" name="Rounded Rectangle 6"/>
          <p:cNvSpPr/>
          <p:nvPr/>
        </p:nvSpPr>
        <p:spPr>
          <a:xfrm>
            <a:off x="1417319" y="1645920"/>
            <a:ext cx="2788922" cy="14630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6" name="TextBox 7"/>
          <p:cNvSpPr txBox="1"/>
          <p:nvPr/>
        </p:nvSpPr>
        <p:spPr>
          <a:xfrm>
            <a:off x="1609344" y="1783079"/>
            <a:ext cx="2404872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Autoencoders</a:t>
            </a:r>
          </a:p>
        </p:txBody>
      </p:sp>
      <p:sp>
        <p:nvSpPr>
          <p:cNvPr id="297" name="TextBox 8"/>
          <p:cNvSpPr txBox="1"/>
          <p:nvPr/>
        </p:nvSpPr>
        <p:spPr>
          <a:xfrm>
            <a:off x="1609344" y="2148839"/>
            <a:ext cx="2404872" cy="668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Learn what normal traffic looks like. If new data looks very different, it may be an anomaly.</a:t>
            </a:r>
          </a:p>
        </p:txBody>
      </p:sp>
      <p:sp>
        <p:nvSpPr>
          <p:cNvPr id="298" name="Rounded Rectangle 9"/>
          <p:cNvSpPr/>
          <p:nvPr/>
        </p:nvSpPr>
        <p:spPr>
          <a:xfrm>
            <a:off x="3200400" y="1481327"/>
            <a:ext cx="841248" cy="256033"/>
          </a:xfrm>
          <a:prstGeom prst="roundRect">
            <a:avLst>
              <a:gd name="adj" fmla="val 16667"/>
            </a:avLst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TextBox 10"/>
          <p:cNvSpPr txBox="1"/>
          <p:nvPr/>
        </p:nvSpPr>
        <p:spPr>
          <a:xfrm>
            <a:off x="3227832" y="1499616"/>
            <a:ext cx="786384" cy="141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Unsupervised</a:t>
            </a:r>
          </a:p>
        </p:txBody>
      </p:sp>
      <p:sp>
        <p:nvSpPr>
          <p:cNvPr id="300" name="Rounded Rectangle 11"/>
          <p:cNvSpPr/>
          <p:nvPr/>
        </p:nvSpPr>
        <p:spPr>
          <a:xfrm>
            <a:off x="4709159" y="1645920"/>
            <a:ext cx="2788921" cy="14630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1" name="TextBox 12"/>
          <p:cNvSpPr txBox="1"/>
          <p:nvPr/>
        </p:nvSpPr>
        <p:spPr>
          <a:xfrm>
            <a:off x="4901184" y="1783079"/>
            <a:ext cx="2404872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LSTM / GRU</a:t>
            </a:r>
          </a:p>
        </p:txBody>
      </p:sp>
      <p:sp>
        <p:nvSpPr>
          <p:cNvPr id="302" name="TextBox 13"/>
          <p:cNvSpPr txBox="1"/>
          <p:nvPr/>
        </p:nvSpPr>
        <p:spPr>
          <a:xfrm>
            <a:off x="4901184" y="2148839"/>
            <a:ext cx="2404872" cy="668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Look at patterns over time. They help catch spikes, drops, or strange sequences in telemetry.</a:t>
            </a:r>
          </a:p>
        </p:txBody>
      </p:sp>
      <p:sp>
        <p:nvSpPr>
          <p:cNvPr id="303" name="Rounded Rectangle 14"/>
          <p:cNvSpPr/>
          <p:nvPr/>
        </p:nvSpPr>
        <p:spPr>
          <a:xfrm>
            <a:off x="6492240" y="1481327"/>
            <a:ext cx="841249" cy="256033"/>
          </a:xfrm>
          <a:prstGeom prst="roundRect">
            <a:avLst>
              <a:gd name="adj" fmla="val 16667"/>
            </a:avLst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4" name="TextBox 15"/>
          <p:cNvSpPr txBox="1"/>
          <p:nvPr/>
        </p:nvSpPr>
        <p:spPr>
          <a:xfrm>
            <a:off x="6519672" y="1499616"/>
            <a:ext cx="786385" cy="141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Deep Learning</a:t>
            </a:r>
          </a:p>
        </p:txBody>
      </p:sp>
      <p:sp>
        <p:nvSpPr>
          <p:cNvPr id="305" name="Rounded Rectangle 16"/>
          <p:cNvSpPr/>
          <p:nvPr/>
        </p:nvSpPr>
        <p:spPr>
          <a:xfrm>
            <a:off x="8001000" y="1645920"/>
            <a:ext cx="2788921" cy="14630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17"/>
          <p:cNvSpPr txBox="1"/>
          <p:nvPr/>
        </p:nvSpPr>
        <p:spPr>
          <a:xfrm>
            <a:off x="8193024" y="1783079"/>
            <a:ext cx="2404873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Isolation Forest</a:t>
            </a:r>
          </a:p>
        </p:txBody>
      </p:sp>
      <p:sp>
        <p:nvSpPr>
          <p:cNvPr id="307" name="TextBox 18"/>
          <p:cNvSpPr txBox="1"/>
          <p:nvPr/>
        </p:nvSpPr>
        <p:spPr>
          <a:xfrm>
            <a:off x="8193024" y="2148839"/>
            <a:ext cx="2404873" cy="668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Quickly separates unusual points from common ones. Useful when speed is important.</a:t>
            </a:r>
          </a:p>
        </p:txBody>
      </p:sp>
      <p:sp>
        <p:nvSpPr>
          <p:cNvPr id="308" name="Rounded Rectangle 19"/>
          <p:cNvSpPr/>
          <p:nvPr/>
        </p:nvSpPr>
        <p:spPr>
          <a:xfrm>
            <a:off x="9784080" y="1481327"/>
            <a:ext cx="841249" cy="256033"/>
          </a:xfrm>
          <a:prstGeom prst="roundRect">
            <a:avLst>
              <a:gd name="adj" fmla="val 16667"/>
            </a:avLst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9" name="TextBox 20"/>
          <p:cNvSpPr txBox="1"/>
          <p:nvPr/>
        </p:nvSpPr>
        <p:spPr>
          <a:xfrm>
            <a:off x="9811512" y="1499616"/>
            <a:ext cx="786385" cy="141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Unsupervised</a:t>
            </a:r>
          </a:p>
        </p:txBody>
      </p:sp>
      <p:sp>
        <p:nvSpPr>
          <p:cNvPr id="310" name="Rounded Rectangle 21"/>
          <p:cNvSpPr/>
          <p:nvPr/>
        </p:nvSpPr>
        <p:spPr>
          <a:xfrm>
            <a:off x="3063239" y="3657600"/>
            <a:ext cx="2788922" cy="146304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1" name="TextBox 22"/>
          <p:cNvSpPr txBox="1"/>
          <p:nvPr/>
        </p:nvSpPr>
        <p:spPr>
          <a:xfrm>
            <a:off x="3255264" y="3794759"/>
            <a:ext cx="2404872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One-Class SVM</a:t>
            </a:r>
          </a:p>
        </p:txBody>
      </p:sp>
      <p:sp>
        <p:nvSpPr>
          <p:cNvPr id="312" name="TextBox 23"/>
          <p:cNvSpPr txBox="1"/>
          <p:nvPr/>
        </p:nvSpPr>
        <p:spPr>
          <a:xfrm>
            <a:off x="3255264" y="4160520"/>
            <a:ext cx="2404872" cy="668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Builds a boundary around normal behavior, then flags data outside that boundary.</a:t>
            </a:r>
          </a:p>
        </p:txBody>
      </p:sp>
      <p:sp>
        <p:nvSpPr>
          <p:cNvPr id="313" name="Rounded Rectangle 24"/>
          <p:cNvSpPr/>
          <p:nvPr/>
        </p:nvSpPr>
        <p:spPr>
          <a:xfrm>
            <a:off x="4846320" y="3493008"/>
            <a:ext cx="841249" cy="256033"/>
          </a:xfrm>
          <a:prstGeom prst="roundRect">
            <a:avLst>
              <a:gd name="adj" fmla="val 16667"/>
            </a:avLst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4" name="TextBox 25"/>
          <p:cNvSpPr txBox="1"/>
          <p:nvPr/>
        </p:nvSpPr>
        <p:spPr>
          <a:xfrm>
            <a:off x="4873752" y="3511296"/>
            <a:ext cx="786385" cy="141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Semi-supervised</a:t>
            </a:r>
          </a:p>
        </p:txBody>
      </p:sp>
      <p:sp>
        <p:nvSpPr>
          <p:cNvPr id="315" name="Rounded Rectangle 26"/>
          <p:cNvSpPr/>
          <p:nvPr/>
        </p:nvSpPr>
        <p:spPr>
          <a:xfrm>
            <a:off x="6355079" y="3657600"/>
            <a:ext cx="2788921" cy="146304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6" name="TextBox 27"/>
          <p:cNvSpPr txBox="1"/>
          <p:nvPr/>
        </p:nvSpPr>
        <p:spPr>
          <a:xfrm>
            <a:off x="6547103" y="3794759"/>
            <a:ext cx="240487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GAN-based Models</a:t>
            </a:r>
          </a:p>
        </p:txBody>
      </p:sp>
      <p:sp>
        <p:nvSpPr>
          <p:cNvPr id="317" name="TextBox 28"/>
          <p:cNvSpPr txBox="1"/>
          <p:nvPr/>
        </p:nvSpPr>
        <p:spPr>
          <a:xfrm>
            <a:off x="6547103" y="4160520"/>
            <a:ext cx="2404873" cy="668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Generate or compare normal-looking samples so unusual behavior stands out more clearly.</a:t>
            </a:r>
          </a:p>
        </p:txBody>
      </p:sp>
      <p:sp>
        <p:nvSpPr>
          <p:cNvPr id="318" name="Rounded Rectangle 29"/>
          <p:cNvSpPr/>
          <p:nvPr/>
        </p:nvSpPr>
        <p:spPr>
          <a:xfrm>
            <a:off x="8138159" y="3493008"/>
            <a:ext cx="841249" cy="256033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TextBox 30"/>
          <p:cNvSpPr txBox="1"/>
          <p:nvPr/>
        </p:nvSpPr>
        <p:spPr>
          <a:xfrm>
            <a:off x="8165591" y="3511296"/>
            <a:ext cx="786385" cy="141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Generative</a:t>
            </a:r>
          </a:p>
        </p:txBody>
      </p:sp>
      <p:sp>
        <p:nvSpPr>
          <p:cNvPr id="320" name="TextBox 31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321" name="TextBox 32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9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5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Anomaly Detection: Main Lessons</a:t>
            </a:r>
          </a:p>
        </p:txBody>
      </p:sp>
      <p:sp>
        <p:nvSpPr>
          <p:cNvPr id="326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Less text, stronger takeaways</a:t>
            </a:r>
          </a:p>
        </p:txBody>
      </p:sp>
      <p:sp>
        <p:nvSpPr>
          <p:cNvPr id="327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328" name="Rounded Rectangle 6"/>
          <p:cNvSpPr/>
          <p:nvPr/>
        </p:nvSpPr>
        <p:spPr>
          <a:xfrm>
            <a:off x="1188719" y="1737360"/>
            <a:ext cx="4572001" cy="15087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9" name="TextBox 7"/>
          <p:cNvSpPr txBox="1"/>
          <p:nvPr/>
        </p:nvSpPr>
        <p:spPr>
          <a:xfrm>
            <a:off x="1380744" y="1874520"/>
            <a:ext cx="4187952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Deep learning is strong</a:t>
            </a:r>
          </a:p>
        </p:txBody>
      </p:sp>
      <p:sp>
        <p:nvSpPr>
          <p:cNvPr id="330" name="TextBox 8"/>
          <p:cNvSpPr txBox="1"/>
          <p:nvPr/>
        </p:nvSpPr>
        <p:spPr>
          <a:xfrm>
            <a:off x="1380744" y="2240279"/>
            <a:ext cx="4187952" cy="431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Deep learning often beats older statistical methods when telemetry has many features.</a:t>
            </a:r>
          </a:p>
        </p:txBody>
      </p:sp>
      <p:sp>
        <p:nvSpPr>
          <p:cNvPr id="331" name="Rounded Rectangle 9"/>
          <p:cNvSpPr/>
          <p:nvPr/>
        </p:nvSpPr>
        <p:spPr>
          <a:xfrm>
            <a:off x="6400800" y="1737360"/>
            <a:ext cx="4572000" cy="15087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2" name="TextBox 10"/>
          <p:cNvSpPr txBox="1"/>
          <p:nvPr/>
        </p:nvSpPr>
        <p:spPr>
          <a:xfrm>
            <a:off x="6592824" y="1874520"/>
            <a:ext cx="418795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Unsupervised is practical</a:t>
            </a:r>
          </a:p>
        </p:txBody>
      </p:sp>
      <p:sp>
        <p:nvSpPr>
          <p:cNvPr id="333" name="TextBox 11"/>
          <p:cNvSpPr txBox="1"/>
          <p:nvPr/>
        </p:nvSpPr>
        <p:spPr>
          <a:xfrm>
            <a:off x="6592824" y="2240279"/>
            <a:ext cx="4187953" cy="431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Unsupervised learning is popular because real networks rarely have enough labeled anomaly data.</a:t>
            </a:r>
          </a:p>
        </p:txBody>
      </p:sp>
      <p:sp>
        <p:nvSpPr>
          <p:cNvPr id="334" name="Rounded Rectangle 12"/>
          <p:cNvSpPr/>
          <p:nvPr/>
        </p:nvSpPr>
        <p:spPr>
          <a:xfrm>
            <a:off x="1188719" y="3611879"/>
            <a:ext cx="4572001" cy="15087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5" name="TextBox 13"/>
          <p:cNvSpPr txBox="1"/>
          <p:nvPr/>
        </p:nvSpPr>
        <p:spPr>
          <a:xfrm>
            <a:off x="1380744" y="3749040"/>
            <a:ext cx="4187952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Hybrid models help</a:t>
            </a:r>
          </a:p>
        </p:txBody>
      </p:sp>
      <p:sp>
        <p:nvSpPr>
          <p:cNvPr id="336" name="TextBox 14"/>
          <p:cNvSpPr txBox="1"/>
          <p:nvPr/>
        </p:nvSpPr>
        <p:spPr>
          <a:xfrm>
            <a:off x="1380744" y="4114799"/>
            <a:ext cx="4187952" cy="431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Hybrid models work well because they mix strong feature learning with fast scoring.</a:t>
            </a:r>
          </a:p>
        </p:txBody>
      </p:sp>
      <p:sp>
        <p:nvSpPr>
          <p:cNvPr id="337" name="Rounded Rectangle 15"/>
          <p:cNvSpPr/>
          <p:nvPr/>
        </p:nvSpPr>
        <p:spPr>
          <a:xfrm>
            <a:off x="6400800" y="3611879"/>
            <a:ext cx="4572000" cy="15087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8" name="TextBox 16"/>
          <p:cNvSpPr txBox="1"/>
          <p:nvPr/>
        </p:nvSpPr>
        <p:spPr>
          <a:xfrm>
            <a:off x="6592824" y="3749040"/>
            <a:ext cx="418795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Speed is still hard</a:t>
            </a:r>
          </a:p>
        </p:txBody>
      </p:sp>
      <p:sp>
        <p:nvSpPr>
          <p:cNvPr id="339" name="TextBox 17"/>
          <p:cNvSpPr txBox="1"/>
          <p:nvPr/>
        </p:nvSpPr>
        <p:spPr>
          <a:xfrm>
            <a:off x="6592824" y="4114799"/>
            <a:ext cx="4187953" cy="431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Real-time use is still hard because accurate models can be expensive to run at scale.</a:t>
            </a:r>
          </a:p>
        </p:txBody>
      </p:sp>
      <p:sp>
        <p:nvSpPr>
          <p:cNvPr id="340" name="Rounded Rectangle 18"/>
          <p:cNvSpPr/>
          <p:nvPr/>
        </p:nvSpPr>
        <p:spPr>
          <a:xfrm>
            <a:off x="2011679" y="5074920"/>
            <a:ext cx="8138161" cy="987553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1" name="TextBox 19"/>
          <p:cNvSpPr txBox="1"/>
          <p:nvPr/>
        </p:nvSpPr>
        <p:spPr>
          <a:xfrm>
            <a:off x="2203703" y="5212079"/>
            <a:ext cx="7754114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Key Takeaway</a:t>
            </a:r>
          </a:p>
        </p:txBody>
      </p:sp>
      <p:sp>
        <p:nvSpPr>
          <p:cNvPr id="342" name="TextBox 20"/>
          <p:cNvSpPr txBox="1"/>
          <p:nvPr/>
        </p:nvSpPr>
        <p:spPr>
          <a:xfrm>
            <a:off x="2203703" y="5577840"/>
            <a:ext cx="7754114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Best results often come from models that learn normal behavior first because labeled anomaly data is limited.</a:t>
            </a:r>
          </a:p>
        </p:txBody>
      </p:sp>
      <p:sp>
        <p:nvSpPr>
          <p:cNvPr id="343" name="TextBox 21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344" name="TextBox 22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10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F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Rectangle 1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7" name="TextBox 2"/>
          <p:cNvSpPr txBox="1"/>
          <p:nvPr/>
        </p:nvSpPr>
        <p:spPr>
          <a:xfrm>
            <a:off x="941831" y="1371600"/>
            <a:ext cx="10003538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PART 2</a:t>
            </a:r>
          </a:p>
        </p:txBody>
      </p:sp>
      <p:sp>
        <p:nvSpPr>
          <p:cNvPr id="348" name="Rectangle 3"/>
          <p:cNvSpPr/>
          <p:nvPr/>
        </p:nvSpPr>
        <p:spPr>
          <a:xfrm>
            <a:off x="-1" y="2560320"/>
            <a:ext cx="12191697" cy="1645921"/>
          </a:xfrm>
          <a:prstGeom prst="rect">
            <a:avLst/>
          </a:prstGeom>
          <a:solidFill>
            <a:srgbClr val="101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9" name="TextBox 4"/>
          <p:cNvSpPr txBox="1"/>
          <p:nvPr/>
        </p:nvSpPr>
        <p:spPr>
          <a:xfrm>
            <a:off x="941831" y="2743199"/>
            <a:ext cx="10003538" cy="546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4000">
                <a:solidFill>
                  <a:srgbClr val="00C9A7"/>
                </a:solidFill>
              </a:defRPr>
            </a:lvl1pPr>
          </a:lstStyle>
          <a:p>
            <a:pPr/>
            <a:r>
              <a:t>Methods, Findings &amp; Prediction</a:t>
            </a:r>
          </a:p>
        </p:txBody>
      </p:sp>
      <p:sp>
        <p:nvSpPr>
          <p:cNvPr id="350" name="TextBox 5"/>
          <p:cNvSpPr txBox="1"/>
          <p:nvPr/>
        </p:nvSpPr>
        <p:spPr>
          <a:xfrm>
            <a:off x="941831" y="4572000"/>
            <a:ext cx="10003538" cy="285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/>
            <a:r>
              <a:t>Presenters: Esam Mukbil &amp; Mazen Alhassan</a:t>
            </a:r>
          </a:p>
        </p:txBody>
      </p:sp>
      <p:sp>
        <p:nvSpPr>
          <p:cNvPr id="351" name="TextBox 6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11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4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5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ML for Network Performance Prediction</a:t>
            </a:r>
          </a:p>
        </p:txBody>
      </p:sp>
      <p:sp>
        <p:nvSpPr>
          <p:cNvPr id="356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Using telemetry to estimate what the network will do next</a:t>
            </a:r>
          </a:p>
        </p:txBody>
      </p:sp>
      <p:sp>
        <p:nvSpPr>
          <p:cNvPr id="357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358" name="TextBox 6"/>
          <p:cNvSpPr txBox="1"/>
          <p:nvPr/>
        </p:nvSpPr>
        <p:spPr>
          <a:xfrm>
            <a:off x="758951" y="1554480"/>
            <a:ext cx="5248658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Time-Series Forecasting</a:t>
            </a:r>
          </a:p>
        </p:txBody>
      </p:sp>
      <p:sp>
        <p:nvSpPr>
          <p:cNvPr id="359" name="TextBox 7"/>
          <p:cNvSpPr txBox="1"/>
          <p:nvPr/>
        </p:nvSpPr>
        <p:spPr>
          <a:xfrm>
            <a:off x="1033271" y="1965960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LSTM and GRU models learn how metrics change over time</a:t>
            </a:r>
          </a:p>
        </p:txBody>
      </p:sp>
      <p:sp>
        <p:nvSpPr>
          <p:cNvPr id="360" name="TextBox 8"/>
          <p:cNvSpPr txBox="1"/>
          <p:nvPr/>
        </p:nvSpPr>
        <p:spPr>
          <a:xfrm>
            <a:off x="1033271" y="2285999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They forecast delay, jitter, loss, and throughput</a:t>
            </a:r>
          </a:p>
        </p:txBody>
      </p:sp>
      <p:sp>
        <p:nvSpPr>
          <p:cNvPr id="361" name="TextBox 9"/>
          <p:cNvSpPr txBox="1"/>
          <p:nvPr/>
        </p:nvSpPr>
        <p:spPr>
          <a:xfrm>
            <a:off x="1033271" y="2606039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Useful when recent behavior helps predict the near future</a:t>
            </a:r>
          </a:p>
        </p:txBody>
      </p:sp>
      <p:sp>
        <p:nvSpPr>
          <p:cNvPr id="362" name="TextBox 10"/>
          <p:cNvSpPr txBox="1"/>
          <p:nvPr/>
        </p:nvSpPr>
        <p:spPr>
          <a:xfrm>
            <a:off x="758951" y="3108960"/>
            <a:ext cx="5248658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Graph Neural Networks (GNNs)</a:t>
            </a:r>
          </a:p>
        </p:txBody>
      </p:sp>
      <p:sp>
        <p:nvSpPr>
          <p:cNvPr id="363" name="TextBox 11"/>
          <p:cNvSpPr txBox="1"/>
          <p:nvPr/>
        </p:nvSpPr>
        <p:spPr>
          <a:xfrm>
            <a:off x="1033271" y="3520440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Represent the network as devices and links in a graph</a:t>
            </a:r>
          </a:p>
        </p:txBody>
      </p:sp>
      <p:sp>
        <p:nvSpPr>
          <p:cNvPr id="364" name="TextBox 12"/>
          <p:cNvSpPr txBox="1"/>
          <p:nvPr/>
        </p:nvSpPr>
        <p:spPr>
          <a:xfrm>
            <a:off x="1033271" y="3840479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Good for path-based prediction because topology matters</a:t>
            </a:r>
          </a:p>
        </p:txBody>
      </p:sp>
      <p:sp>
        <p:nvSpPr>
          <p:cNvPr id="365" name="TextBox 13"/>
          <p:cNvSpPr txBox="1"/>
          <p:nvPr/>
        </p:nvSpPr>
        <p:spPr>
          <a:xfrm>
            <a:off x="1033271" y="4160520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They capture how one congested link can affect other paths</a:t>
            </a:r>
          </a:p>
        </p:txBody>
      </p:sp>
      <p:sp>
        <p:nvSpPr>
          <p:cNvPr id="366" name="TextBox 14"/>
          <p:cNvSpPr txBox="1"/>
          <p:nvPr/>
        </p:nvSpPr>
        <p:spPr>
          <a:xfrm>
            <a:off x="6428231" y="1554480"/>
            <a:ext cx="5248658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Ensemble &amp; Hybrid Methods</a:t>
            </a:r>
          </a:p>
        </p:txBody>
      </p:sp>
      <p:sp>
        <p:nvSpPr>
          <p:cNvPr id="367" name="TextBox 15"/>
          <p:cNvSpPr txBox="1"/>
          <p:nvPr/>
        </p:nvSpPr>
        <p:spPr>
          <a:xfrm>
            <a:off x="6702551" y="1965960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Combine different models to improve robustness</a:t>
            </a:r>
          </a:p>
        </p:txBody>
      </p:sp>
      <p:sp>
        <p:nvSpPr>
          <p:cNvPr id="368" name="TextBox 16"/>
          <p:cNvSpPr txBox="1"/>
          <p:nvPr/>
        </p:nvSpPr>
        <p:spPr>
          <a:xfrm>
            <a:off x="6702551" y="2285999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Often more accurate than relying on one model alone</a:t>
            </a:r>
          </a:p>
        </p:txBody>
      </p:sp>
      <p:sp>
        <p:nvSpPr>
          <p:cNvPr id="369" name="TextBox 17"/>
          <p:cNvSpPr txBox="1"/>
          <p:nvPr/>
        </p:nvSpPr>
        <p:spPr>
          <a:xfrm>
            <a:off x="6702551" y="2606039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Can adapt better when traffic patterns shift</a:t>
            </a:r>
          </a:p>
        </p:txBody>
      </p:sp>
      <p:sp>
        <p:nvSpPr>
          <p:cNvPr id="370" name="TextBox 18"/>
          <p:cNvSpPr txBox="1"/>
          <p:nvPr/>
        </p:nvSpPr>
        <p:spPr>
          <a:xfrm>
            <a:off x="6428231" y="3108960"/>
            <a:ext cx="5248658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Attention Mechanisms</a:t>
            </a:r>
          </a:p>
        </p:txBody>
      </p:sp>
      <p:sp>
        <p:nvSpPr>
          <p:cNvPr id="371" name="TextBox 19"/>
          <p:cNvSpPr txBox="1"/>
          <p:nvPr/>
        </p:nvSpPr>
        <p:spPr>
          <a:xfrm>
            <a:off x="6702551" y="3520440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Transformer-style models look at longer patterns in the data</a:t>
            </a:r>
          </a:p>
        </p:txBody>
      </p:sp>
      <p:sp>
        <p:nvSpPr>
          <p:cNvPr id="372" name="TextBox 20"/>
          <p:cNvSpPr txBox="1"/>
          <p:nvPr/>
        </p:nvSpPr>
        <p:spPr>
          <a:xfrm>
            <a:off x="6702551" y="3840479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They help identify which signals matter most</a:t>
            </a:r>
          </a:p>
        </p:txBody>
      </p:sp>
      <p:sp>
        <p:nvSpPr>
          <p:cNvPr id="373" name="TextBox 21"/>
          <p:cNvSpPr txBox="1"/>
          <p:nvPr/>
        </p:nvSpPr>
        <p:spPr>
          <a:xfrm>
            <a:off x="6702551" y="4160520"/>
            <a:ext cx="49743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• Strong option for large, multi-feature telemetry streams</a:t>
            </a:r>
          </a:p>
        </p:txBody>
      </p:sp>
      <p:sp>
        <p:nvSpPr>
          <p:cNvPr id="374" name="TextBox 22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375" name="TextBox 23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12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8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9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ML for QoS Optimization</a:t>
            </a:r>
          </a:p>
        </p:txBody>
      </p:sp>
      <p:sp>
        <p:nvSpPr>
          <p:cNvPr id="380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Using telemetry and predictions to keep service quality high</a:t>
            </a:r>
          </a:p>
        </p:txBody>
      </p:sp>
      <p:sp>
        <p:nvSpPr>
          <p:cNvPr id="381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382" name="Rectangle 6"/>
          <p:cNvSpPr/>
          <p:nvPr/>
        </p:nvSpPr>
        <p:spPr>
          <a:xfrm>
            <a:off x="731519" y="1554480"/>
            <a:ext cx="73153" cy="914401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3" name="TextBox 7"/>
          <p:cNvSpPr txBox="1"/>
          <p:nvPr/>
        </p:nvSpPr>
        <p:spPr>
          <a:xfrm>
            <a:off x="1033271" y="1554480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Reinforcement Learning</a:t>
            </a:r>
          </a:p>
        </p:txBody>
      </p:sp>
      <p:sp>
        <p:nvSpPr>
          <p:cNvPr id="384" name="TextBox 8"/>
          <p:cNvSpPr txBox="1"/>
          <p:nvPr/>
        </p:nvSpPr>
        <p:spPr>
          <a:xfrm>
            <a:off x="1033271" y="190195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An agent tries actions and learns which routing or scheduling choices give better QoS.</a:t>
            </a:r>
          </a:p>
        </p:txBody>
      </p:sp>
      <p:sp>
        <p:nvSpPr>
          <p:cNvPr id="385" name="Rectangle 9"/>
          <p:cNvSpPr/>
          <p:nvPr/>
        </p:nvSpPr>
        <p:spPr>
          <a:xfrm>
            <a:off x="731519" y="2743200"/>
            <a:ext cx="73153" cy="914400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6" name="TextBox 10"/>
          <p:cNvSpPr txBox="1"/>
          <p:nvPr/>
        </p:nvSpPr>
        <p:spPr>
          <a:xfrm>
            <a:off x="1033271" y="2743199"/>
            <a:ext cx="10460737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Deep Q-Networks</a:t>
            </a:r>
          </a:p>
        </p:txBody>
      </p:sp>
      <p:sp>
        <p:nvSpPr>
          <p:cNvPr id="387" name="TextBox 11"/>
          <p:cNvSpPr txBox="1"/>
          <p:nvPr/>
        </p:nvSpPr>
        <p:spPr>
          <a:xfrm>
            <a:off x="1033271" y="309067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Use the current network state to choose actions like rerouting, balancing load, or assigning bandwidth.</a:t>
            </a:r>
          </a:p>
        </p:txBody>
      </p:sp>
      <p:sp>
        <p:nvSpPr>
          <p:cNvPr id="388" name="Rectangle 12"/>
          <p:cNvSpPr/>
          <p:nvPr/>
        </p:nvSpPr>
        <p:spPr>
          <a:xfrm>
            <a:off x="731519" y="3931920"/>
            <a:ext cx="73153" cy="914401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9" name="TextBox 13"/>
          <p:cNvSpPr txBox="1"/>
          <p:nvPr/>
        </p:nvSpPr>
        <p:spPr>
          <a:xfrm>
            <a:off x="1033271" y="3931920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Multi-Objective Optimization</a:t>
            </a:r>
          </a:p>
        </p:txBody>
      </p:sp>
      <p:sp>
        <p:nvSpPr>
          <p:cNvPr id="390" name="TextBox 14"/>
          <p:cNvSpPr txBox="1"/>
          <p:nvPr/>
        </p:nvSpPr>
        <p:spPr>
          <a:xfrm>
            <a:off x="1033271" y="427939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Helps balance trade-offs such as low delay, good throughput, and fairness at the same time.</a:t>
            </a:r>
          </a:p>
        </p:txBody>
      </p:sp>
      <p:sp>
        <p:nvSpPr>
          <p:cNvPr id="391" name="Rectangle 15"/>
          <p:cNvSpPr/>
          <p:nvPr/>
        </p:nvSpPr>
        <p:spPr>
          <a:xfrm>
            <a:off x="731519" y="5120640"/>
            <a:ext cx="73153" cy="914401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2" name="TextBox 16"/>
          <p:cNvSpPr txBox="1"/>
          <p:nvPr/>
        </p:nvSpPr>
        <p:spPr>
          <a:xfrm>
            <a:off x="1033271" y="5120640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Federated Learning</a:t>
            </a:r>
          </a:p>
        </p:txBody>
      </p:sp>
      <p:sp>
        <p:nvSpPr>
          <p:cNvPr id="393" name="TextBox 17"/>
          <p:cNvSpPr txBox="1"/>
          <p:nvPr/>
        </p:nvSpPr>
        <p:spPr>
          <a:xfrm>
            <a:off x="1033271" y="546811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Lets different domains train shared models without sending all raw telemetry to one place.</a:t>
            </a:r>
          </a:p>
        </p:txBody>
      </p:sp>
      <p:sp>
        <p:nvSpPr>
          <p:cNvPr id="394" name="TextBox 18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395" name="TextBox 19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13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8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9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Performance &amp; QoS: Main Lessons</a:t>
            </a:r>
          </a:p>
        </p:txBody>
      </p:sp>
      <p:sp>
        <p:nvSpPr>
          <p:cNvPr id="400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What stood out most across the literature</a:t>
            </a:r>
          </a:p>
        </p:txBody>
      </p:sp>
      <p:sp>
        <p:nvSpPr>
          <p:cNvPr id="401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402" name="Oval 6"/>
          <p:cNvSpPr/>
          <p:nvPr/>
        </p:nvSpPr>
        <p:spPr>
          <a:xfrm>
            <a:off x="685799" y="1572767"/>
            <a:ext cx="347474" cy="347473"/>
          </a:xfrm>
          <a:prstGeom prst="ellipse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TextBox 7"/>
          <p:cNvSpPr txBox="1"/>
          <p:nvPr/>
        </p:nvSpPr>
        <p:spPr>
          <a:xfrm>
            <a:off x="713231" y="1591055"/>
            <a:ext cx="292610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04" name="TextBox 8"/>
          <p:cNvSpPr txBox="1"/>
          <p:nvPr/>
        </p:nvSpPr>
        <p:spPr>
          <a:xfrm>
            <a:off x="1216151" y="1554480"/>
            <a:ext cx="1046073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00C9A7"/>
                </a:solidFill>
              </a:defRPr>
            </a:lvl1pPr>
          </a:lstStyle>
          <a:p>
            <a:pPr/>
            <a:r>
              <a:t>Topology matters</a:t>
            </a:r>
          </a:p>
        </p:txBody>
      </p:sp>
      <p:sp>
        <p:nvSpPr>
          <p:cNvPr id="405" name="TextBox 9"/>
          <p:cNvSpPr txBox="1"/>
          <p:nvPr/>
        </p:nvSpPr>
        <p:spPr>
          <a:xfrm>
            <a:off x="1216151" y="190195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GNNs usually beat plain time-series models when the shape of the network affects performance.</a:t>
            </a:r>
          </a:p>
        </p:txBody>
      </p:sp>
      <p:sp>
        <p:nvSpPr>
          <p:cNvPr id="406" name="Oval 10"/>
          <p:cNvSpPr/>
          <p:nvPr/>
        </p:nvSpPr>
        <p:spPr>
          <a:xfrm>
            <a:off x="685799" y="2761488"/>
            <a:ext cx="347474" cy="347473"/>
          </a:xfrm>
          <a:prstGeom prst="ellipse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7" name="TextBox 11"/>
          <p:cNvSpPr txBox="1"/>
          <p:nvPr/>
        </p:nvSpPr>
        <p:spPr>
          <a:xfrm>
            <a:off x="713231" y="2779776"/>
            <a:ext cx="292610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08" name="TextBox 12"/>
          <p:cNvSpPr txBox="1"/>
          <p:nvPr/>
        </p:nvSpPr>
        <p:spPr>
          <a:xfrm>
            <a:off x="1216151" y="2743199"/>
            <a:ext cx="10460737" cy="255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00C9A7"/>
                </a:solidFill>
              </a:defRPr>
            </a:lvl1pPr>
          </a:lstStyle>
          <a:p>
            <a:pPr/>
            <a:r>
              <a:t>RL is powerful but risky</a:t>
            </a:r>
          </a:p>
        </p:txBody>
      </p:sp>
      <p:sp>
        <p:nvSpPr>
          <p:cNvPr id="409" name="TextBox 13"/>
          <p:cNvSpPr txBox="1"/>
          <p:nvPr/>
        </p:nvSpPr>
        <p:spPr>
          <a:xfrm>
            <a:off x="1216151" y="309067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Reinforcement learning looks strong in simulations, but deployment is harder because bad actions can hurt live traffic.</a:t>
            </a:r>
          </a:p>
        </p:txBody>
      </p:sp>
      <p:sp>
        <p:nvSpPr>
          <p:cNvPr id="410" name="Oval 14"/>
          <p:cNvSpPr/>
          <p:nvPr/>
        </p:nvSpPr>
        <p:spPr>
          <a:xfrm>
            <a:off x="685799" y="3950208"/>
            <a:ext cx="347474" cy="347473"/>
          </a:xfrm>
          <a:prstGeom prst="ellipse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1" name="TextBox 15"/>
          <p:cNvSpPr txBox="1"/>
          <p:nvPr/>
        </p:nvSpPr>
        <p:spPr>
          <a:xfrm>
            <a:off x="713231" y="3968496"/>
            <a:ext cx="292610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12" name="TextBox 16"/>
          <p:cNvSpPr txBox="1"/>
          <p:nvPr/>
        </p:nvSpPr>
        <p:spPr>
          <a:xfrm>
            <a:off x="1216151" y="3931920"/>
            <a:ext cx="1046073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00C9A7"/>
                </a:solidFill>
              </a:defRPr>
            </a:lvl1pPr>
          </a:lstStyle>
          <a:p>
            <a:pPr/>
            <a:r>
              <a:t>Good data matters most</a:t>
            </a:r>
          </a:p>
        </p:txBody>
      </p:sp>
      <p:sp>
        <p:nvSpPr>
          <p:cNvPr id="413" name="TextBox 17"/>
          <p:cNvSpPr txBox="1"/>
          <p:nvPr/>
        </p:nvSpPr>
        <p:spPr>
          <a:xfrm>
            <a:off x="1216151" y="427939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Missing or noisy telemetry can hurt prediction quality more than model choice.</a:t>
            </a:r>
          </a:p>
        </p:txBody>
      </p:sp>
      <p:sp>
        <p:nvSpPr>
          <p:cNvPr id="414" name="Oval 18"/>
          <p:cNvSpPr/>
          <p:nvPr/>
        </p:nvSpPr>
        <p:spPr>
          <a:xfrm>
            <a:off x="685799" y="5138928"/>
            <a:ext cx="347474" cy="347473"/>
          </a:xfrm>
          <a:prstGeom prst="ellipse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TextBox 19"/>
          <p:cNvSpPr txBox="1"/>
          <p:nvPr/>
        </p:nvSpPr>
        <p:spPr>
          <a:xfrm>
            <a:off x="713231" y="5157215"/>
            <a:ext cx="292610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416" name="TextBox 20"/>
          <p:cNvSpPr txBox="1"/>
          <p:nvPr/>
        </p:nvSpPr>
        <p:spPr>
          <a:xfrm>
            <a:off x="1216151" y="5120640"/>
            <a:ext cx="1046073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00C9A7"/>
                </a:solidFill>
              </a:defRPr>
            </a:lvl1pPr>
          </a:lstStyle>
          <a:p>
            <a:pPr/>
            <a:r>
              <a:t>Proactive beats reactive</a:t>
            </a:r>
          </a:p>
        </p:txBody>
      </p:sp>
      <p:sp>
        <p:nvSpPr>
          <p:cNvPr id="417" name="TextBox 21"/>
          <p:cNvSpPr txBox="1"/>
          <p:nvPr/>
        </p:nvSpPr>
        <p:spPr>
          <a:xfrm>
            <a:off x="1216151" y="546811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Predicting trouble early is better than waiting for thresholds to fail after users are already affected.</a:t>
            </a:r>
          </a:p>
        </p:txBody>
      </p:sp>
      <p:sp>
        <p:nvSpPr>
          <p:cNvPr id="418" name="TextBox 22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lvl1pPr>
          </a:lstStyle>
          <a:p>
            <a:pPr/>
            <a:r>
              <a:t>Presenter: Esam Mukbil</a:t>
            </a:r>
          </a:p>
        </p:txBody>
      </p:sp>
      <p:sp>
        <p:nvSpPr>
          <p:cNvPr id="419" name="TextBox 23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14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2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3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ML-Enhanced Network Telemetry Pipeline</a:t>
            </a:r>
          </a:p>
        </p:txBody>
      </p:sp>
      <p:sp>
        <p:nvSpPr>
          <p:cNvPr id="424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A cleaner flow from data to action</a:t>
            </a:r>
          </a:p>
        </p:txBody>
      </p:sp>
      <p:sp>
        <p:nvSpPr>
          <p:cNvPr id="425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426" name="Rounded Rectangle 6"/>
          <p:cNvSpPr/>
          <p:nvPr/>
        </p:nvSpPr>
        <p:spPr>
          <a:xfrm>
            <a:off x="731519" y="4572000"/>
            <a:ext cx="2468881" cy="10515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7" name="TextBox 7"/>
          <p:cNvSpPr txBox="1"/>
          <p:nvPr/>
        </p:nvSpPr>
        <p:spPr>
          <a:xfrm>
            <a:off x="923543" y="4709159"/>
            <a:ext cx="208483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9FFD"/>
                </a:solidFill>
              </a:defRPr>
            </a:lvl1pPr>
          </a:lstStyle>
          <a:p>
            <a:pPr/>
            <a:r>
              <a:t>Collect</a:t>
            </a:r>
          </a:p>
        </p:txBody>
      </p:sp>
      <p:sp>
        <p:nvSpPr>
          <p:cNvPr id="428" name="TextBox 8"/>
          <p:cNvSpPr txBox="1"/>
          <p:nvPr/>
        </p:nvSpPr>
        <p:spPr>
          <a:xfrm>
            <a:off x="923543" y="5074920"/>
            <a:ext cx="2084833" cy="17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CCCCCC"/>
                </a:solidFill>
              </a:defRPr>
            </a:lvl1pPr>
          </a:lstStyle>
          <a:p>
            <a:pPr/>
            <a:r>
              <a:t>Devices export live network data</a:t>
            </a:r>
          </a:p>
        </p:txBody>
      </p:sp>
      <p:sp>
        <p:nvSpPr>
          <p:cNvPr id="429" name="Rounded Rectangle 9"/>
          <p:cNvSpPr/>
          <p:nvPr/>
        </p:nvSpPr>
        <p:spPr>
          <a:xfrm>
            <a:off x="3520440" y="4572000"/>
            <a:ext cx="2468881" cy="10515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0" name="TextBox 10"/>
          <p:cNvSpPr txBox="1"/>
          <p:nvPr/>
        </p:nvSpPr>
        <p:spPr>
          <a:xfrm>
            <a:off x="3712464" y="4709159"/>
            <a:ext cx="208483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Store</a:t>
            </a:r>
          </a:p>
        </p:txBody>
      </p:sp>
      <p:sp>
        <p:nvSpPr>
          <p:cNvPr id="431" name="TextBox 11"/>
          <p:cNvSpPr txBox="1"/>
          <p:nvPr/>
        </p:nvSpPr>
        <p:spPr>
          <a:xfrm>
            <a:off x="3712464" y="5074920"/>
            <a:ext cx="2084833" cy="376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CCCCCC"/>
                </a:solidFill>
              </a:defRPr>
            </a:lvl1pPr>
          </a:lstStyle>
          <a:p>
            <a:pPr/>
            <a:r>
              <a:t>Platforms organize and retain telemetry</a:t>
            </a:r>
          </a:p>
        </p:txBody>
      </p:sp>
      <p:sp>
        <p:nvSpPr>
          <p:cNvPr id="432" name="Rounded Rectangle 12"/>
          <p:cNvSpPr/>
          <p:nvPr/>
        </p:nvSpPr>
        <p:spPr>
          <a:xfrm>
            <a:off x="6309359" y="4572000"/>
            <a:ext cx="2468881" cy="10515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3" name="TextBox 13"/>
          <p:cNvSpPr txBox="1"/>
          <p:nvPr/>
        </p:nvSpPr>
        <p:spPr>
          <a:xfrm>
            <a:off x="6501384" y="4709159"/>
            <a:ext cx="208483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Analyze</a:t>
            </a:r>
          </a:p>
        </p:txBody>
      </p:sp>
      <p:sp>
        <p:nvSpPr>
          <p:cNvPr id="434" name="TextBox 14"/>
          <p:cNvSpPr txBox="1"/>
          <p:nvPr/>
        </p:nvSpPr>
        <p:spPr>
          <a:xfrm>
            <a:off x="6501384" y="5074920"/>
            <a:ext cx="2084833" cy="376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CCCCCC"/>
                </a:solidFill>
              </a:defRPr>
            </a:lvl1pPr>
          </a:lstStyle>
          <a:p>
            <a:pPr/>
            <a:r>
              <a:t>ML models detect patterns and predict issues</a:t>
            </a:r>
          </a:p>
        </p:txBody>
      </p:sp>
      <p:sp>
        <p:nvSpPr>
          <p:cNvPr id="435" name="Rounded Rectangle 15"/>
          <p:cNvSpPr/>
          <p:nvPr/>
        </p:nvSpPr>
        <p:spPr>
          <a:xfrm>
            <a:off x="9098278" y="4572000"/>
            <a:ext cx="2468881" cy="105156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6" name="TextBox 16"/>
          <p:cNvSpPr txBox="1"/>
          <p:nvPr/>
        </p:nvSpPr>
        <p:spPr>
          <a:xfrm>
            <a:off x="9290303" y="4709159"/>
            <a:ext cx="208483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Act</a:t>
            </a:r>
          </a:p>
        </p:txBody>
      </p:sp>
      <p:sp>
        <p:nvSpPr>
          <p:cNvPr id="437" name="TextBox 17"/>
          <p:cNvSpPr txBox="1"/>
          <p:nvPr/>
        </p:nvSpPr>
        <p:spPr>
          <a:xfrm>
            <a:off x="9290303" y="5074920"/>
            <a:ext cx="2084833" cy="376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CCCCCC"/>
                </a:solidFill>
              </a:defRPr>
            </a:lvl1pPr>
          </a:lstStyle>
          <a:p>
            <a:pPr/>
            <a:r>
              <a:t>Operators or automation respond faster</a:t>
            </a:r>
          </a:p>
        </p:txBody>
      </p:sp>
      <p:sp>
        <p:nvSpPr>
          <p:cNvPr id="438" name="TextBox 18"/>
          <p:cNvSpPr txBox="1"/>
          <p:nvPr/>
        </p:nvSpPr>
        <p:spPr>
          <a:xfrm>
            <a:off x="850392" y="5806440"/>
            <a:ext cx="10369296" cy="203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The pipeline matters because good telemetry architecture makes reliable ML and faster response possible.</a:t>
            </a:r>
          </a:p>
        </p:txBody>
      </p:sp>
      <p:sp>
        <p:nvSpPr>
          <p:cNvPr id="439" name="TextBox 19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440" name="TextBox 20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15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F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Rectangle 1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3" name="TextBox 2"/>
          <p:cNvSpPr txBox="1"/>
          <p:nvPr/>
        </p:nvSpPr>
        <p:spPr>
          <a:xfrm>
            <a:off x="941831" y="1371600"/>
            <a:ext cx="10003538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600">
                <a:solidFill>
                  <a:srgbClr val="F0B429"/>
                </a:solidFill>
              </a:defRPr>
            </a:lvl1pPr>
          </a:lstStyle>
          <a:p>
            <a:pPr/>
            <a:r>
              <a:t>PART 3</a:t>
            </a:r>
          </a:p>
        </p:txBody>
      </p:sp>
      <p:sp>
        <p:nvSpPr>
          <p:cNvPr id="444" name="Rectangle 3"/>
          <p:cNvSpPr/>
          <p:nvPr/>
        </p:nvSpPr>
        <p:spPr>
          <a:xfrm>
            <a:off x="-1" y="2560320"/>
            <a:ext cx="12191697" cy="1645921"/>
          </a:xfrm>
          <a:prstGeom prst="rect">
            <a:avLst/>
          </a:prstGeom>
          <a:solidFill>
            <a:srgbClr val="101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5" name="TextBox 4"/>
          <p:cNvSpPr txBox="1"/>
          <p:nvPr/>
        </p:nvSpPr>
        <p:spPr>
          <a:xfrm>
            <a:off x="941831" y="2743199"/>
            <a:ext cx="10003538" cy="546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4000">
                <a:solidFill>
                  <a:srgbClr val="F0B429"/>
                </a:solidFill>
              </a:defRPr>
            </a:lvl1pPr>
          </a:lstStyle>
          <a:p>
            <a:pPr/>
            <a:r>
              <a:t>Pipeline, Industry &amp; Conclusion</a:t>
            </a:r>
          </a:p>
        </p:txBody>
      </p:sp>
      <p:sp>
        <p:nvSpPr>
          <p:cNvPr id="446" name="TextBox 5"/>
          <p:cNvSpPr txBox="1"/>
          <p:nvPr/>
        </p:nvSpPr>
        <p:spPr>
          <a:xfrm>
            <a:off x="941831" y="4572000"/>
            <a:ext cx="10003538" cy="285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/>
            <a:r>
              <a:t>Presenters: Mazen Alhassan &amp; Hashim Kshim</a:t>
            </a:r>
          </a:p>
        </p:txBody>
      </p:sp>
      <p:sp>
        <p:nvSpPr>
          <p:cNvPr id="447" name="TextBox 6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16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0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1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Industry Example: Nokia</a:t>
            </a:r>
          </a:p>
        </p:txBody>
      </p:sp>
      <p:sp>
        <p:nvSpPr>
          <p:cNvPr id="452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Showing what ML-driven telemetry looks like in practice</a:t>
            </a:r>
          </a:p>
        </p:txBody>
      </p:sp>
      <p:sp>
        <p:nvSpPr>
          <p:cNvPr id="453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454" name="Rounded Rectangle 6"/>
          <p:cNvSpPr/>
          <p:nvPr/>
        </p:nvSpPr>
        <p:spPr>
          <a:xfrm>
            <a:off x="777240" y="1737360"/>
            <a:ext cx="3474721" cy="146304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0B42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5" name="TextBox 7"/>
          <p:cNvSpPr txBox="1"/>
          <p:nvPr/>
        </p:nvSpPr>
        <p:spPr>
          <a:xfrm>
            <a:off x="969263" y="1874520"/>
            <a:ext cx="3090674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0B429"/>
                </a:solidFill>
              </a:defRPr>
            </a:lvl1pPr>
          </a:lstStyle>
          <a:p>
            <a:pPr/>
            <a:r>
              <a:t>Collect</a:t>
            </a:r>
          </a:p>
        </p:txBody>
      </p:sp>
      <p:sp>
        <p:nvSpPr>
          <p:cNvPr id="456" name="TextBox 8"/>
          <p:cNvSpPr txBox="1"/>
          <p:nvPr/>
        </p:nvSpPr>
        <p:spPr>
          <a:xfrm>
            <a:off x="969263" y="2240279"/>
            <a:ext cx="3090674" cy="45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Gather live broadband telemetry from many devices.</a:t>
            </a:r>
          </a:p>
        </p:txBody>
      </p:sp>
      <p:sp>
        <p:nvSpPr>
          <p:cNvPr id="457" name="Rounded Rectangle 9"/>
          <p:cNvSpPr/>
          <p:nvPr/>
        </p:nvSpPr>
        <p:spPr>
          <a:xfrm>
            <a:off x="4343400" y="1737360"/>
            <a:ext cx="3474721" cy="146304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8" name="TextBox 10"/>
          <p:cNvSpPr txBox="1"/>
          <p:nvPr/>
        </p:nvSpPr>
        <p:spPr>
          <a:xfrm>
            <a:off x="4535423" y="1874520"/>
            <a:ext cx="309067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Analyze</a:t>
            </a:r>
          </a:p>
        </p:txBody>
      </p:sp>
      <p:sp>
        <p:nvSpPr>
          <p:cNvPr id="459" name="TextBox 11"/>
          <p:cNvSpPr txBox="1"/>
          <p:nvPr/>
        </p:nvSpPr>
        <p:spPr>
          <a:xfrm>
            <a:off x="4535423" y="2240279"/>
            <a:ext cx="3090673" cy="45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Use ML to detect anomalies and estimate risk.</a:t>
            </a:r>
          </a:p>
        </p:txBody>
      </p:sp>
      <p:sp>
        <p:nvSpPr>
          <p:cNvPr id="460" name="Rounded Rectangle 12"/>
          <p:cNvSpPr/>
          <p:nvPr/>
        </p:nvSpPr>
        <p:spPr>
          <a:xfrm>
            <a:off x="7909559" y="1737360"/>
            <a:ext cx="3474721" cy="146304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1" name="TextBox 13"/>
          <p:cNvSpPr txBox="1"/>
          <p:nvPr/>
        </p:nvSpPr>
        <p:spPr>
          <a:xfrm>
            <a:off x="8101584" y="1874520"/>
            <a:ext cx="309067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Act</a:t>
            </a:r>
          </a:p>
        </p:txBody>
      </p:sp>
      <p:sp>
        <p:nvSpPr>
          <p:cNvPr id="462" name="TextBox 14"/>
          <p:cNvSpPr txBox="1"/>
          <p:nvPr/>
        </p:nvSpPr>
        <p:spPr>
          <a:xfrm>
            <a:off x="8101584" y="2240279"/>
            <a:ext cx="3090673" cy="45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Support faster troubleshooting and predictive maintenance.</a:t>
            </a:r>
          </a:p>
        </p:txBody>
      </p:sp>
      <p:sp>
        <p:nvSpPr>
          <p:cNvPr id="463" name="Right Arrow 15"/>
          <p:cNvSpPr/>
          <p:nvPr/>
        </p:nvSpPr>
        <p:spPr>
          <a:xfrm>
            <a:off x="3840479" y="2304288"/>
            <a:ext cx="320041" cy="2011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4" name="Right Arrow 16"/>
          <p:cNvSpPr/>
          <p:nvPr/>
        </p:nvSpPr>
        <p:spPr>
          <a:xfrm>
            <a:off x="7406640" y="2304288"/>
            <a:ext cx="320041" cy="2011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5" name="Rounded Rectangle 17"/>
          <p:cNvSpPr/>
          <p:nvPr/>
        </p:nvSpPr>
        <p:spPr>
          <a:xfrm>
            <a:off x="1325880" y="3794759"/>
            <a:ext cx="9509760" cy="15544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0B42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6" name="TextBox 18"/>
          <p:cNvSpPr txBox="1"/>
          <p:nvPr/>
        </p:nvSpPr>
        <p:spPr>
          <a:xfrm>
            <a:off x="1517903" y="3931920"/>
            <a:ext cx="9125714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0B429"/>
                </a:solidFill>
              </a:defRPr>
            </a:lvl1pPr>
          </a:lstStyle>
          <a:p>
            <a:pPr/>
            <a:r>
              <a:t>What Nokia Is Trying To Do</a:t>
            </a:r>
          </a:p>
        </p:txBody>
      </p:sp>
      <p:sp>
        <p:nvSpPr>
          <p:cNvPr id="467" name="TextBox 19"/>
          <p:cNvSpPr txBox="1"/>
          <p:nvPr/>
        </p:nvSpPr>
        <p:spPr>
          <a:xfrm>
            <a:off x="1517903" y="4297679"/>
            <a:ext cx="9125714" cy="511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Predict failures early  |  find unusual behavior automatically  |  estimate customer experience  |  forecast capacity needs  |  speed up troubleshooting</a:t>
            </a:r>
          </a:p>
        </p:txBody>
      </p:sp>
      <p:sp>
        <p:nvSpPr>
          <p:cNvPr id="468" name="TextBox 20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469" name="TextBox 21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17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F0B42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2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3" name="TextBox 3"/>
          <p:cNvSpPr txBox="1"/>
          <p:nvPr/>
        </p:nvSpPr>
        <p:spPr>
          <a:xfrm>
            <a:off x="758951" y="365759"/>
            <a:ext cx="10460737" cy="1144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Case Study: Real-Time Anomaly Detection in Network Telemetry</a:t>
            </a:r>
          </a:p>
        </p:txBody>
      </p:sp>
      <p:sp>
        <p:nvSpPr>
          <p:cNvPr id="474" name="TextBox 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475" name="TextBox 5"/>
          <p:cNvSpPr txBox="1"/>
          <p:nvPr/>
        </p:nvSpPr>
        <p:spPr>
          <a:xfrm>
            <a:off x="758951" y="1765202"/>
            <a:ext cx="5248658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9FFD"/>
                </a:solidFill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476" name="TextBox 6"/>
          <p:cNvSpPr txBox="1"/>
          <p:nvPr/>
        </p:nvSpPr>
        <p:spPr>
          <a:xfrm>
            <a:off x="758951" y="2111353"/>
            <a:ext cx="5212082" cy="1593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Telemetry streams massive time-series data (CPU, traffic, link utilization) from routers/servers in real time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Operators cannot manually monitor everything — ML is needed to automatically flag abnormal patterns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Challenge: detect anomalies in real time with low false positives, without large labeled datasets</a:t>
            </a:r>
          </a:p>
        </p:txBody>
      </p:sp>
      <p:sp>
        <p:nvSpPr>
          <p:cNvPr id="477" name="TextBox 7"/>
          <p:cNvSpPr txBox="1"/>
          <p:nvPr/>
        </p:nvSpPr>
        <p:spPr>
          <a:xfrm>
            <a:off x="758951" y="3939700"/>
            <a:ext cx="5248658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The Study: AREP (Pekar et al., 2022)</a:t>
            </a:r>
          </a:p>
        </p:txBody>
      </p:sp>
      <p:sp>
        <p:nvSpPr>
          <p:cNvPr id="478" name="TextBox 8"/>
          <p:cNvSpPr txBox="1"/>
          <p:nvPr/>
        </p:nvSpPr>
        <p:spPr>
          <a:xfrm>
            <a:off x="777239" y="4305460"/>
            <a:ext cx="5212082" cy="1669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Uses an LSTM neural network to predict the next telemetry data point, then compares prediction to actual value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If the difference exceeds a threshold, it flags an anomaly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Key innovation: AREP auto-tunes its detection window and ageing coefficient — no manual parameter setup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Offset compensation retrains the model when predictions start to drift</a:t>
            </a:r>
          </a:p>
        </p:txBody>
      </p:sp>
      <p:sp>
        <p:nvSpPr>
          <p:cNvPr id="479" name="TextBox 9"/>
          <p:cNvSpPr txBox="1"/>
          <p:nvPr/>
        </p:nvSpPr>
        <p:spPr>
          <a:xfrm>
            <a:off x="6611112" y="1234439"/>
            <a:ext cx="4974337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845EC2"/>
                </a:solidFill>
              </a:defRPr>
            </a:lvl1pPr>
          </a:lstStyle>
          <a:p>
            <a:pPr/>
            <a:r>
              <a:t>How AREP Works</a:t>
            </a:r>
          </a:p>
        </p:txBody>
      </p:sp>
      <p:sp>
        <p:nvSpPr>
          <p:cNvPr id="480" name="Rounded Rectangle 10"/>
          <p:cNvSpPr/>
          <p:nvPr/>
        </p:nvSpPr>
        <p:spPr>
          <a:xfrm>
            <a:off x="6400800" y="1737360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1" name="TextBox 11"/>
          <p:cNvSpPr txBox="1"/>
          <p:nvPr/>
        </p:nvSpPr>
        <p:spPr>
          <a:xfrm>
            <a:off x="6428231" y="1847088"/>
            <a:ext cx="1453898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pPr>
            <a:r>
              <a:t>Telemetry</a:t>
            </a:r>
            <a:br/>
            <a:r>
              <a:t>Stream</a:t>
            </a:r>
          </a:p>
        </p:txBody>
      </p:sp>
      <p:sp>
        <p:nvSpPr>
          <p:cNvPr id="482" name="Right Arrow 12"/>
          <p:cNvSpPr/>
          <p:nvPr/>
        </p:nvSpPr>
        <p:spPr>
          <a:xfrm>
            <a:off x="7909559" y="1993392"/>
            <a:ext cx="182881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3" name="Rounded Rectangle 13"/>
          <p:cNvSpPr/>
          <p:nvPr/>
        </p:nvSpPr>
        <p:spPr>
          <a:xfrm>
            <a:off x="8092440" y="1737360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4" name="TextBox 14"/>
          <p:cNvSpPr txBox="1"/>
          <p:nvPr/>
        </p:nvSpPr>
        <p:spPr>
          <a:xfrm>
            <a:off x="8119872" y="1847088"/>
            <a:ext cx="14538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pPr>
            <a:r>
              <a:t>LSTM</a:t>
            </a:r>
            <a:br/>
            <a:r>
              <a:t>Prediction</a:t>
            </a:r>
          </a:p>
        </p:txBody>
      </p:sp>
      <p:sp>
        <p:nvSpPr>
          <p:cNvPr id="485" name="Right Arrow 15"/>
          <p:cNvSpPr/>
          <p:nvPr/>
        </p:nvSpPr>
        <p:spPr>
          <a:xfrm>
            <a:off x="9601200" y="1993392"/>
            <a:ext cx="182880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6" name="Rounded Rectangle 16"/>
          <p:cNvSpPr/>
          <p:nvPr/>
        </p:nvSpPr>
        <p:spPr>
          <a:xfrm>
            <a:off x="9784080" y="1737360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7" name="TextBox 17"/>
          <p:cNvSpPr txBox="1"/>
          <p:nvPr/>
        </p:nvSpPr>
        <p:spPr>
          <a:xfrm>
            <a:off x="9811512" y="1847088"/>
            <a:ext cx="14538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pPr>
            <a:r>
              <a:t>Compare to</a:t>
            </a:r>
            <a:br/>
            <a:r>
              <a:t>Actual</a:t>
            </a:r>
          </a:p>
        </p:txBody>
      </p:sp>
      <p:sp>
        <p:nvSpPr>
          <p:cNvPr id="488" name="Rounded Rectangle 18"/>
          <p:cNvSpPr/>
          <p:nvPr/>
        </p:nvSpPr>
        <p:spPr>
          <a:xfrm>
            <a:off x="9784080" y="2840938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9" name="TextBox 19"/>
          <p:cNvSpPr txBox="1"/>
          <p:nvPr/>
        </p:nvSpPr>
        <p:spPr>
          <a:xfrm>
            <a:off x="9848469" y="2940158"/>
            <a:ext cx="1453897" cy="4153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FF8C00"/>
                </a:solidFill>
              </a:defRPr>
            </a:pPr>
            <a:r>
              <a:t>Anomaly</a:t>
            </a:r>
            <a:br/>
            <a:r>
              <a:t>Score</a:t>
            </a:r>
          </a:p>
        </p:txBody>
      </p:sp>
      <p:sp>
        <p:nvSpPr>
          <p:cNvPr id="490" name="Right Arrow 20"/>
          <p:cNvSpPr/>
          <p:nvPr/>
        </p:nvSpPr>
        <p:spPr>
          <a:xfrm rot="10800000">
            <a:off x="9582721" y="3138118"/>
            <a:ext cx="182881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1" name="Rounded Rectangle 21"/>
          <p:cNvSpPr/>
          <p:nvPr/>
        </p:nvSpPr>
        <p:spPr>
          <a:xfrm>
            <a:off x="8088796" y="2840938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E0404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2" name="TextBox 22"/>
          <p:cNvSpPr txBox="1"/>
          <p:nvPr/>
        </p:nvSpPr>
        <p:spPr>
          <a:xfrm>
            <a:off x="8082915" y="3132837"/>
            <a:ext cx="145389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200">
                <a:solidFill>
                  <a:srgbClr val="E04040"/>
                </a:solidFill>
              </a:defRPr>
            </a:lvl1pPr>
          </a:lstStyle>
          <a:p>
            <a:pPr/>
            <a:r>
              <a:t>Alert</a:t>
            </a:r>
          </a:p>
        </p:txBody>
      </p:sp>
      <p:sp>
        <p:nvSpPr>
          <p:cNvPr id="493" name="Down Arrow 23"/>
          <p:cNvSpPr/>
          <p:nvPr/>
        </p:nvSpPr>
        <p:spPr>
          <a:xfrm>
            <a:off x="10483977" y="2542275"/>
            <a:ext cx="182881" cy="3657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6200"/>
                </a:moveTo>
                <a:lnTo>
                  <a:pt x="5400" y="1620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00"/>
                </a:lnTo>
                <a:lnTo>
                  <a:pt x="21600" y="1620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4" name="TextBox 24"/>
          <p:cNvSpPr txBox="1"/>
          <p:nvPr/>
        </p:nvSpPr>
        <p:spPr>
          <a:xfrm>
            <a:off x="6391275" y="3712477"/>
            <a:ext cx="72292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FF8C00"/>
                </a:solidFill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495" name="TextBox 25"/>
          <p:cNvSpPr txBox="1"/>
          <p:nvPr/>
        </p:nvSpPr>
        <p:spPr>
          <a:xfrm>
            <a:off x="6377940" y="4068908"/>
            <a:ext cx="4937761" cy="2142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Tested on the Numenta Anomaly Benchmark (NAB) — standard for streaming anomaly detection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AREP outperformed predecessors (ReRe, Alter-Re²) on irregular telemetry patterns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Follow-up study (Pekar et al., 2024): on periodic server farm data, simpler Bayesian Changepoint (F: 0.66) beat AREP (F: 0.20)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Takeaway: LSTM excels on irregular patterns but struggles with highly periodic data — no single ML method wins everywhere</a:t>
            </a:r>
          </a:p>
        </p:txBody>
      </p:sp>
      <p:sp>
        <p:nvSpPr>
          <p:cNvPr id="496" name="TextBox 26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497" name="TextBox 27"/>
          <p:cNvSpPr txBox="1"/>
          <p:nvPr/>
        </p:nvSpPr>
        <p:spPr>
          <a:xfrm>
            <a:off x="998294" y="6289784"/>
            <a:ext cx="5431537" cy="141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800">
                <a:solidFill>
                  <a:srgbClr val="999999"/>
                </a:solidFill>
              </a:defRPr>
            </a:lvl1pPr>
          </a:lstStyle>
          <a:p>
            <a:pPr/>
            <a:r>
              <a:t>Reference: https://link.springer.com/article/10.1007/s00521-022-08000-y</a:t>
            </a:r>
          </a:p>
        </p:txBody>
      </p:sp>
      <p:sp>
        <p:nvSpPr>
          <p:cNvPr id="498" name="TextBox 28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18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F0B42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1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2" name="TextBox 3"/>
          <p:cNvSpPr txBox="1"/>
          <p:nvPr/>
        </p:nvSpPr>
        <p:spPr>
          <a:xfrm>
            <a:off x="758951" y="365759"/>
            <a:ext cx="10460737" cy="1144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Case Study: Predicting Internet Traffic from Telemetry Data</a:t>
            </a:r>
          </a:p>
        </p:txBody>
      </p:sp>
      <p:sp>
        <p:nvSpPr>
          <p:cNvPr id="503" name="TextBox 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504" name="TextBox 5"/>
          <p:cNvSpPr txBox="1"/>
          <p:nvPr/>
        </p:nvSpPr>
        <p:spPr>
          <a:xfrm>
            <a:off x="676655" y="1720159"/>
            <a:ext cx="5248658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9FFD"/>
                </a:solidFill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505" name="TextBox 6"/>
          <p:cNvSpPr txBox="1"/>
          <p:nvPr/>
        </p:nvSpPr>
        <p:spPr>
          <a:xfrm>
            <a:off x="676655" y="2146324"/>
            <a:ext cx="5212082" cy="1593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Operators need to predict future traffic volumes to avoid congestion and plan capacity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Telemetry is collected by sampling SNMP MIB counters on router interfaces (e.g., every 5 min) — giving a time series of bits-per-second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Traditional methods like ARIMA struggle with sudden spikes and complex patterns in real network traffic</a:t>
            </a:r>
          </a:p>
        </p:txBody>
      </p:sp>
      <p:sp>
        <p:nvSpPr>
          <p:cNvPr id="506" name="TextBox 7"/>
          <p:cNvSpPr txBox="1"/>
          <p:nvPr/>
        </p:nvSpPr>
        <p:spPr>
          <a:xfrm>
            <a:off x="758951" y="4009643"/>
            <a:ext cx="5248658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C9A7"/>
                </a:solidFill>
              </a:defRPr>
            </a:lvl1pPr>
          </a:lstStyle>
          <a:p>
            <a:pPr/>
            <a:r>
              <a:t>The Study: ConvLSTMTransNet (Pekar et al., 2024)</a:t>
            </a:r>
          </a:p>
        </p:txBody>
      </p:sp>
      <p:sp>
        <p:nvSpPr>
          <p:cNvPr id="507" name="TextBox 8"/>
          <p:cNvSpPr txBox="1"/>
          <p:nvPr/>
        </p:nvSpPr>
        <p:spPr>
          <a:xfrm>
            <a:off x="777239" y="4375403"/>
            <a:ext cx="5212082" cy="1593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A hybrid deep learning model combining three architectures: CNN (local patterns), LSTM (time dependencies), and Transformer encoder (long-range relationships)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Trained and tested on real ISP telemetry from high-speed 40 Gbps ports on a provider edge router, sampled at 5-min intervals via SNMP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This is real Juniper Networks ISP telemetry — not synthetic data</a:t>
            </a:r>
          </a:p>
        </p:txBody>
      </p:sp>
      <p:sp>
        <p:nvSpPr>
          <p:cNvPr id="508" name="TextBox 9"/>
          <p:cNvSpPr txBox="1"/>
          <p:nvPr/>
        </p:nvSpPr>
        <p:spPr>
          <a:xfrm>
            <a:off x="6611112" y="1234439"/>
            <a:ext cx="4974337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845EC2"/>
                </a:solidFill>
              </a:defRPr>
            </a:lvl1pPr>
          </a:lstStyle>
          <a:p>
            <a:pPr/>
            <a:r>
              <a:t>Model Architecture</a:t>
            </a:r>
          </a:p>
        </p:txBody>
      </p:sp>
      <p:sp>
        <p:nvSpPr>
          <p:cNvPr id="509" name="Rounded Rectangle 10"/>
          <p:cNvSpPr/>
          <p:nvPr/>
        </p:nvSpPr>
        <p:spPr>
          <a:xfrm>
            <a:off x="6400800" y="1737360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0" name="TextBox 11"/>
          <p:cNvSpPr txBox="1"/>
          <p:nvPr/>
        </p:nvSpPr>
        <p:spPr>
          <a:xfrm>
            <a:off x="6428231" y="1847088"/>
            <a:ext cx="1453898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pPr>
            <a:r>
              <a:t>Telemetry</a:t>
            </a:r>
            <a:br/>
            <a:r>
              <a:t>Time Series</a:t>
            </a:r>
          </a:p>
        </p:txBody>
      </p:sp>
      <p:sp>
        <p:nvSpPr>
          <p:cNvPr id="511" name="Right Arrow 12"/>
          <p:cNvSpPr/>
          <p:nvPr/>
        </p:nvSpPr>
        <p:spPr>
          <a:xfrm>
            <a:off x="7909559" y="1993392"/>
            <a:ext cx="182881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2" name="Rounded Rectangle 13"/>
          <p:cNvSpPr/>
          <p:nvPr/>
        </p:nvSpPr>
        <p:spPr>
          <a:xfrm>
            <a:off x="8092440" y="1737360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3" name="TextBox 14"/>
          <p:cNvSpPr txBox="1"/>
          <p:nvPr/>
        </p:nvSpPr>
        <p:spPr>
          <a:xfrm>
            <a:off x="8119872" y="1847088"/>
            <a:ext cx="14538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pPr>
            <a:r>
              <a:t>CNN</a:t>
            </a:r>
            <a:br/>
            <a:r>
              <a:t>Local Patterns</a:t>
            </a:r>
          </a:p>
        </p:txBody>
      </p:sp>
      <p:sp>
        <p:nvSpPr>
          <p:cNvPr id="514" name="Right Arrow 15"/>
          <p:cNvSpPr/>
          <p:nvPr/>
        </p:nvSpPr>
        <p:spPr>
          <a:xfrm>
            <a:off x="9601200" y="1993392"/>
            <a:ext cx="182880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5" name="Rounded Rectangle 16"/>
          <p:cNvSpPr/>
          <p:nvPr/>
        </p:nvSpPr>
        <p:spPr>
          <a:xfrm>
            <a:off x="9784080" y="1737360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6" name="TextBox 17"/>
          <p:cNvSpPr txBox="1"/>
          <p:nvPr/>
        </p:nvSpPr>
        <p:spPr>
          <a:xfrm>
            <a:off x="9811512" y="1847088"/>
            <a:ext cx="14538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pPr>
            <a:r>
              <a:t>LSTM</a:t>
            </a:r>
            <a:br/>
            <a:r>
              <a:t>Time Deps</a:t>
            </a:r>
          </a:p>
        </p:txBody>
      </p:sp>
      <p:sp>
        <p:nvSpPr>
          <p:cNvPr id="517" name="Rounded Rectangle 18"/>
          <p:cNvSpPr/>
          <p:nvPr/>
        </p:nvSpPr>
        <p:spPr>
          <a:xfrm>
            <a:off x="9784080" y="2865750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8" name="TextBox 19"/>
          <p:cNvSpPr txBox="1"/>
          <p:nvPr/>
        </p:nvSpPr>
        <p:spPr>
          <a:xfrm>
            <a:off x="9811512" y="3086134"/>
            <a:ext cx="1453897" cy="4153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FF8C00"/>
                </a:solidFill>
              </a:defRPr>
            </a:pPr>
            <a:r>
              <a:t>Transformer</a:t>
            </a:r>
            <a:br/>
            <a:r>
              <a:t>Long-Range</a:t>
            </a:r>
          </a:p>
        </p:txBody>
      </p:sp>
      <p:sp>
        <p:nvSpPr>
          <p:cNvPr id="519" name="Right Arrow 20"/>
          <p:cNvSpPr/>
          <p:nvPr/>
        </p:nvSpPr>
        <p:spPr>
          <a:xfrm rot="10800000">
            <a:off x="9582721" y="3202351"/>
            <a:ext cx="182881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0" name="Rounded Rectangle 21"/>
          <p:cNvSpPr/>
          <p:nvPr/>
        </p:nvSpPr>
        <p:spPr>
          <a:xfrm>
            <a:off x="8092440" y="2905171"/>
            <a:ext cx="15087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F0B42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1" name="TextBox 22"/>
          <p:cNvSpPr txBox="1"/>
          <p:nvPr/>
        </p:nvSpPr>
        <p:spPr>
          <a:xfrm>
            <a:off x="8119872" y="3086134"/>
            <a:ext cx="1453897" cy="4153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pPr>
            <a:r>
              <a:t>Traffic</a:t>
            </a:r>
            <a:br/>
            <a:r>
              <a:t>Prediction</a:t>
            </a:r>
          </a:p>
        </p:txBody>
      </p:sp>
      <p:sp>
        <p:nvSpPr>
          <p:cNvPr id="522" name="Down Arrow 23"/>
          <p:cNvSpPr/>
          <p:nvPr/>
        </p:nvSpPr>
        <p:spPr>
          <a:xfrm>
            <a:off x="10447020" y="2577246"/>
            <a:ext cx="182881" cy="3657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6200"/>
                </a:moveTo>
                <a:lnTo>
                  <a:pt x="5400" y="1620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00"/>
                </a:lnTo>
                <a:lnTo>
                  <a:pt x="21600" y="1620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3" name="TextBox 24"/>
          <p:cNvSpPr txBox="1"/>
          <p:nvPr/>
        </p:nvSpPr>
        <p:spPr>
          <a:xfrm>
            <a:off x="6629399" y="3863523"/>
            <a:ext cx="923891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FF8C00"/>
                </a:solidFill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524" name="TextBox 25"/>
          <p:cNvSpPr txBox="1"/>
          <p:nvPr/>
        </p:nvSpPr>
        <p:spPr>
          <a:xfrm>
            <a:off x="6629399" y="4195377"/>
            <a:ext cx="4937762" cy="19061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Compared against three baselines: plain RNN, LSTM, and GRU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ConvLSTMTransNet outperformed all three by ~10% better accuracy (MAE, RMSE, WAPE)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Combining CNN + LSTM + Transformer captures both short-term spikes and long-term trends better than any single model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Trade-off noted: more complex models need more compute and training time</a:t>
            </a:r>
          </a:p>
        </p:txBody>
      </p:sp>
      <p:sp>
        <p:nvSpPr>
          <p:cNvPr id="525" name="TextBox 26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526" name="TextBox 27"/>
          <p:cNvSpPr txBox="1"/>
          <p:nvPr/>
        </p:nvSpPr>
        <p:spPr>
          <a:xfrm>
            <a:off x="933922" y="6289784"/>
            <a:ext cx="5431537" cy="141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800">
                <a:solidFill>
                  <a:srgbClr val="999999"/>
                </a:solidFill>
              </a:defRPr>
            </a:lvl1pPr>
          </a:lstStyle>
          <a:p>
            <a:pPr/>
            <a:r>
              <a:t>Reference: https://arxiv.org/html/2409.13179v1</a:t>
            </a:r>
          </a:p>
        </p:txBody>
      </p:sp>
      <p:sp>
        <p:nvSpPr>
          <p:cNvPr id="527" name="TextBox 28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19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F0B42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0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1" name="TextBox 3"/>
          <p:cNvSpPr txBox="1"/>
          <p:nvPr/>
        </p:nvSpPr>
        <p:spPr>
          <a:xfrm>
            <a:off x="758951" y="365759"/>
            <a:ext cx="10460737" cy="1144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Case Study: Predicting QoS with Graph Neural Networks</a:t>
            </a:r>
          </a:p>
        </p:txBody>
      </p:sp>
      <p:sp>
        <p:nvSpPr>
          <p:cNvPr id="532" name="TextBox 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533" name="TextBox 5"/>
          <p:cNvSpPr txBox="1"/>
          <p:nvPr/>
        </p:nvSpPr>
        <p:spPr>
          <a:xfrm>
            <a:off x="713041" y="1574669"/>
            <a:ext cx="524865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009FFD"/>
                </a:solidFill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534" name="TextBox 6"/>
          <p:cNvSpPr txBox="1"/>
          <p:nvPr/>
        </p:nvSpPr>
        <p:spPr>
          <a:xfrm>
            <a:off x="731329" y="1951243"/>
            <a:ext cx="5212081" cy="1593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Operators need to know QoS metrics (delay, jitter, packet loss) for every flow path in their network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Traditionally requires expensive packet-level simulators (OMNeT++) that take a long time, or constant active probing that wastes bandwidth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What if ML could instantly predict QoS metrics just by looking at topology, routing, and traffic load?</a:t>
            </a:r>
          </a:p>
        </p:txBody>
      </p:sp>
      <p:sp>
        <p:nvSpPr>
          <p:cNvPr id="535" name="TextBox 7"/>
          <p:cNvSpPr txBox="1"/>
          <p:nvPr/>
        </p:nvSpPr>
        <p:spPr>
          <a:xfrm>
            <a:off x="731329" y="3619481"/>
            <a:ext cx="524865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00C9A7"/>
                </a:solidFill>
              </a:defRPr>
            </a:lvl1pPr>
          </a:lstStyle>
          <a:p>
            <a:pPr/>
            <a:r>
              <a:t>The Study: RouteNet-Fermi (Ferriol-Galmés et al., 2023)</a:t>
            </a:r>
          </a:p>
        </p:txBody>
      </p:sp>
      <p:sp>
        <p:nvSpPr>
          <p:cNvPr id="536" name="TextBox 8"/>
          <p:cNvSpPr txBox="1"/>
          <p:nvPr/>
        </p:nvSpPr>
        <p:spPr>
          <a:xfrm>
            <a:off x="749617" y="3985241"/>
            <a:ext cx="5212081" cy="2142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Uses a Graph Neural Network (GNN) — designed for graph-structured data (perfect for networks)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Three-stage message-passing algorithm between flows, queues, and links — learns how they interact to affect performance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Input: topology + routing + traffic parameters. Output: per-flow delay, jitter, packet loss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Key strength: generalizes to unseen networks — train on small networks (14-50 nodes), predict accurately on networks up to 300 nodes</a:t>
            </a:r>
          </a:p>
        </p:txBody>
      </p:sp>
      <p:sp>
        <p:nvSpPr>
          <p:cNvPr id="537" name="TextBox 9"/>
          <p:cNvSpPr txBox="1"/>
          <p:nvPr/>
        </p:nvSpPr>
        <p:spPr>
          <a:xfrm>
            <a:off x="6611112" y="1234439"/>
            <a:ext cx="4974337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845EC2"/>
                </a:solidFill>
              </a:defRPr>
            </a:lvl1pPr>
          </a:lstStyle>
          <a:p>
            <a:pPr/>
            <a:r>
              <a:t>How RouteNet-Fermi Works</a:t>
            </a:r>
          </a:p>
        </p:txBody>
      </p:sp>
      <p:sp>
        <p:nvSpPr>
          <p:cNvPr id="538" name="Rounded Rectangle 10"/>
          <p:cNvSpPr/>
          <p:nvPr/>
        </p:nvSpPr>
        <p:spPr>
          <a:xfrm>
            <a:off x="6583680" y="1737360"/>
            <a:ext cx="21945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9" name="TextBox 11"/>
          <p:cNvSpPr txBox="1"/>
          <p:nvPr/>
        </p:nvSpPr>
        <p:spPr>
          <a:xfrm>
            <a:off x="6611112" y="1877175"/>
            <a:ext cx="21396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pPr>
            <a:r>
              <a:t>Network</a:t>
            </a:r>
            <a:br/>
            <a:r>
              <a:t>Graph</a:t>
            </a:r>
          </a:p>
        </p:txBody>
      </p:sp>
      <p:sp>
        <p:nvSpPr>
          <p:cNvPr id="540" name="Right Arrow 12"/>
          <p:cNvSpPr/>
          <p:nvPr/>
        </p:nvSpPr>
        <p:spPr>
          <a:xfrm>
            <a:off x="8778240" y="1993392"/>
            <a:ext cx="182881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1" name="Rounded Rectangle 13"/>
          <p:cNvSpPr/>
          <p:nvPr/>
        </p:nvSpPr>
        <p:spPr>
          <a:xfrm>
            <a:off x="8961119" y="1737360"/>
            <a:ext cx="21945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2" name="TextBox 14"/>
          <p:cNvSpPr txBox="1"/>
          <p:nvPr/>
        </p:nvSpPr>
        <p:spPr>
          <a:xfrm>
            <a:off x="8988551" y="1877175"/>
            <a:ext cx="21396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00C9A7"/>
                </a:solidFill>
              </a:defRPr>
            </a:pPr>
            <a:r>
              <a:t>GNN Message</a:t>
            </a:r>
            <a:br/>
            <a:r>
              <a:t>Passing</a:t>
            </a:r>
          </a:p>
        </p:txBody>
      </p:sp>
      <p:sp>
        <p:nvSpPr>
          <p:cNvPr id="543" name="Rounded Rectangle 15"/>
          <p:cNvSpPr/>
          <p:nvPr/>
        </p:nvSpPr>
        <p:spPr>
          <a:xfrm>
            <a:off x="6583680" y="2971800"/>
            <a:ext cx="21945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4" name="TextBox 16"/>
          <p:cNvSpPr txBox="1"/>
          <p:nvPr/>
        </p:nvSpPr>
        <p:spPr>
          <a:xfrm>
            <a:off x="6611112" y="3152763"/>
            <a:ext cx="21396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pPr>
            <a:r>
              <a:t>Flows ↔</a:t>
            </a:r>
            <a:br/>
            <a:r>
              <a:t>Queues ↔ Links</a:t>
            </a:r>
          </a:p>
        </p:txBody>
      </p:sp>
      <p:sp>
        <p:nvSpPr>
          <p:cNvPr id="545" name="Right Arrow 17"/>
          <p:cNvSpPr/>
          <p:nvPr/>
        </p:nvSpPr>
        <p:spPr>
          <a:xfrm>
            <a:off x="8778240" y="3227832"/>
            <a:ext cx="182881" cy="1828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6" name="Rounded Rectangle 18"/>
          <p:cNvSpPr/>
          <p:nvPr/>
        </p:nvSpPr>
        <p:spPr>
          <a:xfrm>
            <a:off x="8961119" y="2971800"/>
            <a:ext cx="2194561" cy="77724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9050">
            <a:solidFill>
              <a:srgbClr val="F0B42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7" name="TextBox 19"/>
          <p:cNvSpPr txBox="1"/>
          <p:nvPr/>
        </p:nvSpPr>
        <p:spPr>
          <a:xfrm>
            <a:off x="8988551" y="3152763"/>
            <a:ext cx="2139697" cy="415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algn="ct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pPr>
            <a:r>
              <a:t>QoS</a:t>
            </a:r>
            <a:br/>
            <a:r>
              <a:t>Predictions</a:t>
            </a:r>
          </a:p>
        </p:txBody>
      </p:sp>
      <p:sp>
        <p:nvSpPr>
          <p:cNvPr id="548" name="Down Arrow 20"/>
          <p:cNvSpPr/>
          <p:nvPr/>
        </p:nvSpPr>
        <p:spPr>
          <a:xfrm>
            <a:off x="7680959" y="2514599"/>
            <a:ext cx="182881" cy="3657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6200"/>
                </a:moveTo>
                <a:lnTo>
                  <a:pt x="5400" y="1620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00"/>
                </a:lnTo>
                <a:lnTo>
                  <a:pt x="21600" y="1620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99999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9" name="TextBox 21"/>
          <p:cNvSpPr txBox="1"/>
          <p:nvPr/>
        </p:nvSpPr>
        <p:spPr>
          <a:xfrm>
            <a:off x="6611112" y="3887124"/>
            <a:ext cx="4974337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FF8C00"/>
                </a:solidFill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550" name="TextBox 22"/>
          <p:cNvSpPr txBox="1"/>
          <p:nvPr/>
        </p:nvSpPr>
        <p:spPr>
          <a:xfrm>
            <a:off x="6583680" y="4278434"/>
            <a:ext cx="4937761" cy="2142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Mean relative error of only 6.24% for delay prediction on test networks 10x larger than training networks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Worst-case accuracy on completely unseen topologies and routing: MRE of 15.4%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Matched accuracy of packet-level simulators but runs orders of magnitude faster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300">
                <a:solidFill>
                  <a:srgbClr val="CCCCCC"/>
                </a:solidFill>
              </a:defRPr>
            </a:pPr>
            <a:r>
              <a:t>• Supports real-world features like multi-queue QoS scheduling — not just toy scenarios</a:t>
            </a:r>
          </a:p>
        </p:txBody>
      </p:sp>
      <p:sp>
        <p:nvSpPr>
          <p:cNvPr id="551" name="TextBox 23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552" name="TextBox 24"/>
          <p:cNvSpPr txBox="1"/>
          <p:nvPr/>
        </p:nvSpPr>
        <p:spPr>
          <a:xfrm>
            <a:off x="1036918" y="6325606"/>
            <a:ext cx="5431537" cy="141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800">
                <a:solidFill>
                  <a:srgbClr val="999999"/>
                </a:solidFill>
              </a:defRPr>
            </a:lvl1pPr>
          </a:lstStyle>
          <a:p>
            <a:pPr/>
            <a:r>
              <a:t>Reference: https://dl.acm.org/doi/pdf/10.1109/TNET.2023.3269983</a:t>
            </a:r>
          </a:p>
        </p:txBody>
      </p:sp>
      <p:sp>
        <p:nvSpPr>
          <p:cNvPr id="553" name="TextBox 25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20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F0B42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6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7" name="TextBox 3"/>
          <p:cNvSpPr txBox="1"/>
          <p:nvPr/>
        </p:nvSpPr>
        <p:spPr>
          <a:xfrm>
            <a:off x="758951" y="365759"/>
            <a:ext cx="11241256" cy="1144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Lessons Learned: Comparing ML Approaches for Network Telemetry</a:t>
            </a:r>
          </a:p>
        </p:txBody>
      </p:sp>
      <p:sp>
        <p:nvSpPr>
          <p:cNvPr id="558" name="TextBox 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559" name="TextBox 5"/>
          <p:cNvSpPr txBox="1"/>
          <p:nvPr/>
        </p:nvSpPr>
        <p:spPr>
          <a:xfrm>
            <a:off x="758951" y="1487118"/>
            <a:ext cx="10460737" cy="285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2000">
                <a:solidFill>
                  <a:srgbClr val="F0B429"/>
                </a:solidFill>
              </a:defRPr>
            </a:lvl1pPr>
          </a:lstStyle>
          <a:p>
            <a:pPr/>
            <a:r>
              <a:t>Comparison of Three Case Studies</a:t>
            </a:r>
          </a:p>
        </p:txBody>
      </p:sp>
      <p:sp>
        <p:nvSpPr>
          <p:cNvPr id="560" name="Rounded Rectangle 6"/>
          <p:cNvSpPr/>
          <p:nvPr/>
        </p:nvSpPr>
        <p:spPr>
          <a:xfrm>
            <a:off x="758951" y="1919491"/>
            <a:ext cx="3474721" cy="411481"/>
          </a:xfrm>
          <a:prstGeom prst="roundRect">
            <a:avLst>
              <a:gd name="adj" fmla="val 16667"/>
            </a:avLst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1" name="TextBox 7"/>
          <p:cNvSpPr txBox="1"/>
          <p:nvPr/>
        </p:nvSpPr>
        <p:spPr>
          <a:xfrm>
            <a:off x="786382" y="2012263"/>
            <a:ext cx="341985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AREP</a:t>
            </a:r>
          </a:p>
        </p:txBody>
      </p:sp>
      <p:sp>
        <p:nvSpPr>
          <p:cNvPr id="562" name="Rounded Rectangle 8"/>
          <p:cNvSpPr/>
          <p:nvPr/>
        </p:nvSpPr>
        <p:spPr>
          <a:xfrm>
            <a:off x="731519" y="2421486"/>
            <a:ext cx="3474722" cy="2162731"/>
          </a:xfrm>
          <a:prstGeom prst="roundRect">
            <a:avLst>
              <a:gd name="adj" fmla="val 19731"/>
            </a:avLst>
          </a:prstGeom>
          <a:solidFill>
            <a:srgbClr val="141832"/>
          </a:solidFill>
          <a:ln w="15240">
            <a:solidFill>
              <a:srgbClr val="009FF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3" name="TextBox 9"/>
          <p:cNvSpPr txBox="1"/>
          <p:nvPr/>
        </p:nvSpPr>
        <p:spPr>
          <a:xfrm>
            <a:off x="896112" y="255864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9FFD"/>
                </a:solidFill>
              </a:defRPr>
            </a:lvl1pPr>
          </a:lstStyle>
          <a:p>
            <a:pPr/>
            <a:r>
              <a:t>Method:</a:t>
            </a:r>
          </a:p>
        </p:txBody>
      </p:sp>
      <p:sp>
        <p:nvSpPr>
          <p:cNvPr id="564" name="TextBox 10"/>
          <p:cNvSpPr txBox="1"/>
          <p:nvPr/>
        </p:nvSpPr>
        <p:spPr>
          <a:xfrm>
            <a:off x="896112" y="2787246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LSTM</a:t>
            </a:r>
          </a:p>
        </p:txBody>
      </p:sp>
      <p:sp>
        <p:nvSpPr>
          <p:cNvPr id="565" name="TextBox 11"/>
          <p:cNvSpPr txBox="1"/>
          <p:nvPr/>
        </p:nvSpPr>
        <p:spPr>
          <a:xfrm>
            <a:off x="896112" y="319872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9FFD"/>
                </a:solidFill>
              </a:defRPr>
            </a:lvl1pPr>
          </a:lstStyle>
          <a:p>
            <a:pPr/>
            <a:r>
              <a:t>Task:</a:t>
            </a:r>
          </a:p>
        </p:txBody>
      </p:sp>
      <p:sp>
        <p:nvSpPr>
          <p:cNvPr id="566" name="TextBox 12"/>
          <p:cNvSpPr txBox="1"/>
          <p:nvPr/>
        </p:nvSpPr>
        <p:spPr>
          <a:xfrm>
            <a:off x="896112" y="3427326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Anomaly Detection</a:t>
            </a:r>
          </a:p>
        </p:txBody>
      </p:sp>
      <p:sp>
        <p:nvSpPr>
          <p:cNvPr id="567" name="TextBox 13"/>
          <p:cNvSpPr txBox="1"/>
          <p:nvPr/>
        </p:nvSpPr>
        <p:spPr>
          <a:xfrm>
            <a:off x="896112" y="383880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9FFD"/>
                </a:solidFill>
              </a:defRPr>
            </a:lvl1pPr>
          </a:lstStyle>
          <a:p>
            <a:pPr/>
            <a:r>
              <a:t>Data:</a:t>
            </a:r>
          </a:p>
        </p:txBody>
      </p:sp>
      <p:sp>
        <p:nvSpPr>
          <p:cNvPr id="568" name="TextBox 14"/>
          <p:cNvSpPr txBox="1"/>
          <p:nvPr/>
        </p:nvSpPr>
        <p:spPr>
          <a:xfrm>
            <a:off x="896112" y="4067406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NAB Benchmark (streaming)</a:t>
            </a:r>
          </a:p>
        </p:txBody>
      </p:sp>
      <p:sp>
        <p:nvSpPr>
          <p:cNvPr id="569" name="TextBox 15"/>
          <p:cNvSpPr txBox="1"/>
          <p:nvPr/>
        </p:nvSpPr>
        <p:spPr>
          <a:xfrm>
            <a:off x="2519172" y="3001494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9FFD"/>
                </a:solidFill>
              </a:defRPr>
            </a:lvl1pPr>
          </a:lstStyle>
          <a:p>
            <a:pPr/>
            <a:r>
              <a:t>Strength:</a:t>
            </a:r>
          </a:p>
        </p:txBody>
      </p:sp>
      <p:sp>
        <p:nvSpPr>
          <p:cNvPr id="570" name="TextBox 16"/>
          <p:cNvSpPr txBox="1"/>
          <p:nvPr/>
        </p:nvSpPr>
        <p:spPr>
          <a:xfrm>
            <a:off x="2519172" y="3230094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Auto-tunes parameters</a:t>
            </a:r>
          </a:p>
        </p:txBody>
      </p:sp>
      <p:sp>
        <p:nvSpPr>
          <p:cNvPr id="571" name="TextBox 17"/>
          <p:cNvSpPr txBox="1"/>
          <p:nvPr/>
        </p:nvSpPr>
        <p:spPr>
          <a:xfrm>
            <a:off x="2519172" y="3641574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9FFD"/>
                </a:solidFill>
              </a:defRPr>
            </a:lvl1pPr>
          </a:lstStyle>
          <a:p>
            <a:pPr/>
            <a:r>
              <a:t>Limit:</a:t>
            </a:r>
          </a:p>
        </p:txBody>
      </p:sp>
      <p:sp>
        <p:nvSpPr>
          <p:cNvPr id="572" name="TextBox 18"/>
          <p:cNvSpPr txBox="1"/>
          <p:nvPr/>
        </p:nvSpPr>
        <p:spPr>
          <a:xfrm>
            <a:off x="2519172" y="3870174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Struggles with periodic data</a:t>
            </a:r>
          </a:p>
        </p:txBody>
      </p:sp>
      <p:sp>
        <p:nvSpPr>
          <p:cNvPr id="573" name="Rounded Rectangle 19"/>
          <p:cNvSpPr/>
          <p:nvPr/>
        </p:nvSpPr>
        <p:spPr>
          <a:xfrm>
            <a:off x="4416551" y="1919491"/>
            <a:ext cx="3474721" cy="411481"/>
          </a:xfrm>
          <a:prstGeom prst="roundRect">
            <a:avLst>
              <a:gd name="adj" fmla="val 16667"/>
            </a:avLst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4" name="TextBox 20"/>
          <p:cNvSpPr txBox="1"/>
          <p:nvPr/>
        </p:nvSpPr>
        <p:spPr>
          <a:xfrm>
            <a:off x="4416551" y="2013596"/>
            <a:ext cx="341985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ConvLSTMTransNet</a:t>
            </a:r>
          </a:p>
        </p:txBody>
      </p:sp>
      <p:sp>
        <p:nvSpPr>
          <p:cNvPr id="575" name="Rounded Rectangle 21"/>
          <p:cNvSpPr/>
          <p:nvPr/>
        </p:nvSpPr>
        <p:spPr>
          <a:xfrm>
            <a:off x="4389945" y="2420200"/>
            <a:ext cx="3401061" cy="2162731"/>
          </a:xfrm>
          <a:prstGeom prst="roundRect">
            <a:avLst>
              <a:gd name="adj" fmla="val 19731"/>
            </a:avLst>
          </a:prstGeom>
          <a:solidFill>
            <a:srgbClr val="141832"/>
          </a:solidFill>
          <a:ln w="1524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6" name="TextBox 22"/>
          <p:cNvSpPr txBox="1"/>
          <p:nvPr/>
        </p:nvSpPr>
        <p:spPr>
          <a:xfrm>
            <a:off x="4553711" y="267294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C9A7"/>
                </a:solidFill>
              </a:defRPr>
            </a:lvl1pPr>
          </a:lstStyle>
          <a:p>
            <a:pPr/>
            <a:r>
              <a:t>Method:</a:t>
            </a:r>
          </a:p>
        </p:txBody>
      </p:sp>
      <p:sp>
        <p:nvSpPr>
          <p:cNvPr id="577" name="TextBox 23"/>
          <p:cNvSpPr txBox="1"/>
          <p:nvPr/>
        </p:nvSpPr>
        <p:spPr>
          <a:xfrm>
            <a:off x="4553711" y="2901546"/>
            <a:ext cx="1282340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CNN+LSTM+Transformer</a:t>
            </a:r>
          </a:p>
        </p:txBody>
      </p:sp>
      <p:sp>
        <p:nvSpPr>
          <p:cNvPr id="578" name="TextBox 24"/>
          <p:cNvSpPr txBox="1"/>
          <p:nvPr/>
        </p:nvSpPr>
        <p:spPr>
          <a:xfrm>
            <a:off x="4553711" y="331302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C9A7"/>
                </a:solidFill>
              </a:defRPr>
            </a:lvl1pPr>
          </a:lstStyle>
          <a:p>
            <a:pPr/>
            <a:r>
              <a:t>Task:</a:t>
            </a:r>
          </a:p>
        </p:txBody>
      </p:sp>
      <p:sp>
        <p:nvSpPr>
          <p:cNvPr id="579" name="TextBox 25"/>
          <p:cNvSpPr txBox="1"/>
          <p:nvPr/>
        </p:nvSpPr>
        <p:spPr>
          <a:xfrm>
            <a:off x="4553711" y="3541626"/>
            <a:ext cx="13167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Traffic Prediction</a:t>
            </a:r>
          </a:p>
        </p:txBody>
      </p:sp>
      <p:sp>
        <p:nvSpPr>
          <p:cNvPr id="580" name="TextBox 26"/>
          <p:cNvSpPr txBox="1"/>
          <p:nvPr/>
        </p:nvSpPr>
        <p:spPr>
          <a:xfrm>
            <a:off x="4553711" y="3953106"/>
            <a:ext cx="1282340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C9A7"/>
                </a:solidFill>
              </a:defRPr>
            </a:lvl1pPr>
          </a:lstStyle>
          <a:p>
            <a:pPr/>
            <a:r>
              <a:t>Data:</a:t>
            </a:r>
          </a:p>
        </p:txBody>
      </p:sp>
      <p:sp>
        <p:nvSpPr>
          <p:cNvPr id="581" name="TextBox 27"/>
          <p:cNvSpPr txBox="1"/>
          <p:nvPr/>
        </p:nvSpPr>
        <p:spPr>
          <a:xfrm>
            <a:off x="4553711" y="4181706"/>
            <a:ext cx="13167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Real ISP telemetry (SNMP)</a:t>
            </a:r>
          </a:p>
        </p:txBody>
      </p:sp>
      <p:sp>
        <p:nvSpPr>
          <p:cNvPr id="582" name="TextBox 28"/>
          <p:cNvSpPr txBox="1"/>
          <p:nvPr/>
        </p:nvSpPr>
        <p:spPr>
          <a:xfrm>
            <a:off x="6176727" y="2955108"/>
            <a:ext cx="3145537" cy="1736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C9A7"/>
                </a:solidFill>
              </a:defRPr>
            </a:lvl1pPr>
          </a:lstStyle>
          <a:p>
            <a:pPr/>
            <a:r>
              <a:t>Strength:</a:t>
            </a:r>
          </a:p>
        </p:txBody>
      </p:sp>
      <p:sp>
        <p:nvSpPr>
          <p:cNvPr id="583" name="TextBox 29"/>
          <p:cNvSpPr txBox="1"/>
          <p:nvPr/>
        </p:nvSpPr>
        <p:spPr>
          <a:xfrm>
            <a:off x="6176727" y="3183708"/>
            <a:ext cx="3145537" cy="15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10% better accuracy</a:t>
            </a:r>
          </a:p>
        </p:txBody>
      </p:sp>
      <p:sp>
        <p:nvSpPr>
          <p:cNvPr id="584" name="TextBox 30"/>
          <p:cNvSpPr txBox="1"/>
          <p:nvPr/>
        </p:nvSpPr>
        <p:spPr>
          <a:xfrm>
            <a:off x="6176727" y="3595188"/>
            <a:ext cx="3145537" cy="1736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00C9A7"/>
                </a:solidFill>
              </a:defRPr>
            </a:lvl1pPr>
          </a:lstStyle>
          <a:p>
            <a:pPr/>
            <a:r>
              <a:t>Limit:</a:t>
            </a:r>
          </a:p>
        </p:txBody>
      </p:sp>
      <p:sp>
        <p:nvSpPr>
          <p:cNvPr id="585" name="TextBox 31"/>
          <p:cNvSpPr txBox="1"/>
          <p:nvPr/>
        </p:nvSpPr>
        <p:spPr>
          <a:xfrm>
            <a:off x="6176727" y="3823788"/>
            <a:ext cx="3145537" cy="15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More compute overhead</a:t>
            </a:r>
          </a:p>
        </p:txBody>
      </p:sp>
      <p:sp>
        <p:nvSpPr>
          <p:cNvPr id="586" name="Rounded Rectangle 32"/>
          <p:cNvSpPr/>
          <p:nvPr/>
        </p:nvSpPr>
        <p:spPr>
          <a:xfrm>
            <a:off x="8046720" y="1919491"/>
            <a:ext cx="3474721" cy="411481"/>
          </a:xfrm>
          <a:prstGeom prst="roundRect">
            <a:avLst>
              <a:gd name="adj" fmla="val 16667"/>
            </a:avLst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7" name="TextBox 33"/>
          <p:cNvSpPr txBox="1"/>
          <p:nvPr/>
        </p:nvSpPr>
        <p:spPr>
          <a:xfrm>
            <a:off x="8074151" y="2012263"/>
            <a:ext cx="341985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RouteNet-Fermi</a:t>
            </a:r>
          </a:p>
        </p:txBody>
      </p:sp>
      <p:sp>
        <p:nvSpPr>
          <p:cNvPr id="588" name="Rounded Rectangle 34"/>
          <p:cNvSpPr/>
          <p:nvPr/>
        </p:nvSpPr>
        <p:spPr>
          <a:xfrm>
            <a:off x="8046719" y="2421486"/>
            <a:ext cx="3474721" cy="2102713"/>
          </a:xfrm>
          <a:prstGeom prst="roundRect">
            <a:avLst>
              <a:gd name="adj" fmla="val 20294"/>
            </a:avLst>
          </a:prstGeom>
          <a:solidFill>
            <a:srgbClr val="141832"/>
          </a:solidFill>
          <a:ln w="1524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9" name="TextBox 35"/>
          <p:cNvSpPr txBox="1"/>
          <p:nvPr/>
        </p:nvSpPr>
        <p:spPr>
          <a:xfrm>
            <a:off x="8211312" y="255864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845EC2"/>
                </a:solidFill>
              </a:defRPr>
            </a:lvl1pPr>
          </a:lstStyle>
          <a:p>
            <a:pPr/>
            <a:r>
              <a:t>Method:</a:t>
            </a:r>
          </a:p>
        </p:txBody>
      </p:sp>
      <p:sp>
        <p:nvSpPr>
          <p:cNvPr id="590" name="TextBox 36"/>
          <p:cNvSpPr txBox="1"/>
          <p:nvPr/>
        </p:nvSpPr>
        <p:spPr>
          <a:xfrm>
            <a:off x="8211312" y="2787246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Graph Neural Network</a:t>
            </a:r>
          </a:p>
        </p:txBody>
      </p:sp>
      <p:sp>
        <p:nvSpPr>
          <p:cNvPr id="591" name="TextBox 37"/>
          <p:cNvSpPr txBox="1"/>
          <p:nvPr/>
        </p:nvSpPr>
        <p:spPr>
          <a:xfrm>
            <a:off x="8211312" y="319872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845EC2"/>
                </a:solidFill>
              </a:defRPr>
            </a:lvl1pPr>
          </a:lstStyle>
          <a:p>
            <a:pPr/>
            <a:r>
              <a:t>Task:</a:t>
            </a:r>
          </a:p>
        </p:txBody>
      </p:sp>
      <p:sp>
        <p:nvSpPr>
          <p:cNvPr id="592" name="TextBox 38"/>
          <p:cNvSpPr txBox="1"/>
          <p:nvPr/>
        </p:nvSpPr>
        <p:spPr>
          <a:xfrm>
            <a:off x="8211312" y="3427326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QoS Prediction</a:t>
            </a:r>
          </a:p>
        </p:txBody>
      </p:sp>
      <p:sp>
        <p:nvSpPr>
          <p:cNvPr id="593" name="TextBox 39"/>
          <p:cNvSpPr txBox="1"/>
          <p:nvPr/>
        </p:nvSpPr>
        <p:spPr>
          <a:xfrm>
            <a:off x="8211312" y="3838806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845EC2"/>
                </a:solidFill>
              </a:defRPr>
            </a:lvl1pPr>
          </a:lstStyle>
          <a:p>
            <a:pPr/>
            <a:r>
              <a:t>Data:</a:t>
            </a:r>
          </a:p>
        </p:txBody>
      </p:sp>
      <p:sp>
        <p:nvSpPr>
          <p:cNvPr id="594" name="TextBox 40"/>
          <p:cNvSpPr txBox="1"/>
          <p:nvPr/>
        </p:nvSpPr>
        <p:spPr>
          <a:xfrm>
            <a:off x="8211312" y="4067406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Simulated (OMNeT++)</a:t>
            </a:r>
          </a:p>
        </p:txBody>
      </p:sp>
      <p:sp>
        <p:nvSpPr>
          <p:cNvPr id="595" name="TextBox 41"/>
          <p:cNvSpPr txBox="1"/>
          <p:nvPr/>
        </p:nvSpPr>
        <p:spPr>
          <a:xfrm>
            <a:off x="9697974" y="2962977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845EC2"/>
                </a:solidFill>
              </a:defRPr>
            </a:lvl1pPr>
          </a:lstStyle>
          <a:p>
            <a:pPr/>
            <a:r>
              <a:t>Strength:</a:t>
            </a:r>
          </a:p>
        </p:txBody>
      </p:sp>
      <p:sp>
        <p:nvSpPr>
          <p:cNvPr id="596" name="TextBox 42"/>
          <p:cNvSpPr txBox="1"/>
          <p:nvPr/>
        </p:nvSpPr>
        <p:spPr>
          <a:xfrm>
            <a:off x="9697974" y="3191577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Generalizes to 10x networks</a:t>
            </a:r>
          </a:p>
        </p:txBody>
      </p:sp>
      <p:sp>
        <p:nvSpPr>
          <p:cNvPr id="597" name="TextBox 43"/>
          <p:cNvSpPr txBox="1"/>
          <p:nvPr/>
        </p:nvSpPr>
        <p:spPr>
          <a:xfrm>
            <a:off x="9697974" y="3603057"/>
            <a:ext cx="31455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000">
                <a:solidFill>
                  <a:srgbClr val="845EC2"/>
                </a:solidFill>
              </a:defRPr>
            </a:lvl1pPr>
          </a:lstStyle>
          <a:p>
            <a:pPr/>
            <a:r>
              <a:t>Limit:</a:t>
            </a:r>
          </a:p>
        </p:txBody>
      </p:sp>
      <p:sp>
        <p:nvSpPr>
          <p:cNvPr id="598" name="TextBox 44"/>
          <p:cNvSpPr txBox="1"/>
          <p:nvPr/>
        </p:nvSpPr>
        <p:spPr>
          <a:xfrm>
            <a:off x="9697974" y="3831657"/>
            <a:ext cx="3145537" cy="151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CCCCC"/>
                </a:solidFill>
              </a:defRPr>
            </a:lvl1pPr>
          </a:lstStyle>
          <a:p>
            <a:pPr/>
            <a:r>
              <a:t>Relies on simulated data</a:t>
            </a:r>
          </a:p>
        </p:txBody>
      </p:sp>
      <p:sp>
        <p:nvSpPr>
          <p:cNvPr id="599" name="TextBox 45"/>
          <p:cNvSpPr txBox="1"/>
          <p:nvPr/>
        </p:nvSpPr>
        <p:spPr>
          <a:xfrm>
            <a:off x="768095" y="4904718"/>
            <a:ext cx="1603819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>
                <a:solidFill>
                  <a:srgbClr val="F0B429"/>
                </a:solidFill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600" name="TextBox 46"/>
          <p:cNvSpPr txBox="1"/>
          <p:nvPr/>
        </p:nvSpPr>
        <p:spPr>
          <a:xfrm>
            <a:off x="786383" y="5237469"/>
            <a:ext cx="10424161" cy="10663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CCCCCC"/>
                </a:solidFill>
              </a:defRPr>
            </a:pPr>
            <a:r>
              <a:t>• No single ML method wins everywhere — LSTM for time-series, GNNs for topology, hybrids for best accuracy but higher cost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CCCCCC"/>
                </a:solidFill>
              </a:defRPr>
            </a:pPr>
            <a:r>
              <a:t>• Telemetry data type matters — streaming time-series suits LSTM/RNN; topology + routing suits GNNs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CCCCCC"/>
                </a:solidFill>
              </a:defRPr>
            </a:pPr>
            <a:r>
              <a:t>• Real-world deployment remains challenging — most use benchmarks/simulators; live telemetry with low latency is still open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200">
                <a:solidFill>
                  <a:srgbClr val="CCCCCC"/>
                </a:solidFill>
              </a:defRPr>
            </a:pPr>
            <a:r>
              <a:t>• Trend: combining multiple ML techniques outperforms single methods (e.g., ConvLSTMTransNet beats standalone models)</a:t>
            </a:r>
          </a:p>
        </p:txBody>
      </p:sp>
      <p:sp>
        <p:nvSpPr>
          <p:cNvPr id="601" name="TextBox 47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F0B429"/>
                </a:solidFill>
              </a:defRPr>
            </a:lvl1pPr>
          </a:lstStyle>
          <a:p>
            <a:pPr/>
            <a:r>
              <a:t>Presenter: Mazen Alhassan</a:t>
            </a:r>
          </a:p>
        </p:txBody>
      </p:sp>
      <p:sp>
        <p:nvSpPr>
          <p:cNvPr id="602" name="TextBox 48"/>
          <p:cNvSpPr txBox="1"/>
          <p:nvPr/>
        </p:nvSpPr>
        <p:spPr>
          <a:xfrm>
            <a:off x="238697" y="6340650"/>
            <a:ext cx="1316737" cy="1736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21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5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6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Industry Example: Ericsson</a:t>
            </a:r>
          </a:p>
        </p:txBody>
      </p:sp>
      <p:sp>
        <p:nvSpPr>
          <p:cNvPr id="607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Combining better data organization with automation</a:t>
            </a:r>
          </a:p>
        </p:txBody>
      </p:sp>
      <p:sp>
        <p:nvSpPr>
          <p:cNvPr id="608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09" name="Rounded Rectangle 6"/>
          <p:cNvSpPr/>
          <p:nvPr/>
        </p:nvSpPr>
        <p:spPr>
          <a:xfrm>
            <a:off x="777240" y="1600200"/>
            <a:ext cx="5120641" cy="251460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0" name="TextBox 7"/>
          <p:cNvSpPr txBox="1"/>
          <p:nvPr/>
        </p:nvSpPr>
        <p:spPr>
          <a:xfrm>
            <a:off x="969264" y="1737360"/>
            <a:ext cx="47365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AI-Ready Data Mesh</a:t>
            </a:r>
          </a:p>
        </p:txBody>
      </p:sp>
      <p:sp>
        <p:nvSpPr>
          <p:cNvPr id="611" name="TextBox 8"/>
          <p:cNvSpPr txBox="1"/>
          <p:nvPr/>
        </p:nvSpPr>
        <p:spPr>
          <a:xfrm>
            <a:off x="969264" y="2103120"/>
            <a:ext cx="4736593" cy="1216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lnSpc>
                <a:spcPct val="130000"/>
              </a:lnSpc>
              <a:defRPr sz="1300">
                <a:solidFill>
                  <a:srgbClr val="CCCCCC"/>
                </a:solidFill>
              </a:defRPr>
            </a:pPr>
            <a:r>
              <a:t>Ericsson treats telemetry as a shared data product, not just raw logs.</a:t>
            </a:r>
            <a:br/>
            <a:br/>
            <a:r>
              <a:t>Teams manage domain pipelines with common standards, which improves data quality and makes telemetry easier for ML teams to use.</a:t>
            </a:r>
          </a:p>
        </p:txBody>
      </p:sp>
      <p:sp>
        <p:nvSpPr>
          <p:cNvPr id="612" name="Rounded Rectangle 9"/>
          <p:cNvSpPr/>
          <p:nvPr/>
        </p:nvSpPr>
        <p:spPr>
          <a:xfrm>
            <a:off x="6263640" y="1600200"/>
            <a:ext cx="5120641" cy="251460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3" name="TextBox 10"/>
          <p:cNvSpPr txBox="1"/>
          <p:nvPr/>
        </p:nvSpPr>
        <p:spPr>
          <a:xfrm>
            <a:off x="6455664" y="1737360"/>
            <a:ext cx="473659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Transport Automation Controller (TAC)</a:t>
            </a:r>
          </a:p>
        </p:txBody>
      </p:sp>
      <p:sp>
        <p:nvSpPr>
          <p:cNvPr id="614" name="TextBox 11"/>
          <p:cNvSpPr txBox="1"/>
          <p:nvPr/>
        </p:nvSpPr>
        <p:spPr>
          <a:xfrm>
            <a:off x="6455664" y="2103120"/>
            <a:ext cx="4736593" cy="1216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lnSpc>
                <a:spcPct val="130000"/>
              </a:lnSpc>
              <a:defRPr sz="1300">
                <a:solidFill>
                  <a:srgbClr val="CCCCCC"/>
                </a:solidFill>
              </a:defRPr>
            </a:pPr>
            <a:r>
              <a:t>Uses AI/ML to monitor transport performance, detect KPI anomalies, and support proactive capacity planning.</a:t>
            </a:r>
            <a:br/>
            <a:br/>
            <a:r>
              <a:t>Direction: closed-loop automation through detect, diagnose, and act workflows.</a:t>
            </a:r>
          </a:p>
        </p:txBody>
      </p:sp>
      <p:sp>
        <p:nvSpPr>
          <p:cNvPr id="615" name="Rounded Rectangle 12"/>
          <p:cNvSpPr/>
          <p:nvPr/>
        </p:nvSpPr>
        <p:spPr>
          <a:xfrm>
            <a:off x="1325880" y="4526279"/>
            <a:ext cx="9509760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6" name="TextBox 13"/>
          <p:cNvSpPr txBox="1"/>
          <p:nvPr/>
        </p:nvSpPr>
        <p:spPr>
          <a:xfrm>
            <a:off x="1517903" y="4663440"/>
            <a:ext cx="9125714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Key Industry Insight</a:t>
            </a:r>
          </a:p>
        </p:txBody>
      </p:sp>
      <p:sp>
        <p:nvSpPr>
          <p:cNvPr id="617" name="TextBox 14"/>
          <p:cNvSpPr txBox="1"/>
          <p:nvPr/>
        </p:nvSpPr>
        <p:spPr>
          <a:xfrm>
            <a:off x="1517903" y="5029200"/>
            <a:ext cx="9125714" cy="4565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CCCCC"/>
                </a:solidFill>
              </a:defRPr>
            </a:lvl1pPr>
          </a:lstStyle>
          <a:p>
            <a:pPr/>
            <a:r>
              <a:t>Ericsson shows that good AI outcomes depend on strong telemetry and data foundations. Better data pipelines make network automation and prediction more realistic at scale.</a:t>
            </a:r>
          </a:p>
        </p:txBody>
      </p:sp>
      <p:sp>
        <p:nvSpPr>
          <p:cNvPr id="618" name="TextBox 1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19" name="TextBox 16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22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22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23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Emerging Trends: 6G &amp; GenAI</a:t>
            </a:r>
          </a:p>
        </p:txBody>
      </p:sp>
      <p:sp>
        <p:nvSpPr>
          <p:cNvPr id="624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Two trend groups that shape the future of telemetry</a:t>
            </a:r>
          </a:p>
        </p:txBody>
      </p:sp>
      <p:sp>
        <p:nvSpPr>
          <p:cNvPr id="625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26" name="Rounded Rectangle 6"/>
          <p:cNvSpPr/>
          <p:nvPr/>
        </p:nvSpPr>
        <p:spPr>
          <a:xfrm>
            <a:off x="822960" y="4800600"/>
            <a:ext cx="5166360" cy="118872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00C9A7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27" name="TextBox 7"/>
          <p:cNvSpPr txBox="1"/>
          <p:nvPr/>
        </p:nvSpPr>
        <p:spPr>
          <a:xfrm>
            <a:off x="1014983" y="4937759"/>
            <a:ext cx="4782314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00C9A7"/>
                </a:solidFill>
              </a:defRPr>
            </a:lvl1pPr>
          </a:lstStyle>
          <a:p>
            <a:pPr/>
            <a:r>
              <a:t>6G &amp; Next-Gen Telemetry</a:t>
            </a:r>
          </a:p>
        </p:txBody>
      </p:sp>
      <p:sp>
        <p:nvSpPr>
          <p:cNvPr id="628" name="TextBox 8"/>
          <p:cNvSpPr txBox="1"/>
          <p:nvPr/>
        </p:nvSpPr>
        <p:spPr>
          <a:xfrm>
            <a:off x="1014983" y="5303520"/>
            <a:ext cx="4782314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Edge intelligence, digital twins, semantic telemetry, and AI-native design.</a:t>
            </a:r>
          </a:p>
        </p:txBody>
      </p:sp>
      <p:sp>
        <p:nvSpPr>
          <p:cNvPr id="629" name="Rounded Rectangle 9"/>
          <p:cNvSpPr/>
          <p:nvPr/>
        </p:nvSpPr>
        <p:spPr>
          <a:xfrm>
            <a:off x="6172200" y="4800600"/>
            <a:ext cx="5166360" cy="1188720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778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0" name="TextBox 10"/>
          <p:cNvSpPr txBox="1"/>
          <p:nvPr/>
        </p:nvSpPr>
        <p:spPr>
          <a:xfrm>
            <a:off x="6364223" y="4937759"/>
            <a:ext cx="4782313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Generative AI &amp; LLMs for Telemetry</a:t>
            </a:r>
          </a:p>
        </p:txBody>
      </p:sp>
      <p:sp>
        <p:nvSpPr>
          <p:cNvPr id="631" name="TextBox 11"/>
          <p:cNvSpPr txBox="1"/>
          <p:nvPr/>
        </p:nvSpPr>
        <p:spPr>
          <a:xfrm>
            <a:off x="6364223" y="5303520"/>
            <a:ext cx="4782313" cy="43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Natural-language analytics, synthetic data, incident summaries, and foundation models.</a:t>
            </a:r>
          </a:p>
        </p:txBody>
      </p:sp>
      <p:sp>
        <p:nvSpPr>
          <p:cNvPr id="632" name="TextBox 12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33" name="TextBox 13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23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6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7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Open Challenges</a:t>
            </a:r>
          </a:p>
        </p:txBody>
      </p:sp>
      <p:sp>
        <p:nvSpPr>
          <p:cNvPr id="638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Important problems that still need better solutions</a:t>
            </a:r>
          </a:p>
        </p:txBody>
      </p:sp>
      <p:sp>
        <p:nvSpPr>
          <p:cNvPr id="639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40" name="Rounded Rectangle 6"/>
          <p:cNvSpPr/>
          <p:nvPr/>
        </p:nvSpPr>
        <p:spPr>
          <a:xfrm>
            <a:off x="731519" y="1554480"/>
            <a:ext cx="5303522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1" name="TextBox 7"/>
          <p:cNvSpPr txBox="1"/>
          <p:nvPr/>
        </p:nvSpPr>
        <p:spPr>
          <a:xfrm>
            <a:off x="941831" y="1691639"/>
            <a:ext cx="4882898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Not enough labeled data</a:t>
            </a:r>
          </a:p>
        </p:txBody>
      </p:sp>
      <p:sp>
        <p:nvSpPr>
          <p:cNvPr id="642" name="TextBox 8"/>
          <p:cNvSpPr txBox="1"/>
          <p:nvPr/>
        </p:nvSpPr>
        <p:spPr>
          <a:xfrm>
            <a:off x="941831" y="2057400"/>
            <a:ext cx="4882898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Real networks rarely provide clean examples of every failure or attack.</a:t>
            </a:r>
          </a:p>
        </p:txBody>
      </p:sp>
      <p:sp>
        <p:nvSpPr>
          <p:cNvPr id="643" name="Rounded Rectangle 9"/>
          <p:cNvSpPr/>
          <p:nvPr/>
        </p:nvSpPr>
        <p:spPr>
          <a:xfrm>
            <a:off x="731519" y="3108960"/>
            <a:ext cx="5303522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4" name="TextBox 10"/>
          <p:cNvSpPr txBox="1"/>
          <p:nvPr/>
        </p:nvSpPr>
        <p:spPr>
          <a:xfrm>
            <a:off x="941831" y="3246120"/>
            <a:ext cx="4882898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Scale and speed</a:t>
            </a:r>
          </a:p>
        </p:txBody>
      </p:sp>
      <p:sp>
        <p:nvSpPr>
          <p:cNvPr id="645" name="TextBox 11"/>
          <p:cNvSpPr txBox="1"/>
          <p:nvPr/>
        </p:nvSpPr>
        <p:spPr>
          <a:xfrm>
            <a:off x="941831" y="3611879"/>
            <a:ext cx="488289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Models must handle massive telemetry streams quickly enough to matter.</a:t>
            </a:r>
          </a:p>
        </p:txBody>
      </p:sp>
      <p:sp>
        <p:nvSpPr>
          <p:cNvPr id="646" name="Rounded Rectangle 12"/>
          <p:cNvSpPr/>
          <p:nvPr/>
        </p:nvSpPr>
        <p:spPr>
          <a:xfrm>
            <a:off x="731519" y="4663440"/>
            <a:ext cx="5303522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845EC2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7" name="TextBox 13"/>
          <p:cNvSpPr txBox="1"/>
          <p:nvPr/>
        </p:nvSpPr>
        <p:spPr>
          <a:xfrm>
            <a:off x="941831" y="4800599"/>
            <a:ext cx="4882898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845EC2"/>
                </a:solidFill>
              </a:defRPr>
            </a:lvl1pPr>
          </a:lstStyle>
          <a:p>
            <a:pPr/>
            <a:r>
              <a:t>Explainability</a:t>
            </a:r>
          </a:p>
        </p:txBody>
      </p:sp>
      <p:sp>
        <p:nvSpPr>
          <p:cNvPr id="648" name="TextBox 14"/>
          <p:cNvSpPr txBox="1"/>
          <p:nvPr/>
        </p:nvSpPr>
        <p:spPr>
          <a:xfrm>
            <a:off x="941831" y="5166359"/>
            <a:ext cx="4882898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Operators need to know why a model raised an alert before they trust it.</a:t>
            </a:r>
          </a:p>
        </p:txBody>
      </p:sp>
      <p:sp>
        <p:nvSpPr>
          <p:cNvPr id="649" name="Rounded Rectangle 15"/>
          <p:cNvSpPr/>
          <p:nvPr/>
        </p:nvSpPr>
        <p:spPr>
          <a:xfrm>
            <a:off x="6492240" y="1554480"/>
            <a:ext cx="5303521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50" name="TextBox 16"/>
          <p:cNvSpPr txBox="1"/>
          <p:nvPr/>
        </p:nvSpPr>
        <p:spPr>
          <a:xfrm>
            <a:off x="6702551" y="1691639"/>
            <a:ext cx="4882897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Concept drift</a:t>
            </a:r>
          </a:p>
        </p:txBody>
      </p:sp>
      <p:sp>
        <p:nvSpPr>
          <p:cNvPr id="651" name="TextBox 17"/>
          <p:cNvSpPr txBox="1"/>
          <p:nvPr/>
        </p:nvSpPr>
        <p:spPr>
          <a:xfrm>
            <a:off x="6702551" y="2057400"/>
            <a:ext cx="4882897" cy="19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Normal traffic changes over time, so models can become outdated.</a:t>
            </a:r>
          </a:p>
        </p:txBody>
      </p:sp>
      <p:sp>
        <p:nvSpPr>
          <p:cNvPr id="652" name="Rounded Rectangle 18"/>
          <p:cNvSpPr/>
          <p:nvPr/>
        </p:nvSpPr>
        <p:spPr>
          <a:xfrm>
            <a:off x="6492240" y="3108960"/>
            <a:ext cx="5303521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53" name="TextBox 19"/>
          <p:cNvSpPr txBox="1"/>
          <p:nvPr/>
        </p:nvSpPr>
        <p:spPr>
          <a:xfrm>
            <a:off x="6702551" y="3246120"/>
            <a:ext cx="4882897" cy="24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Generalization</a:t>
            </a:r>
          </a:p>
        </p:txBody>
      </p:sp>
      <p:sp>
        <p:nvSpPr>
          <p:cNvPr id="654" name="TextBox 20"/>
          <p:cNvSpPr txBox="1"/>
          <p:nvPr/>
        </p:nvSpPr>
        <p:spPr>
          <a:xfrm>
            <a:off x="6702551" y="3611879"/>
            <a:ext cx="488289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A model that works well in one network may fail in another.</a:t>
            </a:r>
          </a:p>
        </p:txBody>
      </p:sp>
      <p:sp>
        <p:nvSpPr>
          <p:cNvPr id="655" name="Rounded Rectangle 21"/>
          <p:cNvSpPr/>
          <p:nvPr/>
        </p:nvSpPr>
        <p:spPr>
          <a:xfrm>
            <a:off x="6492240" y="4663440"/>
            <a:ext cx="5303521" cy="1325881"/>
          </a:xfrm>
          <a:prstGeom prst="roundRect">
            <a:avLst>
              <a:gd name="adj" fmla="val 16667"/>
            </a:avLst>
          </a:prstGeom>
          <a:solidFill>
            <a:srgbClr val="141832"/>
          </a:solidFill>
          <a:ln w="15240">
            <a:solidFill>
              <a:srgbClr val="FF8C0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56" name="TextBox 22"/>
          <p:cNvSpPr txBox="1"/>
          <p:nvPr/>
        </p:nvSpPr>
        <p:spPr>
          <a:xfrm>
            <a:off x="6702551" y="4800599"/>
            <a:ext cx="4882897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600">
                <a:solidFill>
                  <a:srgbClr val="FF8C00"/>
                </a:solidFill>
              </a:defRPr>
            </a:lvl1pPr>
          </a:lstStyle>
          <a:p>
            <a:pPr/>
            <a:r>
              <a:t>Privacy and security</a:t>
            </a:r>
          </a:p>
        </p:txBody>
      </p:sp>
      <p:sp>
        <p:nvSpPr>
          <p:cNvPr id="657" name="TextBox 23"/>
          <p:cNvSpPr txBox="1"/>
          <p:nvPr/>
        </p:nvSpPr>
        <p:spPr>
          <a:xfrm>
            <a:off x="6702551" y="5166359"/>
            <a:ext cx="488289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CCCCCC"/>
                </a:solidFill>
              </a:defRPr>
            </a:lvl1pPr>
          </a:lstStyle>
          <a:p>
            <a:pPr/>
            <a:r>
              <a:t>Telemetry can contain sensitive information that must be protected.</a:t>
            </a:r>
          </a:p>
        </p:txBody>
      </p:sp>
      <p:sp>
        <p:nvSpPr>
          <p:cNvPr id="658" name="TextBox 2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59" name="TextBox 25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24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62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63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Conclusion &amp; Key Takeaways</a:t>
            </a:r>
          </a:p>
        </p:txBody>
      </p:sp>
      <p:sp>
        <p:nvSpPr>
          <p:cNvPr id="664" name="TextBox 4"/>
          <p:cNvSpPr txBox="1"/>
          <p:nvPr/>
        </p:nvSpPr>
        <p:spPr>
          <a:xfrm>
            <a:off x="758951" y="1024128"/>
            <a:ext cx="10460737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>
                <a:solidFill>
                  <a:srgbClr val="CCCCCC"/>
                </a:solidFill>
              </a:defRPr>
            </a:lvl1pPr>
          </a:lstStyle>
          <a:p>
            <a:pPr/>
            <a:r>
              <a:t>A cleaner final summary</a:t>
            </a:r>
          </a:p>
        </p:txBody>
      </p:sp>
      <p:sp>
        <p:nvSpPr>
          <p:cNvPr id="665" name="TextBox 5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66" name="Oval 6"/>
          <p:cNvSpPr/>
          <p:nvPr/>
        </p:nvSpPr>
        <p:spPr>
          <a:xfrm>
            <a:off x="685800" y="1344167"/>
            <a:ext cx="384048" cy="384049"/>
          </a:xfrm>
          <a:prstGeom prst="ellipse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67" name="TextBox 7"/>
          <p:cNvSpPr txBox="1"/>
          <p:nvPr/>
        </p:nvSpPr>
        <p:spPr>
          <a:xfrm>
            <a:off x="713231" y="1371599"/>
            <a:ext cx="329186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668" name="TextBox 8"/>
          <p:cNvSpPr txBox="1"/>
          <p:nvPr/>
        </p:nvSpPr>
        <p:spPr>
          <a:xfrm>
            <a:off x="1307592" y="1325880"/>
            <a:ext cx="1046073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009FFD"/>
                </a:solidFill>
              </a:defRPr>
            </a:lvl1pPr>
          </a:lstStyle>
          <a:p>
            <a:pPr/>
            <a:r>
              <a:t>Telemetry gives the raw picture</a:t>
            </a:r>
          </a:p>
        </p:txBody>
      </p:sp>
      <p:sp>
        <p:nvSpPr>
          <p:cNvPr id="669" name="TextBox 9"/>
          <p:cNvSpPr txBox="1"/>
          <p:nvPr/>
        </p:nvSpPr>
        <p:spPr>
          <a:xfrm>
            <a:off x="1307592" y="1673351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It tells us what the network is doing right now through streams of measurements and events.</a:t>
            </a:r>
          </a:p>
        </p:txBody>
      </p:sp>
      <p:sp>
        <p:nvSpPr>
          <p:cNvPr id="670" name="Oval 10"/>
          <p:cNvSpPr/>
          <p:nvPr/>
        </p:nvSpPr>
        <p:spPr>
          <a:xfrm>
            <a:off x="685800" y="2331720"/>
            <a:ext cx="384048" cy="384049"/>
          </a:xfrm>
          <a:prstGeom prst="ellipse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1" name="TextBox 11"/>
          <p:cNvSpPr txBox="1"/>
          <p:nvPr/>
        </p:nvSpPr>
        <p:spPr>
          <a:xfrm>
            <a:off x="713231" y="2359151"/>
            <a:ext cx="329186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72" name="TextBox 12"/>
          <p:cNvSpPr txBox="1"/>
          <p:nvPr/>
        </p:nvSpPr>
        <p:spPr>
          <a:xfrm>
            <a:off x="1307592" y="2313432"/>
            <a:ext cx="1046073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00C9A7"/>
                </a:solidFill>
              </a:defRPr>
            </a:lvl1pPr>
          </a:lstStyle>
          <a:p>
            <a:pPr/>
            <a:r>
              <a:t>ML helps turn data into decisions</a:t>
            </a:r>
          </a:p>
        </p:txBody>
      </p:sp>
      <p:sp>
        <p:nvSpPr>
          <p:cNvPr id="673" name="TextBox 13"/>
          <p:cNvSpPr txBox="1"/>
          <p:nvPr/>
        </p:nvSpPr>
        <p:spPr>
          <a:xfrm>
            <a:off x="1307592" y="2660904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It can find anomalies, predict future performance, and help improve QoS.</a:t>
            </a:r>
          </a:p>
        </p:txBody>
      </p:sp>
      <p:sp>
        <p:nvSpPr>
          <p:cNvPr id="674" name="Oval 14"/>
          <p:cNvSpPr/>
          <p:nvPr/>
        </p:nvSpPr>
        <p:spPr>
          <a:xfrm>
            <a:off x="685800" y="3319271"/>
            <a:ext cx="384048" cy="384049"/>
          </a:xfrm>
          <a:prstGeom prst="ellipse">
            <a:avLst/>
          </a:prstGeom>
          <a:solidFill>
            <a:srgbClr val="845EC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5" name="TextBox 15"/>
          <p:cNvSpPr txBox="1"/>
          <p:nvPr/>
        </p:nvSpPr>
        <p:spPr>
          <a:xfrm>
            <a:off x="713231" y="3346703"/>
            <a:ext cx="329186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676" name="TextBox 16"/>
          <p:cNvSpPr txBox="1"/>
          <p:nvPr/>
        </p:nvSpPr>
        <p:spPr>
          <a:xfrm>
            <a:off x="1307592" y="3300984"/>
            <a:ext cx="1046073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845EC2"/>
                </a:solidFill>
              </a:defRPr>
            </a:lvl1pPr>
          </a:lstStyle>
          <a:p>
            <a:pPr/>
            <a:r>
              <a:t>Industry is already using these ideas</a:t>
            </a:r>
          </a:p>
        </p:txBody>
      </p:sp>
      <p:sp>
        <p:nvSpPr>
          <p:cNvPr id="677" name="TextBox 17"/>
          <p:cNvSpPr txBox="1"/>
          <p:nvPr/>
        </p:nvSpPr>
        <p:spPr>
          <a:xfrm>
            <a:off x="1307592" y="3648455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Companies such as Nokia and Ericsson are building more automated, ML-driven telemetry systems.</a:t>
            </a:r>
          </a:p>
        </p:txBody>
      </p:sp>
      <p:sp>
        <p:nvSpPr>
          <p:cNvPr id="678" name="Oval 18"/>
          <p:cNvSpPr/>
          <p:nvPr/>
        </p:nvSpPr>
        <p:spPr>
          <a:xfrm>
            <a:off x="685800" y="4306823"/>
            <a:ext cx="384048" cy="384049"/>
          </a:xfrm>
          <a:prstGeom prst="ellipse">
            <a:avLst/>
          </a:prstGeom>
          <a:solidFill>
            <a:srgbClr val="FF8C0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9" name="TextBox 19"/>
          <p:cNvSpPr txBox="1"/>
          <p:nvPr/>
        </p:nvSpPr>
        <p:spPr>
          <a:xfrm>
            <a:off x="713231" y="4334255"/>
            <a:ext cx="329186" cy="278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680" name="TextBox 20"/>
          <p:cNvSpPr txBox="1"/>
          <p:nvPr/>
        </p:nvSpPr>
        <p:spPr>
          <a:xfrm>
            <a:off x="1307592" y="4288535"/>
            <a:ext cx="10460737" cy="255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FF8C00"/>
                </a:solidFill>
              </a:defRPr>
            </a:lvl1pPr>
          </a:lstStyle>
          <a:p>
            <a:pPr/>
            <a:r>
              <a:t>The field is still growing</a:t>
            </a:r>
          </a:p>
        </p:txBody>
      </p:sp>
      <p:sp>
        <p:nvSpPr>
          <p:cNvPr id="681" name="TextBox 21"/>
          <p:cNvSpPr txBox="1"/>
          <p:nvPr/>
        </p:nvSpPr>
        <p:spPr>
          <a:xfrm>
            <a:off x="1307592" y="4636008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6G, digital twins, and generative AI may make telemetry smarter and easier to use.</a:t>
            </a:r>
          </a:p>
        </p:txBody>
      </p:sp>
      <p:sp>
        <p:nvSpPr>
          <p:cNvPr id="682" name="Oval 22"/>
          <p:cNvSpPr/>
          <p:nvPr/>
        </p:nvSpPr>
        <p:spPr>
          <a:xfrm>
            <a:off x="685800" y="5294376"/>
            <a:ext cx="384048" cy="384049"/>
          </a:xfrm>
          <a:prstGeom prst="ellipse">
            <a:avLst/>
          </a:prstGeom>
          <a:solidFill>
            <a:srgbClr val="E0404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83" name="TextBox 23"/>
          <p:cNvSpPr txBox="1"/>
          <p:nvPr/>
        </p:nvSpPr>
        <p:spPr>
          <a:xfrm>
            <a:off x="713231" y="5321808"/>
            <a:ext cx="329186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684" name="TextBox 24"/>
          <p:cNvSpPr txBox="1"/>
          <p:nvPr/>
        </p:nvSpPr>
        <p:spPr>
          <a:xfrm>
            <a:off x="1307592" y="5276088"/>
            <a:ext cx="10460737" cy="255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1700">
                <a:solidFill>
                  <a:srgbClr val="E04040"/>
                </a:solidFill>
              </a:defRPr>
            </a:lvl1pPr>
          </a:lstStyle>
          <a:p>
            <a:pPr/>
            <a:r>
              <a:t>The hardest part is deployment</a:t>
            </a:r>
          </a:p>
        </p:txBody>
      </p:sp>
      <p:sp>
        <p:nvSpPr>
          <p:cNvPr id="685" name="TextBox 25"/>
          <p:cNvSpPr txBox="1"/>
          <p:nvPr/>
        </p:nvSpPr>
        <p:spPr>
          <a:xfrm>
            <a:off x="1307592" y="5623559"/>
            <a:ext cx="10460737" cy="225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400">
                <a:solidFill>
                  <a:srgbClr val="CCCCCC"/>
                </a:solidFill>
              </a:defRPr>
            </a:lvl1pPr>
          </a:lstStyle>
          <a:p>
            <a:pPr/>
            <a:r>
              <a:t>Real-world success still depends on trustworthy models, good data, and systems that scale.</a:t>
            </a:r>
          </a:p>
        </p:txBody>
      </p:sp>
      <p:sp>
        <p:nvSpPr>
          <p:cNvPr id="686" name="TextBox 26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845EC2"/>
                </a:solidFill>
              </a:defRPr>
            </a:lvl1pPr>
          </a:lstStyle>
          <a:p>
            <a:pPr/>
            <a:r>
              <a:t>Presenter: Hashim Kshim</a:t>
            </a:r>
          </a:p>
        </p:txBody>
      </p:sp>
      <p:sp>
        <p:nvSpPr>
          <p:cNvPr id="687" name="TextBox 27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25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F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0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1" name="TextBox 3"/>
          <p:cNvSpPr txBox="1"/>
          <p:nvPr/>
        </p:nvSpPr>
        <p:spPr>
          <a:xfrm>
            <a:off x="1399032" y="1828800"/>
            <a:ext cx="9363456" cy="690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 sz="5200">
                <a:solidFill>
                  <a:srgbClr val="FFFFFF"/>
                </a:solidFill>
              </a:defRPr>
            </a:lvl1pPr>
          </a:lstStyle>
          <a:p>
            <a:pPr/>
            <a:r>
              <a:t>Thank You!</a:t>
            </a:r>
          </a:p>
        </p:txBody>
      </p:sp>
      <p:sp>
        <p:nvSpPr>
          <p:cNvPr id="692" name="TextBox 4"/>
          <p:cNvSpPr txBox="1"/>
          <p:nvPr/>
        </p:nvSpPr>
        <p:spPr>
          <a:xfrm>
            <a:off x="1399032" y="2926079"/>
            <a:ext cx="9363456" cy="4350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3000">
                <a:solidFill>
                  <a:srgbClr val="00C9A7"/>
                </a:solidFill>
              </a:defRPr>
            </a:lvl1pPr>
          </a:lstStyle>
          <a:p>
            <a:pPr/>
            <a:r>
              <a:t>Questions &amp; Discussion</a:t>
            </a:r>
          </a:p>
        </p:txBody>
      </p:sp>
      <p:sp>
        <p:nvSpPr>
          <p:cNvPr id="693" name="Rectangle 5"/>
          <p:cNvSpPr/>
          <p:nvPr/>
        </p:nvSpPr>
        <p:spPr>
          <a:xfrm>
            <a:off x="4114799" y="3749038"/>
            <a:ext cx="3931922" cy="36577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4" name="TextBox 6"/>
          <p:cNvSpPr txBox="1"/>
          <p:nvPr/>
        </p:nvSpPr>
        <p:spPr>
          <a:xfrm>
            <a:off x="1399032" y="4114800"/>
            <a:ext cx="9363456" cy="278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Abdul Rehman  |  Esam Mukbil  |  Hashim Kshim  |  Mazen Alhassan</a:t>
            </a:r>
          </a:p>
        </p:txBody>
      </p:sp>
      <p:sp>
        <p:nvSpPr>
          <p:cNvPr id="695" name="TextBox 7"/>
          <p:cNvSpPr txBox="1"/>
          <p:nvPr/>
        </p:nvSpPr>
        <p:spPr>
          <a:xfrm>
            <a:off x="1399032" y="4754879"/>
            <a:ext cx="9363456" cy="245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lnSpc>
                <a:spcPct val="120000"/>
              </a:lnSpc>
              <a:defRPr sz="1600">
                <a:solidFill>
                  <a:srgbClr val="999999"/>
                </a:solidFill>
              </a:defRPr>
            </a:lvl1pPr>
          </a:lstStyle>
          <a:p>
            <a:pPr/>
            <a:r>
              <a:t>NET3006A — Machine Learning for Network Telemetry</a:t>
            </a:r>
          </a:p>
        </p:txBody>
      </p:sp>
      <p:sp>
        <p:nvSpPr>
          <p:cNvPr id="696" name="TextBox 8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26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Rectangle 1"/>
          <p:cNvSpPr/>
          <p:nvPr/>
        </p:nvSpPr>
        <p:spPr>
          <a:xfrm>
            <a:off x="-1" y="0"/>
            <a:ext cx="137162" cy="6858000"/>
          </a:xfrm>
          <a:prstGeom prst="rect">
            <a:avLst/>
          </a:prstGeom>
          <a:solidFill>
            <a:srgbClr val="009FF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9" name="Rectangle 2"/>
          <p:cNvSpPr/>
          <p:nvPr/>
        </p:nvSpPr>
        <p:spPr>
          <a:xfrm>
            <a:off x="-1" y="6784847"/>
            <a:ext cx="12191697" cy="73153"/>
          </a:xfrm>
          <a:prstGeom prst="rect">
            <a:avLst/>
          </a:prstGeom>
          <a:solidFill>
            <a:srgbClr val="00C9A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00" name="TextBox 3"/>
          <p:cNvSpPr txBox="1"/>
          <p:nvPr/>
        </p:nvSpPr>
        <p:spPr>
          <a:xfrm>
            <a:off x="758951" y="365759"/>
            <a:ext cx="10460737" cy="494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References</a:t>
            </a:r>
          </a:p>
        </p:txBody>
      </p:sp>
      <p:sp>
        <p:nvSpPr>
          <p:cNvPr id="701" name="TextBox 4"/>
          <p:cNvSpPr txBox="1"/>
          <p:nvPr/>
        </p:nvSpPr>
        <p:spPr>
          <a:xfrm>
            <a:off x="9354312" y="6263640"/>
            <a:ext cx="2688337" cy="193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r">
              <a:lnSpc>
                <a:spcPct val="120000"/>
              </a:lnSpc>
              <a:defRPr b="1" sz="1200">
                <a:solidFill>
                  <a:srgbClr val="009FFD"/>
                </a:solidFill>
              </a:defRPr>
            </a:lvl1pPr>
          </a:lstStyle>
          <a:p>
            <a:pPr/>
            <a:r>
              <a:t>Presenter: All Members</a:t>
            </a:r>
          </a:p>
        </p:txBody>
      </p:sp>
      <p:sp>
        <p:nvSpPr>
          <p:cNvPr id="702" name="TextBox 5"/>
          <p:cNvSpPr txBox="1"/>
          <p:nvPr/>
        </p:nvSpPr>
        <p:spPr>
          <a:xfrm>
            <a:off x="594359" y="1188719"/>
            <a:ext cx="10972802" cy="2600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[1]  Nokia, "Modern Broadband Network Telemetry," Nokia White Paper,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[2]  Ericsson, "From data mess to AI-ready data mesh," Ericsson Blog,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[3]  Ericsson, "Visualizing network performance: Transport Automation Controller with AI/ML at the helm," Ericsson,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[4]  Z. Yuan et al., "iTeleScope: Softwarized Network Middle-Box for Real-Time Video Telemetry and Classification," IEEE/ACM Trans. Netw., 2023.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[5]  A. Dogra et al., "6G Network Architecture: QoS Paradigms and Data Lifecycle Management for Next-Generation Networks," IEEE Commun. Surveys Tuts.,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[6]  S. Falkner et al., "Mobile Network Data Synthesis with Generative AI: Challenges and Solutions," IEEE Network,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[7]  M. Boban et al., "Autonomous network operations: from reactive management to intent-driven optimization," Ericsson Technology Review,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[8]  Ericsson, "Four ways generative AI is set to transform the telecom industry," Ericsson Blog,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[9]  ATIS, "Advancing Generative AI Implementation in Telecommunications Networks," ATIS White Paper, 2024.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[10] R. Boutaba et al., "A comprehensive survey on machine learning for networking," ACM Comput. Surv., vol. 51, no. 5, 2018.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[11] P. Mishra et al., "A detailed investigation and analysis of using ML techniques for intrusion detection," IEEE Commun. Surveys Tuts., 2019.</a:t>
            </a:r>
          </a:p>
          <a:p>
            <a:pPr>
              <a:spcBef>
                <a:spcPts val="400"/>
              </a:spcBef>
              <a:defRPr sz="1100">
                <a:solidFill>
                  <a:srgbClr val="CCCCCC"/>
                </a:solidFill>
              </a:defRPr>
            </a:pPr>
            <a:r>
              <a:t>[12] F. Tang et al., "A survey on machine learning for traffic classification," IEEE Trans. on Network and Service Management, 2022.</a:t>
            </a:r>
          </a:p>
        </p:txBody>
      </p:sp>
      <p:sp>
        <p:nvSpPr>
          <p:cNvPr id="703" name="TextBox 6"/>
          <p:cNvSpPr txBox="1"/>
          <p:nvPr/>
        </p:nvSpPr>
        <p:spPr>
          <a:xfrm>
            <a:off x="393191" y="6309359"/>
            <a:ext cx="1316737" cy="173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999999"/>
                </a:solidFill>
              </a:defRPr>
            </a:lvl1pPr>
          </a:lstStyle>
          <a:p>
            <a:pPr/>
            <a:r>
              <a:t>27 / 27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